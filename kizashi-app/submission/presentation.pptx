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4" r:id="rId15"/>
    <p:sldId id="265" r:id="rId16"/>
    <p:sldId id="261" r:id="rId7"/>
    <p:sldId id="266" r:id="rId17"/>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7"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游ゴシック"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游ゴシック"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游ゴシック"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video" Target="../media/media1.mp4"/><Relationship Id="rId3" Type="http://schemas.microsoft.com/office/2007/relationships/media" Target="../media/media1.mp4"/><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6177000" cy="457200"/>
          </a:xfrm>
          <a:prstGeom prst="rect">
            <a:avLst/>
          </a:prstGeom>
          <a:noFill/>
          <a:ln/>
        </p:spPr>
        <p:txBody>
          <a:bodyPr wrap="square" rtlCol="0" anchor="ctr"/>
          <a:lstStyle/>
          <a:p>
            <a:pPr indent="0" marL="0">
              <a:buNone/>
            </a:pPr>
            <a:r>
              <a:rPr lang="en-US" sz="1400" b="1" spc="200" kern="0" dirty="0">
                <a:solidFill>
                  <a:srgbClr val="BFE3DA"/>
                </a:solidFill>
                <a:latin typeface="游ゴシック" pitchFamily="34" charset="0"/>
                <a:ea typeface="游ゴシック" pitchFamily="34" charset="-122"/>
                <a:cs typeface="游ゴシック" pitchFamily="34" charset="-120"/>
              </a:rPr>
              <a:t>都知事杯オープンデータ・ハッカソン 2026</a:t>
            </a:r>
            <a:endParaRPr lang="en-US" sz="1400" dirty="0"/>
          </a:p>
        </p:txBody>
      </p:sp>
      <p:sp>
        <p:nvSpPr>
          <p:cNvPr id="3" name="Text 1"/>
          <p:cNvSpPr/>
          <p:nvPr/>
        </p:nvSpPr>
        <p:spPr>
          <a:xfrm>
            <a:off x="777240" y="1828800"/>
            <a:ext cx="6177000" cy="1463040"/>
          </a:xfrm>
          <a:prstGeom prst="rect">
            <a:avLst/>
          </a:prstGeom>
          <a:noFill/>
          <a:ln/>
        </p:spPr>
        <p:txBody>
          <a:bodyPr wrap="square" lIns="0" tIns="0" rIns="0" bIns="0" rtlCol="0" anchor="ctr"/>
          <a:lstStyle/>
          <a:p>
            <a:pPr indent="0" marL="0">
              <a:buNone/>
            </a:pPr>
            <a:r>
              <a:rPr lang="en-US" sz="8000" b="1" dirty="0">
                <a:solidFill>
                  <a:srgbClr val="FFFFFF"/>
                </a:solidFill>
                <a:latin typeface="游ゴシック" pitchFamily="34" charset="0"/>
                <a:ea typeface="游ゴシック" pitchFamily="34" charset="-122"/>
                <a:cs typeface="游ゴシック" pitchFamily="34" charset="-120"/>
              </a:rPr>
              <a:t>結（ゆい）</a:t>
            </a:r>
            <a:endParaRPr lang="en-US" sz="8000" dirty="0"/>
          </a:p>
        </p:txBody>
      </p:sp>
      <p:sp>
        <p:nvSpPr>
          <p:cNvPr id="4" name="Text 2"/>
          <p:cNvSpPr/>
          <p:nvPr/>
        </p:nvSpPr>
        <p:spPr>
          <a:xfrm>
            <a:off x="822960" y="3383280"/>
            <a:ext cx="6177000" cy="731520"/>
          </a:xfrm>
          <a:prstGeom prst="rect">
            <a:avLst/>
          </a:prstGeom>
          <a:noFill/>
          <a:ln/>
        </p:spPr>
        <p:txBody>
          <a:bodyPr wrap="square" rtlCol="0" anchor="ctr"/>
          <a:lstStyle/>
          <a:p>
            <a:pPr indent="0" marL="0">
              <a:buNone/>
            </a:pPr>
            <a:r>
              <a:rPr lang="en-US" sz="1800" i="1" dirty="0">
                <a:solidFill>
                  <a:srgbClr val="E4EFEA"/>
                </a:solidFill>
                <a:latin typeface="游ゴシック" pitchFamily="34" charset="0"/>
                <a:ea typeface="游ゴシック" pitchFamily="34" charset="-122"/>
                <a:cs typeface="游ゴシック"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游ゴシック" pitchFamily="34" charset="0"/>
                <a:ea typeface="游ゴシック" pitchFamily="34" charset="-122"/>
                <a:cs typeface="游ゴシック" pitchFamily="34" charset="-120"/>
              </a:rPr>
              <a:t>チーム「結」（個人開発）</a:t>
            </a:r>
            <a:endParaRPr lang="en-US" sz="1300" dirty="0"/>
          </a:p>
        </p:txBody>
      </p:sp>
      <p:sp>
        <p:nvSpPr>
          <p:cNvPr id="7" name="Text 5"/>
          <p:cNvSpPr/>
          <p:nvPr/>
        </p:nvSpPr>
        <p:spPr>
          <a:xfrm>
            <a:off x="822960" y="6126480"/>
            <a:ext cx="6177000" cy="365760"/>
          </a:xfrm>
          <a:prstGeom prst="rect">
            <a:avLst/>
          </a:prstGeom>
          <a:noFill/>
          <a:ln/>
        </p:spPr>
        <p:txBody>
          <a:bodyPr wrap="square" rtlCol="0" anchor="ctr"/>
          <a:lstStyle/>
          <a:p>
            <a:pPr indent="0" marL="0">
              <a:buNone/>
            </a:pPr>
            <a:r>
              <a:rPr lang="en-US" sz="1200" dirty="0">
                <a:solidFill>
                  <a:srgbClr val="9FC7BC"/>
                </a:solidFill>
                <a:latin typeface="游ゴシック" pitchFamily="34" charset="0"/>
                <a:ea typeface="游ゴシック" pitchFamily="34" charset="-122"/>
                <a:cs typeface="游ゴシック" pitchFamily="34" charset="-120"/>
              </a:rPr>
              <a:t>現場で待機する被災者家族・関係者のための、Web完結・無料の情報共有アプリ</a:t>
            </a:r>
            <a:endParaRPr lang="en-US" sz="1200" dirty="0"/>
          </a:p>
        </p:txBody>
      </p:sp>
      <p:pic>
        <p:nvPicPr>
          <p:cNvPr id="8" name="Picture 7" descr="handshake.png"/>
          <p:cNvPicPr>
            <a:picLocks noChangeAspect="1"/>
          </p:cNvPicPr>
          <p:nvPr/>
        </p:nvPicPr>
        <p:blipFill>
          <a:blip r:embed="rId3"/>
          <a:stretch>
            <a:fillRect/>
          </a:stretch>
        </p:blipFill>
        <p:spPr>
          <a:xfrm>
            <a:off x="7550000" y="1329000"/>
            <a:ext cx="4200000" cy="42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游ゴシック" pitchFamily="34" charset="0"/>
                <a:ea typeface="游ゴシック" pitchFamily="34" charset="-122"/>
                <a:cs typeface="游ゴシック"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游ゴシック" pitchFamily="34" charset="0"/>
                <a:ea typeface="游ゴシック" pitchFamily="34" charset="-122"/>
                <a:cs typeface="游ゴシック"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游ゴシック" pitchFamily="34" charset="0"/>
                <a:ea typeface="游ゴシック" pitchFamily="34" charset="-122"/>
                <a:cs typeface="游ゴシック"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游ゴシック" pitchFamily="34" charset="0"/>
                <a:ea typeface="游ゴシック" pitchFamily="34" charset="-122"/>
                <a:cs typeface="游ゴシック"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游ゴシック" pitchFamily="34" charset="0"/>
                <a:ea typeface="游ゴシック" pitchFamily="34" charset="-122"/>
                <a:cs typeface="游ゴシック" pitchFamily="34" charset="-120"/>
              </a:rPr>
              <a:t>実際の画面操作</a:t>
            </a:r>
            <a:endParaRPr lang="en-US" sz="1600" dirty="0"/>
          </a:p>
        </p:txBody>
      </p:sp>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游ゴシック" pitchFamily="34" charset="0"/>
                <a:ea typeface="游ゴシック" pitchFamily="34" charset="-122"/>
                <a:cs typeface="游ゴシック" pitchFamily="34" charset="-120"/>
              </a:rPr>
              <a:t>▶ クリックで再生（無音・約17秒）</a:t>
            </a:r>
            <a:endParaRPr lang="en-US" sz="1100" dirty="0"/>
          </a:p>
        </p:txBody>
      </p:sp>
      <p:pic>
        <p:nvPicPr>
          <p:cNvPr id="6" name="demo_video.mp4">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1"/>
          <a:stretch>
            <a:fillRect/>
          </a:stretch>
        </p:blipFill>
        <p:spPr>
          <a:xfrm>
            <a:off x="2096000" y="1700000"/>
            <a:ext cx="8000000" cy="4500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7132320" cy="640080"/>
          </a:xfrm>
          <a:prstGeom prst="rect">
            <a:avLst/>
          </a:prstGeom>
          <a:noFill/>
        </p:spPr>
        <p:txBody>
          <a:bodyPr wrap="square">
            <a:spAutoFit/>
          </a:bodyPr>
          <a:lstStyle/>
          <a:p>
            <a:pPr algn="l"/>
            <a:r>
              <a:rPr sz="3400" b="1">
                <a:solidFill>
                  <a:srgbClr val="1F4E4A"/>
                </a:solidFill>
                <a:latin typeface="游ゴシック"/>
                <a:ea typeface="游ゴシック"/>
              </a:rPr>
              <a:t>解決策</a:t>
            </a:r>
          </a:p>
        </p:txBody>
      </p:sp>
      <p:sp>
        <p:nvSpPr>
          <p:cNvPr id="3" name="TextBox 2"/>
          <p:cNvSpPr txBox="1"/>
          <p:nvPr/>
        </p:nvSpPr>
        <p:spPr>
          <a:xfrm>
            <a:off x="822960" y="1143000"/>
            <a:ext cx="11155680" cy="502920"/>
          </a:xfrm>
          <a:prstGeom prst="rect">
            <a:avLst/>
          </a:prstGeom>
          <a:noFill/>
        </p:spPr>
        <p:txBody>
          <a:bodyPr wrap="square">
            <a:spAutoFit/>
          </a:bodyPr>
          <a:lstStyle/>
          <a:p>
            <a:pPr algn="l"/>
            <a:r>
              <a:rPr sz="1600" b="0">
                <a:solidFill>
                  <a:srgbClr val="4B545C"/>
                </a:solidFill>
                <a:latin typeface="游ゴシック"/>
                <a:ea typeface="游ゴシック"/>
              </a:rPr>
              <a:t>6桁のコードだけで、家族と現場をつなぐ</a:t>
            </a:r>
          </a:p>
        </p:txBody>
      </p:sp>
      <p:sp>
        <p:nvSpPr>
          <p:cNvPr id="4" name="Rounded Rectangle 3"/>
          <p:cNvSpPr/>
          <p:nvPr/>
        </p:nvSpPr>
        <p:spPr>
          <a:xfrm>
            <a:off x="822960" y="1750000"/>
            <a:ext cx="2600000" cy="900000"/>
          </a:xfrm>
          <a:prstGeom prst="roundRect">
            <a:avLst>
              <a:gd name="adj" fmla="val 3306"/>
            </a:avLst>
          </a:prstGeom>
          <a:solidFill>
            <a:srgbClr val="F4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50000"/>
            <a:ext cx="2600000" cy="900000"/>
          </a:xfrm>
          <a:prstGeom prst="rect">
            <a:avLst/>
          </a:prstGeom>
          <a:noFill/>
        </p:spPr>
        <p:txBody>
          <a:bodyPr wrap="square" anchor="t">
            <a:spAutoFit/>
          </a:bodyPr>
          <a:lstStyle/>
          <a:p>
            <a:pPr algn="ctr"/>
            <a:r>
              <a:rPr sz="1200" b="1">
                <a:solidFill>
                  <a:srgbClr val="1C2126"/>
                </a:solidFill>
                <a:latin typeface="游ゴシック"/>
                <a:ea typeface="游ゴシック"/>
              </a:rPr>
              <a:t>👨‍👩‍👧</a:t>
            </a:r>
          </a:p>
          <a:p>
            <a:pPr algn="ctr"/>
            <a:r>
              <a:rPr sz="1200" b="1">
                <a:solidFill>
                  <a:srgbClr val="1C2126"/>
                </a:solidFill>
                <a:latin typeface="游ゴシック"/>
                <a:ea typeface="游ゴシック"/>
              </a:rPr>
              <a:t>待機する家族・関係者</a:t>
            </a:r>
          </a:p>
        </p:txBody>
      </p:sp>
      <p:sp>
        <p:nvSpPr>
          <p:cNvPr id="6" name="Rounded Rectangle 5"/>
          <p:cNvSpPr/>
          <p:nvPr/>
        </p:nvSpPr>
        <p:spPr>
          <a:xfrm>
            <a:off x="3922960" y="1750000"/>
            <a:ext cx="2600000" cy="900000"/>
          </a:xfrm>
          <a:prstGeom prst="roundRect">
            <a:avLst>
              <a:gd name="adj" fmla="val 3306"/>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22960" y="1750000"/>
            <a:ext cx="2600000" cy="900000"/>
          </a:xfrm>
          <a:prstGeom prst="rect">
            <a:avLst/>
          </a:prstGeom>
          <a:noFill/>
        </p:spPr>
        <p:txBody>
          <a:bodyPr wrap="square" anchor="t">
            <a:spAutoFit/>
          </a:bodyPr>
          <a:lstStyle/>
          <a:p>
            <a:pPr algn="ctr"/>
            <a:r>
              <a:rPr sz="1300" b="1">
                <a:solidFill>
                  <a:srgbClr val="FFFFFF"/>
                </a:solidFill>
                <a:latin typeface="游ゴシック"/>
                <a:ea typeface="游ゴシック"/>
              </a:rPr>
              <a:t>現場ルーム</a:t>
            </a:r>
          </a:p>
          <a:p>
            <a:pPr algn="ctr"/>
            <a:r>
              <a:rPr sz="1000" b="0">
                <a:solidFill>
                  <a:srgbClr val="E4EFEA"/>
                </a:solidFill>
                <a:latin typeface="游ゴシック"/>
                <a:ea typeface="游ゴシック"/>
              </a:rPr>
              <a:t>6桁コード・ログイン不要</a:t>
            </a:r>
          </a:p>
        </p:txBody>
      </p:sp>
      <p:sp>
        <p:nvSpPr>
          <p:cNvPr id="8" name="Rounded Rectangle 7"/>
          <p:cNvSpPr/>
          <p:nvPr/>
        </p:nvSpPr>
        <p:spPr>
          <a:xfrm>
            <a:off x="7022960" y="1750000"/>
            <a:ext cx="2600000" cy="900000"/>
          </a:xfrm>
          <a:prstGeom prst="roundRect">
            <a:avLst>
              <a:gd name="adj" fmla="val 3306"/>
            </a:avLst>
          </a:prstGeom>
          <a:solidFill>
            <a:srgbClr val="F4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22960" y="1750000"/>
            <a:ext cx="2600000" cy="900000"/>
          </a:xfrm>
          <a:prstGeom prst="rect">
            <a:avLst/>
          </a:prstGeom>
          <a:noFill/>
        </p:spPr>
        <p:txBody>
          <a:bodyPr wrap="square" anchor="t">
            <a:spAutoFit/>
          </a:bodyPr>
          <a:lstStyle/>
          <a:p>
            <a:pPr algn="ctr"/>
            <a:r>
              <a:rPr sz="1200" b="1">
                <a:solidFill>
                  <a:srgbClr val="1C2126"/>
                </a:solidFill>
                <a:latin typeface="游ゴシック"/>
                <a:ea typeface="游ゴシック"/>
              </a:rPr>
              <a:t>🚒</a:t>
            </a:r>
          </a:p>
          <a:p>
            <a:pPr algn="ctr"/>
            <a:r>
              <a:rPr sz="1200" b="1">
                <a:solidFill>
                  <a:srgbClr val="1C2126"/>
                </a:solidFill>
                <a:latin typeface="游ゴシック"/>
                <a:ea typeface="游ゴシック"/>
              </a:rPr>
              <a:t>現場指揮・救助隊</a:t>
            </a:r>
          </a:p>
        </p:txBody>
      </p:sp>
      <p:sp>
        <p:nvSpPr>
          <p:cNvPr id="10" name="TextBox 9"/>
          <p:cNvSpPr txBox="1"/>
          <p:nvPr/>
        </p:nvSpPr>
        <p:spPr>
          <a:xfrm>
            <a:off x="3422960" y="1750000"/>
            <a:ext cx="500000" cy="900000"/>
          </a:xfrm>
          <a:prstGeom prst="rect">
            <a:avLst/>
          </a:prstGeom>
          <a:noFill/>
        </p:spPr>
        <p:txBody>
          <a:bodyPr wrap="square" anchor="t">
            <a:spAutoFit/>
          </a:bodyPr>
          <a:lstStyle/>
          <a:p>
            <a:pPr algn="ctr"/>
            <a:r>
              <a:rPr sz="2000" b="1">
                <a:solidFill>
                  <a:srgbClr val="1F4E4A"/>
                </a:solidFill>
                <a:latin typeface="游ゴシック"/>
                <a:ea typeface="游ゴシック"/>
              </a:rPr>
              <a:t>→</a:t>
            </a:r>
          </a:p>
        </p:txBody>
      </p:sp>
      <p:sp>
        <p:nvSpPr>
          <p:cNvPr id="11" name="TextBox 10"/>
          <p:cNvSpPr txBox="1"/>
          <p:nvPr/>
        </p:nvSpPr>
        <p:spPr>
          <a:xfrm>
            <a:off x="6522960" y="1750000"/>
            <a:ext cx="500000" cy="900000"/>
          </a:xfrm>
          <a:prstGeom prst="rect">
            <a:avLst/>
          </a:prstGeom>
          <a:noFill/>
        </p:spPr>
        <p:txBody>
          <a:bodyPr wrap="square" anchor="t">
            <a:spAutoFit/>
          </a:bodyPr>
          <a:lstStyle/>
          <a:p>
            <a:pPr algn="ctr"/>
            <a:r>
              <a:rPr sz="2000" b="1">
                <a:solidFill>
                  <a:srgbClr val="1F4E4A"/>
                </a:solidFill>
                <a:latin typeface="游ゴシック"/>
                <a:ea typeface="游ゴシック"/>
              </a:rPr>
              <a:t>→</a:t>
            </a:r>
          </a:p>
        </p:txBody>
      </p:sp>
      <p:sp>
        <p:nvSpPr>
          <p:cNvPr id="12" name="Oval 11"/>
          <p:cNvSpPr/>
          <p:nvPr/>
        </p:nvSpPr>
        <p:spPr>
          <a:xfrm>
            <a:off x="822960" y="2910000"/>
            <a:ext cx="500000" cy="500000"/>
          </a:xfrm>
          <a:prstGeom prst="ellipse">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0">
                <a:solidFill>
                  <a:srgbClr val="FFFFFF"/>
                </a:solidFill>
                <a:latin typeface="游ゴシック"/>
                <a:ea typeface="游ゴシック"/>
              </a:rPr>
              <a:t>🗺️</a:t>
            </a:r>
          </a:p>
        </p:txBody>
      </p:sp>
      <p:sp>
        <p:nvSpPr>
          <p:cNvPr id="13" name="TextBox 12"/>
          <p:cNvSpPr txBox="1"/>
          <p:nvPr/>
        </p:nvSpPr>
        <p:spPr>
          <a:xfrm>
            <a:off x="1422960" y="2880000"/>
            <a:ext cx="4690000" cy="340000"/>
          </a:xfrm>
          <a:prstGeom prst="rect">
            <a:avLst/>
          </a:prstGeom>
          <a:noFill/>
        </p:spPr>
        <p:txBody>
          <a:bodyPr wrap="square">
            <a:spAutoFit/>
          </a:bodyPr>
          <a:lstStyle/>
          <a:p>
            <a:pPr algn="l"/>
            <a:r>
              <a:rPr sz="1350" b="1">
                <a:solidFill>
                  <a:srgbClr val="1C2126"/>
                </a:solidFill>
                <a:latin typeface="游ゴシック"/>
                <a:ea typeface="游ゴシック"/>
              </a:rPr>
              <a:t>危険エリアの可視化</a:t>
            </a:r>
          </a:p>
        </p:txBody>
      </p:sp>
      <p:sp>
        <p:nvSpPr>
          <p:cNvPr id="14" name="TextBox 13"/>
          <p:cNvSpPr txBox="1"/>
          <p:nvPr/>
        </p:nvSpPr>
        <p:spPr>
          <a:xfrm>
            <a:off x="1422960" y="3190000"/>
            <a:ext cx="4690000" cy="620000"/>
          </a:xfrm>
          <a:prstGeom prst="rect">
            <a:avLst/>
          </a:prstGeom>
          <a:noFill/>
        </p:spPr>
        <p:txBody>
          <a:bodyPr wrap="square">
            <a:spAutoFit/>
          </a:bodyPr>
          <a:lstStyle/>
          <a:p>
            <a:pPr algn="l"/>
            <a:r>
              <a:rPr sz="1050" b="0">
                <a:solidFill>
                  <a:srgbClr val="4B545C"/>
                </a:solidFill>
                <a:latin typeface="游ゴシック"/>
                <a:ea typeface="游ゴシック"/>
              </a:rPr>
              <a:t>東京都の土砂災害警戒区域データを地図上に色分け表示</a:t>
            </a:r>
          </a:p>
        </p:txBody>
      </p:sp>
      <p:sp>
        <p:nvSpPr>
          <p:cNvPr id="15" name="Oval 14"/>
          <p:cNvSpPr/>
          <p:nvPr/>
        </p:nvSpPr>
        <p:spPr>
          <a:xfrm>
            <a:off x="6412960" y="2910000"/>
            <a:ext cx="500000" cy="500000"/>
          </a:xfrm>
          <a:prstGeom prst="ellipse">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0">
                <a:solidFill>
                  <a:srgbClr val="FFFFFF"/>
                </a:solidFill>
                <a:latin typeface="游ゴシック"/>
                <a:ea typeface="游ゴシック"/>
              </a:rPr>
              <a:t>📋</a:t>
            </a:r>
          </a:p>
        </p:txBody>
      </p:sp>
      <p:sp>
        <p:nvSpPr>
          <p:cNvPr id="16" name="TextBox 15"/>
          <p:cNvSpPr txBox="1"/>
          <p:nvPr/>
        </p:nvSpPr>
        <p:spPr>
          <a:xfrm>
            <a:off x="7012960" y="2880000"/>
            <a:ext cx="4690000" cy="340000"/>
          </a:xfrm>
          <a:prstGeom prst="rect">
            <a:avLst/>
          </a:prstGeom>
          <a:noFill/>
        </p:spPr>
        <p:txBody>
          <a:bodyPr wrap="square">
            <a:spAutoFit/>
          </a:bodyPr>
          <a:lstStyle/>
          <a:p>
            <a:pPr algn="l"/>
            <a:r>
              <a:rPr sz="1350" b="1">
                <a:solidFill>
                  <a:srgbClr val="1C2126"/>
                </a:solidFill>
                <a:latin typeface="游ゴシック"/>
                <a:ea typeface="游ゴシック"/>
              </a:rPr>
              <a:t>事前問診フォーム</a:t>
            </a:r>
          </a:p>
        </p:txBody>
      </p:sp>
      <p:sp>
        <p:nvSpPr>
          <p:cNvPr id="17" name="TextBox 16"/>
          <p:cNvSpPr txBox="1"/>
          <p:nvPr/>
        </p:nvSpPr>
        <p:spPr>
          <a:xfrm>
            <a:off x="7012960" y="3190000"/>
            <a:ext cx="4690000" cy="620000"/>
          </a:xfrm>
          <a:prstGeom prst="rect">
            <a:avLst/>
          </a:prstGeom>
          <a:noFill/>
        </p:spPr>
        <p:txBody>
          <a:bodyPr wrap="square">
            <a:spAutoFit/>
          </a:bodyPr>
          <a:lstStyle/>
          <a:p>
            <a:pPr algn="l"/>
            <a:r>
              <a:rPr sz="1050" b="0">
                <a:solidFill>
                  <a:srgbClr val="4B545C"/>
                </a:solidFill>
                <a:latin typeface="游ゴシック"/>
                <a:ea typeface="游ゴシック"/>
              </a:rPr>
              <a:t>行方不明者情報を家族が事前入力。音声ガイド対応</a:t>
            </a:r>
          </a:p>
        </p:txBody>
      </p:sp>
      <p:sp>
        <p:nvSpPr>
          <p:cNvPr id="18" name="Oval 17"/>
          <p:cNvSpPr/>
          <p:nvPr/>
        </p:nvSpPr>
        <p:spPr>
          <a:xfrm>
            <a:off x="822960" y="3970000"/>
            <a:ext cx="500000" cy="500000"/>
          </a:xfrm>
          <a:prstGeom prst="ellipse">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0">
                <a:solidFill>
                  <a:srgbClr val="FFFFFF"/>
                </a:solidFill>
                <a:latin typeface="游ゴシック"/>
                <a:ea typeface="游ゴシック"/>
              </a:rPr>
              <a:t>✏️</a:t>
            </a:r>
          </a:p>
        </p:txBody>
      </p:sp>
      <p:sp>
        <p:nvSpPr>
          <p:cNvPr id="19" name="TextBox 18"/>
          <p:cNvSpPr txBox="1"/>
          <p:nvPr/>
        </p:nvSpPr>
        <p:spPr>
          <a:xfrm>
            <a:off x="1422960" y="3940000"/>
            <a:ext cx="4690000" cy="340000"/>
          </a:xfrm>
          <a:prstGeom prst="rect">
            <a:avLst/>
          </a:prstGeom>
          <a:noFill/>
        </p:spPr>
        <p:txBody>
          <a:bodyPr wrap="square">
            <a:spAutoFit/>
          </a:bodyPr>
          <a:lstStyle/>
          <a:p>
            <a:pPr algn="l"/>
            <a:r>
              <a:rPr sz="1350" b="1">
                <a:solidFill>
                  <a:srgbClr val="1C2126"/>
                </a:solidFill>
                <a:latin typeface="游ゴシック"/>
                <a:ea typeface="游ゴシック"/>
              </a:rPr>
              <a:t>間取り手書き共有</a:t>
            </a:r>
          </a:p>
        </p:txBody>
      </p:sp>
      <p:sp>
        <p:nvSpPr>
          <p:cNvPr id="20" name="TextBox 19"/>
          <p:cNvSpPr txBox="1"/>
          <p:nvPr/>
        </p:nvSpPr>
        <p:spPr>
          <a:xfrm>
            <a:off x="1422960" y="4250000"/>
            <a:ext cx="4690000" cy="620000"/>
          </a:xfrm>
          <a:prstGeom prst="rect">
            <a:avLst/>
          </a:prstGeom>
          <a:noFill/>
        </p:spPr>
        <p:txBody>
          <a:bodyPr wrap="square">
            <a:spAutoFit/>
          </a:bodyPr>
          <a:lstStyle/>
          <a:p>
            <a:pPr algn="l"/>
            <a:r>
              <a:rPr sz="1050" b="0">
                <a:solidFill>
                  <a:srgbClr val="4B545C"/>
                </a:solidFill>
                <a:latin typeface="游ゴシック"/>
                <a:ea typeface="游ゴシック"/>
              </a:rPr>
              <a:t>救助隊員に聞かれる前に、簡易な間取り図を先回りで共有</a:t>
            </a:r>
          </a:p>
        </p:txBody>
      </p:sp>
      <p:sp>
        <p:nvSpPr>
          <p:cNvPr id="21" name="Oval 20"/>
          <p:cNvSpPr/>
          <p:nvPr/>
        </p:nvSpPr>
        <p:spPr>
          <a:xfrm>
            <a:off x="6412960" y="3970000"/>
            <a:ext cx="500000" cy="500000"/>
          </a:xfrm>
          <a:prstGeom prst="ellipse">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0">
                <a:solidFill>
                  <a:srgbClr val="FFFFFF"/>
                </a:solidFill>
                <a:latin typeface="游ゴシック"/>
                <a:ea typeface="游ゴシック"/>
              </a:rPr>
              <a:t>⚠️</a:t>
            </a:r>
          </a:p>
        </p:txBody>
      </p:sp>
      <p:sp>
        <p:nvSpPr>
          <p:cNvPr id="22" name="TextBox 21"/>
          <p:cNvSpPr txBox="1"/>
          <p:nvPr/>
        </p:nvSpPr>
        <p:spPr>
          <a:xfrm>
            <a:off x="7012960" y="3940000"/>
            <a:ext cx="4690000" cy="340000"/>
          </a:xfrm>
          <a:prstGeom prst="rect">
            <a:avLst/>
          </a:prstGeom>
          <a:noFill/>
        </p:spPr>
        <p:txBody>
          <a:bodyPr wrap="square">
            <a:spAutoFit/>
          </a:bodyPr>
          <a:lstStyle/>
          <a:p>
            <a:pPr algn="l"/>
            <a:r>
              <a:rPr sz="1350" b="1">
                <a:solidFill>
                  <a:srgbClr val="1C2126"/>
                </a:solidFill>
                <a:latin typeface="游ゴシック"/>
                <a:ea typeface="游ゴシック"/>
              </a:rPr>
              <a:t>前兆現象の共有</a:t>
            </a:r>
          </a:p>
        </p:txBody>
      </p:sp>
      <p:sp>
        <p:nvSpPr>
          <p:cNvPr id="23" name="TextBox 22"/>
          <p:cNvSpPr txBox="1"/>
          <p:nvPr/>
        </p:nvSpPr>
        <p:spPr>
          <a:xfrm>
            <a:off x="7012960" y="4250000"/>
            <a:ext cx="4690000" cy="620000"/>
          </a:xfrm>
          <a:prstGeom prst="rect">
            <a:avLst/>
          </a:prstGeom>
          <a:noFill/>
        </p:spPr>
        <p:txBody>
          <a:bodyPr wrap="square">
            <a:spAutoFit/>
          </a:bodyPr>
          <a:lstStyle/>
          <a:p>
            <a:pPr algn="l"/>
            <a:r>
              <a:rPr sz="1050" b="0">
                <a:solidFill>
                  <a:srgbClr val="4B545C"/>
                </a:solidFill>
                <a:latin typeface="游ゴシック"/>
                <a:ea typeface="游ゴシック"/>
              </a:rPr>
              <a:t>公式チェックリストに基づく目撃情報をワンタップで共有</a:t>
            </a:r>
          </a:p>
        </p:txBody>
      </p:sp>
      <p:sp>
        <p:nvSpPr>
          <p:cNvPr id="24" name="TextBox 23"/>
          <p:cNvSpPr txBox="1"/>
          <p:nvPr/>
        </p:nvSpPr>
        <p:spPr>
          <a:xfrm>
            <a:off x="822960" y="5070000"/>
            <a:ext cx="11155680" cy="365760"/>
          </a:xfrm>
          <a:prstGeom prst="rect">
            <a:avLst/>
          </a:prstGeom>
          <a:noFill/>
        </p:spPr>
        <p:txBody>
          <a:bodyPr wrap="square">
            <a:spAutoFit/>
          </a:bodyPr>
          <a:lstStyle/>
          <a:p>
            <a:pPr algn="l"/>
            <a:r>
              <a:rPr sz="1050" b="0">
                <a:solidFill>
                  <a:srgbClr val="4B545C"/>
                </a:solidFill>
                <a:latin typeface="游ゴシック"/>
                <a:ea typeface="游ゴシック"/>
              </a:rPr>
              <a:t>対象データは東京都建設局河川部のオープンデータ(CC BY 4.0)を活用。Cloudflare Workers + D1で構築、完全無料で運用。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7132320" cy="640080"/>
          </a:xfrm>
          <a:prstGeom prst="rect">
            <a:avLst/>
          </a:prstGeom>
          <a:noFill/>
        </p:spPr>
        <p:txBody>
          <a:bodyPr wrap="square">
            <a:spAutoFit/>
          </a:bodyPr>
          <a:lstStyle/>
          <a:p>
            <a:pPr algn="l"/>
            <a:r>
              <a:rPr sz="3400" b="1">
                <a:solidFill>
                  <a:srgbClr val="1F4E4A"/>
                </a:solidFill>
                <a:latin typeface="游ゴシック"/>
                <a:ea typeface="游ゴシック"/>
              </a:rPr>
              <a:t>UI実例と安全設計</a:t>
            </a:r>
          </a:p>
        </p:txBody>
      </p:sp>
      <p:sp>
        <p:nvSpPr>
          <p:cNvPr id="3" name="TextBox 2"/>
          <p:cNvSpPr txBox="1"/>
          <p:nvPr/>
        </p:nvSpPr>
        <p:spPr>
          <a:xfrm>
            <a:off x="822960" y="1143000"/>
            <a:ext cx="11155680" cy="502920"/>
          </a:xfrm>
          <a:prstGeom prst="rect">
            <a:avLst/>
          </a:prstGeom>
          <a:noFill/>
        </p:spPr>
        <p:txBody>
          <a:bodyPr wrap="square">
            <a:spAutoFit/>
          </a:bodyPr>
          <a:lstStyle/>
          <a:p>
            <a:pPr algn="l"/>
            <a:r>
              <a:rPr sz="1600" b="0">
                <a:solidFill>
                  <a:srgbClr val="4B545C"/>
                </a:solidFill>
                <a:latin typeface="游ゴシック"/>
                <a:ea typeface="游ゴシック"/>
              </a:rPr>
              <a:t>危機感を伝えるUXと、そっと寄り添うAI</a:t>
            </a:r>
          </a:p>
        </p:txBody>
      </p:sp>
      <p:sp>
        <p:nvSpPr>
          <p:cNvPr id="4" name="Rounded Rectangle 3"/>
          <p:cNvSpPr/>
          <p:nvPr/>
        </p:nvSpPr>
        <p:spPr>
          <a:xfrm>
            <a:off x="400000" y="1874520"/>
            <a:ext cx="5596000" cy="3600000"/>
          </a:xfrm>
          <a:prstGeom prst="roundRect">
            <a:avLst>
              <a:gd name="adj" fmla="val 3306"/>
            </a:avLst>
          </a:prstGeom>
          <a:solidFill>
            <a:srgbClr val="F4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reenshot_02_intake.png"/>
          <p:cNvPicPr>
            <a:picLocks noChangeAspect="1"/>
          </p:cNvPicPr>
          <p:nvPr/>
        </p:nvPicPr>
        <p:blipFill>
          <a:blip r:embed="rId2"/>
          <a:stretch>
            <a:fillRect/>
          </a:stretch>
        </p:blipFill>
        <p:spPr>
          <a:xfrm>
            <a:off x="709111" y="1914520"/>
            <a:ext cx="4977777" cy="2800000"/>
          </a:xfrm>
          <a:prstGeom prst="rect">
            <a:avLst/>
          </a:prstGeom>
        </p:spPr>
      </p:pic>
      <p:sp>
        <p:nvSpPr>
          <p:cNvPr id="6" name="TextBox 5"/>
          <p:cNvSpPr txBox="1"/>
          <p:nvPr/>
        </p:nvSpPr>
        <p:spPr>
          <a:xfrm>
            <a:off x="440000" y="4754520"/>
            <a:ext cx="5516000" cy="340000"/>
          </a:xfrm>
          <a:prstGeom prst="rect">
            <a:avLst/>
          </a:prstGeom>
          <a:noFill/>
        </p:spPr>
        <p:txBody>
          <a:bodyPr wrap="square">
            <a:spAutoFit/>
          </a:bodyPr>
          <a:lstStyle/>
          <a:p>
            <a:pPr algn="l"/>
            <a:r>
              <a:rPr sz="1350" b="1">
                <a:solidFill>
                  <a:srgbClr val="1C2126"/>
                </a:solidFill>
                <a:latin typeface="游ゴシック"/>
                <a:ea typeface="游ゴシック"/>
              </a:rPr>
              <a:t>音声入力対応の事前問診フォーム</a:t>
            </a:r>
          </a:p>
        </p:txBody>
      </p:sp>
      <p:sp>
        <p:nvSpPr>
          <p:cNvPr id="7" name="TextBox 6"/>
          <p:cNvSpPr txBox="1"/>
          <p:nvPr/>
        </p:nvSpPr>
        <p:spPr>
          <a:xfrm>
            <a:off x="440000" y="5094520"/>
            <a:ext cx="5516000" cy="340000"/>
          </a:xfrm>
          <a:prstGeom prst="rect">
            <a:avLst/>
          </a:prstGeom>
          <a:noFill/>
        </p:spPr>
        <p:txBody>
          <a:bodyPr wrap="square">
            <a:spAutoFit/>
          </a:bodyPr>
          <a:lstStyle/>
          <a:p>
            <a:pPr algn="l"/>
            <a:r>
              <a:rPr sz="1000" b="0">
                <a:solidFill>
                  <a:srgbClr val="4B545C"/>
                </a:solidFill>
                <a:latin typeface="游ゴシック"/>
                <a:ea typeface="游ゴシック"/>
              </a:rPr>
              <a:t>文字入力が難しい状況でも、話しかけるだけで記録。必ず内容を確認してから反映する。</a:t>
            </a:r>
          </a:p>
        </p:txBody>
      </p:sp>
      <p:sp>
        <p:nvSpPr>
          <p:cNvPr id="8" name="Rounded Rectangle 7"/>
          <p:cNvSpPr/>
          <p:nvPr/>
        </p:nvSpPr>
        <p:spPr>
          <a:xfrm>
            <a:off x="6196000" y="1874520"/>
            <a:ext cx="5596000" cy="3600000"/>
          </a:xfrm>
          <a:prstGeom prst="roundRect">
            <a:avLst>
              <a:gd name="adj" fmla="val 3306"/>
            </a:avLst>
          </a:prstGeom>
          <a:solidFill>
            <a:srgbClr val="F4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6000" y="2174520"/>
            <a:ext cx="4996000" cy="400000"/>
          </a:xfrm>
          <a:prstGeom prst="rect">
            <a:avLst/>
          </a:prstGeom>
          <a:noFill/>
        </p:spPr>
        <p:txBody>
          <a:bodyPr wrap="square">
            <a:spAutoFit/>
          </a:bodyPr>
          <a:lstStyle/>
          <a:p>
            <a:pPr algn="l"/>
            <a:r>
              <a:rPr sz="1500" b="1">
                <a:solidFill>
                  <a:srgbClr val="1C2126"/>
                </a:solidFill>
                <a:latin typeface="游ゴシック"/>
                <a:ea typeface="游ゴシック"/>
              </a:rPr>
              <a:t>⚠️ 前兆現象の共有</a:t>
            </a:r>
          </a:p>
        </p:txBody>
      </p:sp>
      <p:sp>
        <p:nvSpPr>
          <p:cNvPr id="10" name="TextBox 9"/>
          <p:cNvSpPr txBox="1"/>
          <p:nvPr/>
        </p:nvSpPr>
        <p:spPr>
          <a:xfrm>
            <a:off x="6496000" y="2594520"/>
            <a:ext cx="4996000" cy="700000"/>
          </a:xfrm>
          <a:prstGeom prst="rect">
            <a:avLst/>
          </a:prstGeom>
          <a:noFill/>
        </p:spPr>
        <p:txBody>
          <a:bodyPr wrap="square">
            <a:spAutoFit/>
          </a:bodyPr>
          <a:lstStyle/>
          <a:p>
            <a:pPr algn="l"/>
            <a:r>
              <a:rPr sz="1100" b="0">
                <a:solidFill>
                  <a:srgbClr val="4B545C"/>
                </a:solidFill>
                <a:latin typeface="游ゴシック"/>
                <a:ea typeface="游ゴシック"/>
              </a:rPr>
              <a:t>「〇〇さんの近くで報告：山鳴り・地鳴り」正常性バイアス対策として、具体的な人・場所を名指しする呼びかけ形式で通知。</a:t>
            </a:r>
          </a:p>
        </p:txBody>
      </p:sp>
      <p:sp>
        <p:nvSpPr>
          <p:cNvPr id="11" name="TextBox 10"/>
          <p:cNvSpPr txBox="1"/>
          <p:nvPr/>
        </p:nvSpPr>
        <p:spPr>
          <a:xfrm>
            <a:off x="6496000" y="3524520"/>
            <a:ext cx="4996000" cy="400000"/>
          </a:xfrm>
          <a:prstGeom prst="rect">
            <a:avLst/>
          </a:prstGeom>
          <a:noFill/>
        </p:spPr>
        <p:txBody>
          <a:bodyPr wrap="square">
            <a:spAutoFit/>
          </a:bodyPr>
          <a:lstStyle/>
          <a:p>
            <a:pPr algn="l"/>
            <a:r>
              <a:rPr sz="1500" b="1">
                <a:solidFill>
                  <a:srgbClr val="1C2126"/>
                </a:solidFill>
                <a:latin typeface="游ゴシック"/>
                <a:ea typeface="游ゴシック"/>
              </a:rPr>
              <a:t>💬 AI相談(傾聴AIチャット)</a:t>
            </a:r>
          </a:p>
        </p:txBody>
      </p:sp>
      <p:sp>
        <p:nvSpPr>
          <p:cNvPr id="12" name="TextBox 11"/>
          <p:cNvSpPr txBox="1"/>
          <p:nvPr/>
        </p:nvSpPr>
        <p:spPr>
          <a:xfrm>
            <a:off x="6496000" y="3944520"/>
            <a:ext cx="4996000" cy="900000"/>
          </a:xfrm>
          <a:prstGeom prst="rect">
            <a:avLst/>
          </a:prstGeom>
          <a:noFill/>
        </p:spPr>
        <p:txBody>
          <a:bodyPr wrap="square">
            <a:spAutoFit/>
          </a:bodyPr>
          <a:lstStyle/>
          <a:p>
            <a:pPr algn="l"/>
            <a:r>
              <a:rPr sz="1100" b="0">
                <a:solidFill>
                  <a:srgbClr val="4B545C"/>
                </a:solidFill>
                <a:latin typeface="游ゴシック"/>
                <a:ea typeface="游ゴシック"/>
              </a:rPr>
              <a:t>専門家のいない現場で、不安な気持ちに寄り添うAI。助言・予測は一切せず、深刻な兆候は専門窓口へ橋渡しする安全設計。</a:t>
            </a:r>
          </a:p>
        </p:txBody>
      </p:sp>
      <p:sp>
        <p:nvSpPr>
          <p:cNvPr id="13" name="TextBox 12"/>
          <p:cNvSpPr txBox="1"/>
          <p:nvPr/>
        </p:nvSpPr>
        <p:spPr>
          <a:xfrm>
            <a:off x="6496000" y="4874520"/>
            <a:ext cx="4996000" cy="400000"/>
          </a:xfrm>
          <a:prstGeom prst="rect">
            <a:avLst/>
          </a:prstGeom>
          <a:noFill/>
        </p:spPr>
        <p:txBody>
          <a:bodyPr wrap="square">
            <a:spAutoFit/>
          </a:bodyPr>
          <a:lstStyle/>
          <a:p>
            <a:pPr algn="l"/>
            <a:r>
              <a:rPr sz="1050" b="1">
                <a:solidFill>
                  <a:srgbClr val="8CC8B4"/>
                </a:solidFill>
                <a:latin typeface="游ゴシック"/>
                <a:ea typeface="游ゴシック"/>
              </a:rPr>
              <a:t>生存確率・見込み時間の予測は一切行わない設計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502920"/>
            <a:ext cx="7132320" cy="640080"/>
          </a:xfrm>
          <a:prstGeom prst="rect">
            <a:avLst/>
          </a:prstGeom>
          <a:noFill/>
        </p:spPr>
        <p:txBody>
          <a:bodyPr wrap="square">
            <a:spAutoFit/>
          </a:bodyPr>
          <a:lstStyle/>
          <a:p>
            <a:pPr algn="l"/>
            <a:r>
              <a:rPr sz="3400" b="1">
                <a:solidFill>
                  <a:srgbClr val="1F4E4A"/>
                </a:solidFill>
                <a:latin typeface="游ゴシック"/>
                <a:ea typeface="游ゴシック"/>
              </a:rPr>
              <a:t>利用データとチーム</a:t>
            </a:r>
          </a:p>
        </p:txBody>
      </p:sp>
      <p:graphicFrame>
        <p:nvGraphicFramePr>
          <p:cNvPr id="3" name="Table 2"/>
          <p:cNvGraphicFramePr>
            <a:graphicFrameLocks noGrp="1"/>
          </p:cNvGraphicFramePr>
          <p:nvPr/>
        </p:nvGraphicFramePr>
        <p:xfrm>
          <a:off x="822960" y="1750000"/>
          <a:ext cx="5596000" cy="1400000"/>
        </p:xfrm>
        <a:graphic>
          <a:graphicData uri="http://schemas.openxmlformats.org/drawingml/2006/table">
            <a:tbl>
              <a:tblPr firstRow="1" bandRow="1">
                <a:tableStyleId>{5C22544A-7EE6-4342-B048-85BDC9FD1C3A}</a:tableStyleId>
              </a:tblPr>
              <a:tblGrid>
                <a:gridCol w="3805280"/>
                <a:gridCol w="1790720"/>
              </a:tblGrid>
              <a:tr h="350000">
                <a:tc>
                  <a:txBody>
                    <a:bodyPr/>
                    <a:lstStyle/>
                    <a:p>
                      <a:r>
                        <a:rPr sz="1000" b="1">
                          <a:solidFill>
                            <a:srgbClr val="FFFFFF"/>
                          </a:solidFill>
                          <a:latin typeface="游ゴシック"/>
                        </a:rPr>
                        <a:t>データ名</a:t>
                      </a:r>
                    </a:p>
                  </a:txBody>
                  <a:tcPr>
                    <a:solidFill>
                      <a:srgbClr val="1F4E4A"/>
                    </a:solidFill>
                  </a:tcPr>
                </a:tc>
                <a:tc>
                  <a:txBody>
                    <a:bodyPr/>
                    <a:lstStyle/>
                    <a:p>
                      <a:r>
                        <a:rPr sz="1000" b="1">
                          <a:solidFill>
                            <a:srgbClr val="FFFFFF"/>
                          </a:solidFill>
                          <a:latin typeface="游ゴシック"/>
                        </a:rPr>
                        <a:t>用途</a:t>
                      </a:r>
                    </a:p>
                  </a:txBody>
                  <a:tcPr>
                    <a:solidFill>
                      <a:srgbClr val="1F4E4A"/>
                    </a:solidFill>
                  </a:tcPr>
                </a:tc>
              </a:tr>
              <a:tr h="350000">
                <a:tc>
                  <a:txBody>
                    <a:bodyPr/>
                    <a:lstStyle/>
                    <a:p>
                      <a:r>
                        <a:rPr sz="900">
                          <a:solidFill>
                            <a:srgbClr val="4B545C"/>
                          </a:solidFill>
                          <a:latin typeface="游ゴシック"/>
                        </a:rPr>
                        <a:t>東京都建設局河川部「東京都土砂災害危険度情報関連データ」(CC BY 4.0)</a:t>
                      </a:r>
                    </a:p>
                  </a:txBody>
                  <a:tcPr>
                    <a:solidFill>
                      <a:srgbClr val="F4F5F3"/>
                    </a:solidFill>
                  </a:tcPr>
                </a:tc>
                <a:tc>
                  <a:txBody>
                    <a:bodyPr/>
                    <a:lstStyle/>
                    <a:p>
                      <a:r>
                        <a:rPr sz="900">
                          <a:solidFill>
                            <a:srgbClr val="4B545C"/>
                          </a:solidFill>
                          <a:latin typeface="游ゴシック"/>
                        </a:rPr>
                        <a:t>危険エリアの地図表示</a:t>
                      </a:r>
                    </a:p>
                  </a:txBody>
                  <a:tcPr>
                    <a:solidFill>
                      <a:srgbClr val="F4F5F3"/>
                    </a:solidFill>
                  </a:tcPr>
                </a:tc>
              </a:tr>
              <a:tr h="350000">
                <a:tc>
                  <a:txBody>
                    <a:bodyPr/>
                    <a:lstStyle/>
                    <a:p>
                      <a:r>
                        <a:rPr sz="900">
                          <a:solidFill>
                            <a:srgbClr val="4B545C"/>
                          </a:solidFill>
                          <a:latin typeface="游ゴシック"/>
                        </a:rPr>
                        <a:t>東京都「土砂災害警戒区域等マップ」</a:t>
                      </a:r>
                    </a:p>
                  </a:txBody>
                  <a:tcPr>
                    <a:solidFill>
                      <a:srgbClr val="F4F5F3"/>
                    </a:solidFill>
                  </a:tcPr>
                </a:tc>
                <a:tc>
                  <a:txBody>
                    <a:bodyPr/>
                    <a:lstStyle/>
                    <a:p>
                      <a:r>
                        <a:rPr sz="900">
                          <a:solidFill>
                            <a:srgbClr val="4B545C"/>
                          </a:solidFill>
                          <a:latin typeface="游ゴシック"/>
                        </a:rPr>
                        <a:t>最新の指定状況への参照リンク</a:t>
                      </a:r>
                    </a:p>
                  </a:txBody>
                  <a:tcPr>
                    <a:solidFill>
                      <a:srgbClr val="F4F5F3"/>
                    </a:solidFill>
                  </a:tcPr>
                </a:tc>
              </a:tr>
              <a:tr h="350000">
                <a:tc>
                  <a:txBody>
                    <a:bodyPr/>
                    <a:lstStyle/>
                    <a:p>
                      <a:r>
                        <a:rPr sz="900">
                          <a:solidFill>
                            <a:srgbClr val="4B545C"/>
                          </a:solidFill>
                          <a:latin typeface="游ゴシック"/>
                        </a:rPr>
                        <a:t>首相官邸「土砂災害から身を守るには」</a:t>
                      </a:r>
                    </a:p>
                  </a:txBody>
                  <a:tcPr>
                    <a:solidFill>
                      <a:srgbClr val="F4F5F3"/>
                    </a:solidFill>
                  </a:tcPr>
                </a:tc>
                <a:tc>
                  <a:txBody>
                    <a:bodyPr/>
                    <a:lstStyle/>
                    <a:p>
                      <a:r>
                        <a:rPr sz="900">
                          <a:solidFill>
                            <a:srgbClr val="4B545C"/>
                          </a:solidFill>
                          <a:latin typeface="游ゴシック"/>
                        </a:rPr>
                        <a:t>過去の災害事例・前兆現象チェックリストの出典</a:t>
                      </a:r>
                    </a:p>
                  </a:txBody>
                  <a:tcPr>
                    <a:solidFill>
                      <a:srgbClr val="F4F5F3"/>
                    </a:solidFill>
                  </a:tcPr>
                </a:tc>
              </a:tr>
            </a:tbl>
          </a:graphicData>
        </a:graphic>
      </p:graphicFrame>
      <p:sp>
        <p:nvSpPr>
          <p:cNvPr id="4" name="Oval 3"/>
          <p:cNvSpPr/>
          <p:nvPr/>
        </p:nvSpPr>
        <p:spPr>
          <a:xfrm>
            <a:off x="6746000" y="1750000"/>
            <a:ext cx="900000" cy="900000"/>
          </a:xfrm>
          <a:prstGeom prst="ellipse">
            <a:avLst/>
          </a:prstGeom>
          <a:solidFill>
            <a:srgbClr val="1F4E4A"/>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0">
                <a:solidFill>
                  <a:srgbClr val="FFFFFF"/>
                </a:solidFill>
                <a:latin typeface="游ゴシック"/>
                <a:ea typeface="游ゴシック"/>
              </a:rPr>
              <a:t>結</a:t>
            </a:r>
          </a:p>
        </p:txBody>
      </p:sp>
      <p:sp>
        <p:nvSpPr>
          <p:cNvPr id="5" name="TextBox 4"/>
          <p:cNvSpPr txBox="1"/>
          <p:nvPr/>
        </p:nvSpPr>
        <p:spPr>
          <a:xfrm>
            <a:off x="7796000" y="1810000"/>
            <a:ext cx="3800000" cy="500000"/>
          </a:xfrm>
          <a:prstGeom prst="rect">
            <a:avLst/>
          </a:prstGeom>
          <a:noFill/>
        </p:spPr>
        <p:txBody>
          <a:bodyPr wrap="square">
            <a:spAutoFit/>
          </a:bodyPr>
          <a:lstStyle/>
          <a:p>
            <a:pPr algn="l"/>
            <a:r>
              <a:rPr sz="1500" b="1">
                <a:solidFill>
                  <a:srgbClr val="1C2126"/>
                </a:solidFill>
                <a:latin typeface="游ゴシック"/>
                <a:ea typeface="游ゴシック"/>
              </a:rPr>
              <a:t>チーム「結」(個人開発)</a:t>
            </a:r>
          </a:p>
        </p:txBody>
      </p:sp>
      <p:sp>
        <p:nvSpPr>
          <p:cNvPr id="6" name="TextBox 5"/>
          <p:cNvSpPr txBox="1"/>
          <p:nvPr/>
        </p:nvSpPr>
        <p:spPr>
          <a:xfrm>
            <a:off x="7796000" y="2310000"/>
            <a:ext cx="3800000" cy="700000"/>
          </a:xfrm>
          <a:prstGeom prst="rect">
            <a:avLst/>
          </a:prstGeom>
          <a:noFill/>
        </p:spPr>
        <p:txBody>
          <a:bodyPr wrap="square">
            <a:spAutoFit/>
          </a:bodyPr>
          <a:lstStyle/>
          <a:p>
            <a:pPr algn="l"/>
            <a:r>
              <a:rPr sz="1000" b="0">
                <a:solidFill>
                  <a:srgbClr val="4B545C"/>
                </a:solidFill>
                <a:latin typeface="游ゴシック"/>
                <a:ea typeface="游ゴシック"/>
              </a:rPr>
              <a:t>土砂災害の現場に居合わせ、家族として何もできずただ待つしかなかった実体験から、企画・設計・実装まで一人で開発。</a:t>
            </a:r>
          </a:p>
        </p:txBody>
      </p:sp>
      <p:sp>
        <p:nvSpPr>
          <p:cNvPr id="7" name="Rounded Rectangle 6"/>
          <p:cNvSpPr/>
          <p:nvPr/>
        </p:nvSpPr>
        <p:spPr>
          <a:xfrm>
            <a:off x="6746000" y="3250000"/>
            <a:ext cx="4850000" cy="2100000"/>
          </a:xfrm>
          <a:prstGeom prst="roundRect">
            <a:avLst>
              <a:gd name="adj" fmla="val 3306"/>
            </a:avLst>
          </a:prstGeom>
          <a:solidFill>
            <a:srgbClr val="F4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06000" y="3470000"/>
            <a:ext cx="4330000" cy="400000"/>
          </a:xfrm>
          <a:prstGeom prst="rect">
            <a:avLst/>
          </a:prstGeom>
          <a:noFill/>
        </p:spPr>
        <p:txBody>
          <a:bodyPr wrap="square">
            <a:spAutoFit/>
          </a:bodyPr>
          <a:lstStyle/>
          <a:p>
            <a:pPr algn="l"/>
            <a:r>
              <a:rPr sz="1350" b="1">
                <a:solidFill>
                  <a:srgbClr val="1C2126"/>
                </a:solidFill>
                <a:latin typeface="游ゴシック"/>
                <a:ea typeface="游ゴシック"/>
              </a:rPr>
              <a:t>🛡️ 安全設計へのこだわり</a:t>
            </a:r>
          </a:p>
        </p:txBody>
      </p:sp>
      <p:sp>
        <p:nvSpPr>
          <p:cNvPr id="9" name="TextBox 8"/>
          <p:cNvSpPr txBox="1"/>
          <p:nvPr/>
        </p:nvSpPr>
        <p:spPr>
          <a:xfrm>
            <a:off x="7006000" y="3900000"/>
            <a:ext cx="4330000" cy="1350000"/>
          </a:xfrm>
          <a:prstGeom prst="rect">
            <a:avLst/>
          </a:prstGeom>
          <a:noFill/>
        </p:spPr>
        <p:txBody>
          <a:bodyPr wrap="square">
            <a:spAutoFit/>
          </a:bodyPr>
          <a:lstStyle/>
          <a:p>
            <a:pPr algn="l"/>
            <a:r>
              <a:rPr sz="1050" b="0">
                <a:solidFill>
                  <a:srgbClr val="4B545C"/>
                </a:solidFill>
                <a:latin typeface="游ゴシック"/>
                <a:ea typeface="游ゴシック"/>
              </a:rPr>
              <a:t>・生存確率、助かる見込み時間の提示はしない</a:t>
            </a:r>
          </a:p>
          <a:p>
            <a:pPr algn="l"/>
            <a:r>
              <a:rPr sz="1050" b="0">
                <a:solidFill>
                  <a:srgbClr val="4B545C"/>
                </a:solidFill>
                <a:latin typeface="游ゴシック"/>
                <a:ea typeface="游ゴシック"/>
              </a:rPr>
              <a:t>・前兆現象は「予測」ではなく目撃情報の共有として扱う</a:t>
            </a:r>
          </a:p>
          <a:p>
            <a:pPr algn="l"/>
            <a:r>
              <a:rPr sz="1050" b="0">
                <a:solidFill>
                  <a:srgbClr val="4B545C"/>
                </a:solidFill>
                <a:latin typeface="游ゴシック"/>
                <a:ea typeface="游ゴシック"/>
              </a:rPr>
              <a:t>・深刻な危機のサインは専門相談窓口へ即座に橋渡し</a:t>
            </a:r>
          </a:p>
        </p:txBody>
      </p:sp>
      <p:sp>
        <p:nvSpPr>
          <p:cNvPr id="10" name="TextBox 9"/>
          <p:cNvSpPr txBox="1"/>
          <p:nvPr/>
        </p:nvSpPr>
        <p:spPr>
          <a:xfrm>
            <a:off x="822960" y="6300000"/>
            <a:ext cx="11338560" cy="365760"/>
          </a:xfrm>
          <a:prstGeom prst="rect">
            <a:avLst/>
          </a:prstGeom>
          <a:noFill/>
        </p:spPr>
        <p:txBody>
          <a:bodyPr wrap="square">
            <a:spAutoFit/>
          </a:bodyPr>
          <a:lstStyle/>
          <a:p>
            <a:pPr algn="l"/>
            <a:r>
              <a:rPr sz="1200" b="1">
                <a:solidFill>
                  <a:srgbClr val="1F4E4A"/>
                </a:solidFill>
                <a:latin typeface="游ゴシック"/>
                <a:ea typeface="游ゴシック"/>
              </a:rPr>
              <a:t>結（ゆい）— 救助を後押しする、無料の情報共有アプリ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