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游ゴシック"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游ゴシック"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游ゴシック"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游ゴシック"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游ゴシック"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游ゴシック"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游ゴシック"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游ゴシック"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游ゴシック"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jpg"/><Relationship Id="rId2" Type="http://schemas.openxmlformats.org/officeDocument/2006/relationships/video" Target="../media/media1.mp4"/><Relationship Id="rId3" Type="http://schemas.microsoft.com/office/2007/relationships/media" Target="../media/media1.mp4"/><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A"/>
        </a:solidFill>
      </p:bgPr>
    </p:bg>
    <p:spTree>
      <p:nvGrpSpPr>
        <p:cNvPr id="1" name=""/>
        <p:cNvGrpSpPr/>
        <p:nvPr/>
      </p:nvGrpSpPr>
      <p:grpSpPr>
        <a:xfrm>
          <a:off x="0" y="0"/>
          <a:ext cx="0" cy="0"/>
          <a:chOff x="0" y="0"/>
          <a:chExt cx="0" cy="0"/>
        </a:xfrm>
      </p:grpSpPr>
      <p:sp>
        <p:nvSpPr>
          <p:cNvPr id="2" name="Text 0"/>
          <p:cNvSpPr/>
          <p:nvPr/>
        </p:nvSpPr>
        <p:spPr>
          <a:xfrm>
            <a:off x="822960" y="1371600"/>
            <a:ext cx="6177000" cy="457200"/>
          </a:xfrm>
          <a:prstGeom prst="rect">
            <a:avLst/>
          </a:prstGeom>
          <a:noFill/>
          <a:ln/>
        </p:spPr>
        <p:txBody>
          <a:bodyPr wrap="square" rtlCol="0" anchor="ctr"/>
          <a:lstStyle/>
          <a:p>
            <a:pPr indent="0" marL="0">
              <a:buNone/>
            </a:pPr>
            <a:r>
              <a:rPr lang="en-US" sz="1400" b="1" spc="200" kern="0" dirty="0">
                <a:solidFill>
                  <a:srgbClr val="BFE3DA"/>
                </a:solidFill>
                <a:latin typeface="游ゴシック" pitchFamily="34" charset="0"/>
                <a:ea typeface="游ゴシック" pitchFamily="34" charset="-122"/>
                <a:cs typeface="游ゴシック" pitchFamily="34" charset="-120"/>
              </a:rPr>
              <a:t>都知事杯オープンデータ・ハッカソン 2026</a:t>
            </a:r>
            <a:endParaRPr lang="en-US" sz="1400" dirty="0"/>
          </a:p>
        </p:txBody>
      </p:sp>
      <p:sp>
        <p:nvSpPr>
          <p:cNvPr id="3" name="Text 1"/>
          <p:cNvSpPr/>
          <p:nvPr/>
        </p:nvSpPr>
        <p:spPr>
          <a:xfrm>
            <a:off x="777240" y="1828800"/>
            <a:ext cx="6177000" cy="1463040"/>
          </a:xfrm>
          <a:prstGeom prst="rect">
            <a:avLst/>
          </a:prstGeom>
          <a:noFill/>
          <a:ln/>
        </p:spPr>
        <p:txBody>
          <a:bodyPr wrap="square" lIns="0" tIns="0" rIns="0" bIns="0" rtlCol="0" anchor="ctr"/>
          <a:lstStyle/>
          <a:p>
            <a:pPr indent="0" marL="0">
              <a:buNone/>
            </a:pPr>
            <a:r>
              <a:rPr lang="en-US" sz="8000" b="1" dirty="0">
                <a:solidFill>
                  <a:srgbClr val="FFFFFF"/>
                </a:solidFill>
                <a:latin typeface="游ゴシック" pitchFamily="34" charset="0"/>
                <a:ea typeface="游ゴシック" pitchFamily="34" charset="-122"/>
                <a:cs typeface="游ゴシック" pitchFamily="34" charset="-120"/>
              </a:rPr>
              <a:t>結（ゆい）</a:t>
            </a:r>
            <a:endParaRPr lang="en-US" sz="8000" dirty="0"/>
          </a:p>
        </p:txBody>
      </p:sp>
      <p:sp>
        <p:nvSpPr>
          <p:cNvPr id="4" name="Text 2"/>
          <p:cNvSpPr/>
          <p:nvPr/>
        </p:nvSpPr>
        <p:spPr>
          <a:xfrm>
            <a:off x="822960" y="3383280"/>
            <a:ext cx="6177000" cy="731520"/>
          </a:xfrm>
          <a:prstGeom prst="rect">
            <a:avLst/>
          </a:prstGeom>
          <a:noFill/>
          <a:ln/>
        </p:spPr>
        <p:txBody>
          <a:bodyPr wrap="square" rtlCol="0" anchor="ctr"/>
          <a:lstStyle/>
          <a:p>
            <a:pPr indent="0" marL="0">
              <a:buNone/>
            </a:pPr>
            <a:r>
              <a:rPr lang="en-US" sz="1800" i="1" dirty="0">
                <a:solidFill>
                  <a:srgbClr val="E4EFEA"/>
                </a:solidFill>
                <a:latin typeface="游ゴシック" pitchFamily="34" charset="0"/>
                <a:ea typeface="游ゴシック" pitchFamily="34" charset="-122"/>
                <a:cs typeface="游ゴシック" pitchFamily="34" charset="-120"/>
              </a:rPr>
              <a:t>土砂災害現場で無事を待つ家族と救助隊を情報共有でつなぎ、救助を後押しする無料アプリ「結」</a:t>
            </a:r>
            <a:endParaRPr lang="en-US" sz="1800" dirty="0"/>
          </a:p>
        </p:txBody>
      </p:sp>
      <p:sp>
        <p:nvSpPr>
          <p:cNvPr id="5" name="Shape 3"/>
          <p:cNvSpPr/>
          <p:nvPr/>
        </p:nvSpPr>
        <p:spPr>
          <a:xfrm>
            <a:off x="822960" y="4434840"/>
            <a:ext cx="3200400" cy="502920"/>
          </a:xfrm>
          <a:prstGeom prst="roundRect">
            <a:avLst>
              <a:gd name="adj" fmla="val 50909"/>
            </a:avLst>
          </a:prstGeom>
          <a:solidFill>
            <a:srgbClr val="FFFFFF">
              <a:alpha val="12000"/>
            </a:srgbClr>
          </a:solidFill>
          <a:ln w="12700">
            <a:solidFill>
              <a:srgbClr val="FFFFFF"/>
            </a:solidFill>
            <a:prstDash val="solid"/>
          </a:ln>
        </p:spPr>
      </p:sp>
      <p:sp>
        <p:nvSpPr>
          <p:cNvPr id="6" name="Text 4"/>
          <p:cNvSpPr/>
          <p:nvPr/>
        </p:nvSpPr>
        <p:spPr>
          <a:xfrm>
            <a:off x="822960" y="4434840"/>
            <a:ext cx="320040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游ゴシック" pitchFamily="34" charset="0"/>
                <a:ea typeface="游ゴシック" pitchFamily="34" charset="-122"/>
                <a:cs typeface="游ゴシック" pitchFamily="34" charset="-120"/>
              </a:rPr>
              <a:t>チーム「結」（個人開発）</a:t>
            </a:r>
            <a:endParaRPr lang="en-US" sz="1300" dirty="0"/>
          </a:p>
        </p:txBody>
      </p:sp>
      <p:sp>
        <p:nvSpPr>
          <p:cNvPr id="7" name="Text 5"/>
          <p:cNvSpPr/>
          <p:nvPr/>
        </p:nvSpPr>
        <p:spPr>
          <a:xfrm>
            <a:off x="822960" y="6126480"/>
            <a:ext cx="6177000" cy="365760"/>
          </a:xfrm>
          <a:prstGeom prst="rect">
            <a:avLst/>
          </a:prstGeom>
          <a:noFill/>
          <a:ln/>
        </p:spPr>
        <p:txBody>
          <a:bodyPr wrap="square" rtlCol="0" anchor="ctr"/>
          <a:lstStyle/>
          <a:p>
            <a:pPr indent="0" marL="0">
              <a:buNone/>
            </a:pPr>
            <a:r>
              <a:rPr lang="en-US" sz="1200" dirty="0">
                <a:solidFill>
                  <a:srgbClr val="9FC7BC"/>
                </a:solidFill>
                <a:latin typeface="游ゴシック" pitchFamily="34" charset="0"/>
                <a:ea typeface="游ゴシック" pitchFamily="34" charset="-122"/>
                <a:cs typeface="游ゴシック" pitchFamily="34" charset="-120"/>
              </a:rPr>
              <a:t>現場で待機する被災者家族・関係者のための、Web完結・無料の情報共有アプリ</a:t>
            </a:r>
            <a:endParaRPr lang="en-US" sz="1200" dirty="0"/>
          </a:p>
        </p:txBody>
      </p:sp>
      <p:pic>
        <p:nvPicPr>
          <p:cNvPr id="8" name="Picture 7" descr="handshake.png"/>
          <p:cNvPicPr>
            <a:picLocks noChangeAspect="1"/>
          </p:cNvPicPr>
          <p:nvPr/>
        </p:nvPicPr>
        <p:blipFill>
          <a:blip r:embed="rId3"/>
          <a:stretch>
            <a:fillRect/>
          </a:stretch>
        </p:blipFill>
        <p:spPr>
          <a:xfrm>
            <a:off x="7550000" y="1329000"/>
            <a:ext cx="4200000" cy="42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5486400" cy="640080"/>
          </a:xfrm>
          <a:prstGeom prst="rect">
            <a:avLst/>
          </a:prstGeom>
          <a:noFill/>
          <a:ln/>
        </p:spPr>
        <p:txBody>
          <a:bodyPr wrap="square" rtlCol="0" anchor="ctr"/>
          <a:lstStyle/>
          <a:p>
            <a:pPr indent="0" marL="0">
              <a:buNone/>
            </a:pPr>
            <a:r>
              <a:rPr lang="en-US" sz="3400" b="1" dirty="0">
                <a:solidFill>
                  <a:srgbClr val="1F4E4A"/>
                </a:solidFill>
                <a:latin typeface="游ゴシック" pitchFamily="34" charset="0"/>
                <a:ea typeface="游ゴシック" pitchFamily="34" charset="-122"/>
                <a:cs typeface="游ゴシック" pitchFamily="34" charset="-120"/>
              </a:rPr>
              <a:t>課題</a:t>
            </a:r>
            <a:endParaRPr lang="en-US" sz="3400" dirty="0"/>
          </a:p>
        </p:txBody>
      </p:sp>
      <p:sp>
        <p:nvSpPr>
          <p:cNvPr id="3" name="Text 1"/>
          <p:cNvSpPr/>
          <p:nvPr/>
        </p:nvSpPr>
        <p:spPr>
          <a:xfrm>
            <a:off x="822960" y="1143000"/>
            <a:ext cx="10332720" cy="502920"/>
          </a:xfrm>
          <a:prstGeom prst="rect">
            <a:avLst/>
          </a:prstGeom>
          <a:noFill/>
          <a:ln/>
        </p:spPr>
        <p:txBody>
          <a:bodyPr wrap="square" rtlCol="0" anchor="ctr"/>
          <a:lstStyle/>
          <a:p>
            <a:pPr indent="0" marL="0">
              <a:buNone/>
            </a:pPr>
            <a:r>
              <a:rPr lang="en-US" sz="1600" i="1" dirty="0">
                <a:solidFill>
                  <a:srgbClr val="4B545C"/>
                </a:solidFill>
                <a:latin typeface="游ゴシック" pitchFamily="34" charset="0"/>
                <a:ea typeface="游ゴシック" pitchFamily="34" charset="-122"/>
                <a:cs typeface="游ゴシック" pitchFamily="34" charset="-120"/>
              </a:rPr>
              <a:t>土砂災害の現場で、家族は「ただ待つ」ことしかできなかった</a:t>
            </a:r>
            <a:endParaRPr lang="en-US" sz="1600" dirty="0"/>
          </a:p>
        </p:txBody>
      </p:sp>
      <p:sp>
        <p:nvSpPr>
          <p:cNvPr id="4" name="Shape 2"/>
          <p:cNvSpPr/>
          <p:nvPr/>
        </p:nvSpPr>
        <p:spPr>
          <a:xfrm>
            <a:off x="822960" y="1965960"/>
            <a:ext cx="3319272" cy="3566160"/>
          </a:xfrm>
          <a:prstGeom prst="roundRect">
            <a:avLst>
              <a:gd name="adj" fmla="val 3306"/>
            </a:avLst>
          </a:prstGeom>
          <a:solidFill>
            <a:srgbClr val="F4F5F3"/>
          </a:solidFill>
          <a:ln/>
          <a:effectLst>
            <a:outerShdw sx="100000" sy="100000" kx="0" ky="0" algn="bl" rotWithShape="0" blurRad="127000" dist="38100" dir="5400000">
              <a:srgbClr val="000000">
                <a:alpha val="18000"/>
              </a:srgbClr>
            </a:outerShdw>
          </a:effectLst>
        </p:spPr>
      </p:sp>
      <p:sp>
        <p:nvSpPr>
          <p:cNvPr id="5" name="Shape 3"/>
          <p:cNvSpPr/>
          <p:nvPr/>
        </p:nvSpPr>
        <p:spPr>
          <a:xfrm>
            <a:off x="1143000" y="2331720"/>
            <a:ext cx="822960" cy="822960"/>
          </a:xfrm>
          <a:prstGeom prst="ellipse">
            <a:avLst/>
          </a:prstGeom>
          <a:solidFill>
            <a:srgbClr val="1F4E4A"/>
          </a:solidFill>
          <a:ln/>
        </p:spPr>
      </p:sp>
      <p:sp>
        <p:nvSpPr>
          <p:cNvPr id="6" name="Text 4"/>
          <p:cNvSpPr/>
          <p:nvPr/>
        </p:nvSpPr>
        <p:spPr>
          <a:xfrm>
            <a:off x="1143000" y="2331720"/>
            <a:ext cx="822960" cy="82296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7" name="Text 5"/>
          <p:cNvSpPr/>
          <p:nvPr/>
        </p:nvSpPr>
        <p:spPr>
          <a:xfrm>
            <a:off x="1143000" y="3337560"/>
            <a:ext cx="2679192" cy="640080"/>
          </a:xfrm>
          <a:prstGeom prst="rect">
            <a:avLst/>
          </a:prstGeom>
          <a:noFill/>
          <a:ln/>
        </p:spPr>
        <p:txBody>
          <a:bodyPr wrap="square" lIns="0" tIns="0" rIns="0" bIns="0" rtlCol="0" anchor="ctr"/>
          <a:lstStyle/>
          <a:p>
            <a:pPr indent="0" marL="0">
              <a:buNone/>
            </a:pPr>
            <a:r>
              <a:rPr lang="en-US" sz="1700" b="1" dirty="0">
                <a:solidFill>
                  <a:srgbClr val="1C2126"/>
                </a:solidFill>
                <a:latin typeface="游ゴシック" pitchFamily="34" charset="0"/>
                <a:ea typeface="游ゴシック" pitchFamily="34" charset="-122"/>
                <a:cs typeface="游ゴシック" pitchFamily="34" charset="-120"/>
              </a:rPr>
              <a:t>何もできず、ただ待つ</a:t>
            </a:r>
            <a:endParaRPr lang="en-US" sz="1700" dirty="0"/>
          </a:p>
        </p:txBody>
      </p:sp>
      <p:sp>
        <p:nvSpPr>
          <p:cNvPr id="8" name="Text 6"/>
          <p:cNvSpPr/>
          <p:nvPr/>
        </p:nvSpPr>
        <p:spPr>
          <a:xfrm>
            <a:off x="1143000" y="3977640"/>
            <a:ext cx="2679192" cy="1417320"/>
          </a:xfrm>
          <a:prstGeom prst="rect">
            <a:avLst/>
          </a:prstGeom>
          <a:noFill/>
          <a:ln/>
        </p:spPr>
        <p:txBody>
          <a:bodyPr wrap="square" lIns="0" tIns="0" rIns="0" bIns="0" rtlCol="0" anchor="ctr"/>
          <a:lstStyle/>
          <a:p>
            <a:pPr indent="0" marL="0">
              <a:lnSpc>
                <a:spcPct val="125000"/>
              </a:lnSpc>
              <a:buNone/>
            </a:pPr>
            <a:r>
              <a:rPr lang="en-US" sz="1250" dirty="0">
                <a:solidFill>
                  <a:srgbClr val="4B545C"/>
                </a:solidFill>
                <a:latin typeface="游ゴシック" pitchFamily="34" charset="0"/>
                <a:ea typeface="游ゴシック" pitchFamily="34" charset="-122"/>
                <a:cs typeface="游ゴシック" pitchFamily="34" charset="-120"/>
              </a:rPr>
              <a:t>現場に居合わせた家族・親戚は、捜索・救助の間、何も手伝うことができない。</a:t>
            </a:r>
            <a:endParaRPr lang="en-US" sz="1250" dirty="0"/>
          </a:p>
        </p:txBody>
      </p:sp>
      <p:sp>
        <p:nvSpPr>
          <p:cNvPr id="9" name="Shape 7"/>
          <p:cNvSpPr/>
          <p:nvPr/>
        </p:nvSpPr>
        <p:spPr>
          <a:xfrm>
            <a:off x="4462272" y="1965960"/>
            <a:ext cx="3319272" cy="3566160"/>
          </a:xfrm>
          <a:prstGeom prst="roundRect">
            <a:avLst>
              <a:gd name="adj" fmla="val 3306"/>
            </a:avLst>
          </a:prstGeom>
          <a:solidFill>
            <a:srgbClr val="F4F5F3"/>
          </a:solidFill>
          <a:ln/>
          <a:effectLst>
            <a:outerShdw sx="100000" sy="100000" kx="0" ky="0" algn="bl" rotWithShape="0" blurRad="127000" dist="38100" dir="5400000">
              <a:srgbClr val="000000">
                <a:alpha val="18000"/>
              </a:srgbClr>
            </a:outerShdw>
          </a:effectLst>
        </p:spPr>
      </p:sp>
      <p:sp>
        <p:nvSpPr>
          <p:cNvPr id="10" name="Shape 8"/>
          <p:cNvSpPr/>
          <p:nvPr/>
        </p:nvSpPr>
        <p:spPr>
          <a:xfrm>
            <a:off x="4782312" y="2331720"/>
            <a:ext cx="822960" cy="822960"/>
          </a:xfrm>
          <a:prstGeom prst="ellipse">
            <a:avLst/>
          </a:prstGeom>
          <a:solidFill>
            <a:srgbClr val="1F4E4A"/>
          </a:solidFill>
          <a:ln/>
        </p:spPr>
      </p:sp>
      <p:sp>
        <p:nvSpPr>
          <p:cNvPr id="11" name="Text 9"/>
          <p:cNvSpPr/>
          <p:nvPr/>
        </p:nvSpPr>
        <p:spPr>
          <a:xfrm>
            <a:off x="4782312" y="2331720"/>
            <a:ext cx="822960" cy="82296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12" name="Text 10"/>
          <p:cNvSpPr/>
          <p:nvPr/>
        </p:nvSpPr>
        <p:spPr>
          <a:xfrm>
            <a:off x="4782312" y="3337560"/>
            <a:ext cx="2679192" cy="640080"/>
          </a:xfrm>
          <a:prstGeom prst="rect">
            <a:avLst/>
          </a:prstGeom>
          <a:noFill/>
          <a:ln/>
        </p:spPr>
        <p:txBody>
          <a:bodyPr wrap="square" lIns="0" tIns="0" rIns="0" bIns="0" rtlCol="0" anchor="ctr"/>
          <a:lstStyle/>
          <a:p>
            <a:pPr indent="0" marL="0">
              <a:buNone/>
            </a:pPr>
            <a:r>
              <a:rPr lang="en-US" sz="1700" b="1" dirty="0">
                <a:solidFill>
                  <a:srgbClr val="1C2126"/>
                </a:solidFill>
                <a:latin typeface="游ゴシック" pitchFamily="34" charset="0"/>
                <a:ea typeface="游ゴシック" pitchFamily="34" charset="-122"/>
                <a:cs typeface="游ゴシック" pitchFamily="34" charset="-120"/>
              </a:rPr>
              <a:t>聞き取りで指揮の手が止まる</a:t>
            </a:r>
            <a:endParaRPr lang="en-US" sz="1700" dirty="0"/>
          </a:p>
        </p:txBody>
      </p:sp>
      <p:sp>
        <p:nvSpPr>
          <p:cNvPr id="13" name="Text 11"/>
          <p:cNvSpPr/>
          <p:nvPr/>
        </p:nvSpPr>
        <p:spPr>
          <a:xfrm>
            <a:off x="4782312" y="3977640"/>
            <a:ext cx="2679192" cy="1417320"/>
          </a:xfrm>
          <a:prstGeom prst="rect">
            <a:avLst/>
          </a:prstGeom>
          <a:noFill/>
          <a:ln/>
        </p:spPr>
        <p:txBody>
          <a:bodyPr wrap="square" lIns="0" tIns="0" rIns="0" bIns="0" rtlCol="0" anchor="ctr"/>
          <a:lstStyle/>
          <a:p>
            <a:pPr indent="0" marL="0">
              <a:lnSpc>
                <a:spcPct val="125000"/>
              </a:lnSpc>
              <a:buNone/>
            </a:pPr>
            <a:r>
              <a:rPr lang="en-US" sz="1250" dirty="0">
                <a:solidFill>
                  <a:srgbClr val="4B545C"/>
                </a:solidFill>
                <a:latin typeface="游ゴシック" pitchFamily="34" charset="0"/>
                <a:ea typeface="游ゴシック" pitchFamily="34" charset="-122"/>
                <a:cs typeface="游ゴシック" pitchFamily="34" charset="-120"/>
              </a:rPr>
              <a:t>唯一伝えられる間取りや特徴も、司令官が家族から直接聞き取るため、捜索の手が止まる。</a:t>
            </a:r>
            <a:endParaRPr lang="en-US" sz="1250" dirty="0"/>
          </a:p>
        </p:txBody>
      </p:sp>
      <p:sp>
        <p:nvSpPr>
          <p:cNvPr id="14" name="Shape 12"/>
          <p:cNvSpPr/>
          <p:nvPr/>
        </p:nvSpPr>
        <p:spPr>
          <a:xfrm>
            <a:off x="8101584" y="1965960"/>
            <a:ext cx="3319272" cy="3566160"/>
          </a:xfrm>
          <a:prstGeom prst="roundRect">
            <a:avLst>
              <a:gd name="adj" fmla="val 3306"/>
            </a:avLst>
          </a:prstGeom>
          <a:solidFill>
            <a:srgbClr val="F4F5F3"/>
          </a:solidFill>
          <a:ln/>
          <a:effectLst>
            <a:outerShdw sx="100000" sy="100000" kx="0" ky="0" algn="bl" rotWithShape="0" blurRad="127000" dist="38100" dir="5400000">
              <a:srgbClr val="000000">
                <a:alpha val="18000"/>
              </a:srgbClr>
            </a:outerShdw>
          </a:effectLst>
        </p:spPr>
      </p:sp>
      <p:sp>
        <p:nvSpPr>
          <p:cNvPr id="15" name="Shape 13"/>
          <p:cNvSpPr/>
          <p:nvPr/>
        </p:nvSpPr>
        <p:spPr>
          <a:xfrm>
            <a:off x="8421624" y="2331720"/>
            <a:ext cx="822960" cy="822960"/>
          </a:xfrm>
          <a:prstGeom prst="ellipse">
            <a:avLst/>
          </a:prstGeom>
          <a:solidFill>
            <a:srgbClr val="1F4E4A"/>
          </a:solidFill>
          <a:ln/>
        </p:spPr>
      </p:sp>
      <p:sp>
        <p:nvSpPr>
          <p:cNvPr id="16" name="Text 14"/>
          <p:cNvSpPr/>
          <p:nvPr/>
        </p:nvSpPr>
        <p:spPr>
          <a:xfrm>
            <a:off x="8421624" y="2331720"/>
            <a:ext cx="822960" cy="82296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17" name="Text 15"/>
          <p:cNvSpPr/>
          <p:nvPr/>
        </p:nvSpPr>
        <p:spPr>
          <a:xfrm>
            <a:off x="8421624" y="3337560"/>
            <a:ext cx="2679192" cy="640080"/>
          </a:xfrm>
          <a:prstGeom prst="rect">
            <a:avLst/>
          </a:prstGeom>
          <a:noFill/>
          <a:ln/>
        </p:spPr>
        <p:txBody>
          <a:bodyPr wrap="square" lIns="0" tIns="0" rIns="0" bIns="0" rtlCol="0" anchor="ctr"/>
          <a:lstStyle/>
          <a:p>
            <a:pPr indent="0" marL="0">
              <a:buNone/>
            </a:pPr>
            <a:r>
              <a:rPr lang="en-US" sz="1700" b="1" dirty="0">
                <a:solidFill>
                  <a:srgbClr val="1C2126"/>
                </a:solidFill>
                <a:latin typeface="游ゴシック" pitchFamily="34" charset="0"/>
                <a:ea typeface="游ゴシック" pitchFamily="34" charset="-122"/>
                <a:cs typeface="游ゴシック" pitchFamily="34" charset="-120"/>
              </a:rPr>
              <a:t>人づての伝言でロスが生じる</a:t>
            </a:r>
            <a:endParaRPr lang="en-US" sz="1700" dirty="0"/>
          </a:p>
        </p:txBody>
      </p:sp>
      <p:sp>
        <p:nvSpPr>
          <p:cNvPr id="18" name="Text 16"/>
          <p:cNvSpPr/>
          <p:nvPr/>
        </p:nvSpPr>
        <p:spPr>
          <a:xfrm>
            <a:off x="8421624" y="3977640"/>
            <a:ext cx="2679192" cy="1417320"/>
          </a:xfrm>
          <a:prstGeom prst="rect">
            <a:avLst/>
          </a:prstGeom>
          <a:noFill/>
          <a:ln/>
        </p:spPr>
        <p:txBody>
          <a:bodyPr wrap="square" lIns="0" tIns="0" rIns="0" bIns="0" rtlCol="0" anchor="ctr"/>
          <a:lstStyle/>
          <a:p>
            <a:pPr indent="0" marL="0">
              <a:lnSpc>
                <a:spcPct val="125000"/>
              </a:lnSpc>
              <a:buNone/>
            </a:pPr>
            <a:r>
              <a:rPr lang="en-US" sz="1250" dirty="0">
                <a:solidFill>
                  <a:srgbClr val="4B545C"/>
                </a:solidFill>
                <a:latin typeface="游ゴシック" pitchFamily="34" charset="0"/>
                <a:ea typeface="游ゴシック" pitchFamily="34" charset="-122"/>
                <a:cs typeface="游ゴシック" pitchFamily="34" charset="-120"/>
              </a:rPr>
              <a:t>聞き取った内容を他の関係者へ伝えるのも人づてに頼らざるを得ず、遅延や伝達ミスが起きる。</a:t>
            </a:r>
            <a:endParaRPr lang="en-US" sz="1250" dirty="0"/>
          </a:p>
        </p:txBody>
      </p:sp>
      <p:sp>
        <p:nvSpPr>
          <p:cNvPr id="19" name="Text 17"/>
          <p:cNvSpPr/>
          <p:nvPr/>
        </p:nvSpPr>
        <p:spPr>
          <a:xfrm>
            <a:off x="822960" y="6080760"/>
            <a:ext cx="10332720" cy="457200"/>
          </a:xfrm>
          <a:prstGeom prst="rect">
            <a:avLst/>
          </a:prstGeom>
          <a:noFill/>
          <a:ln/>
        </p:spPr>
        <p:txBody>
          <a:bodyPr wrap="square" rtlCol="0" anchor="ctr"/>
          <a:lstStyle/>
          <a:p>
            <a:pPr indent="0" marL="0">
              <a:buNone/>
            </a:pPr>
            <a:r>
              <a:rPr lang="en-US" sz="1200" i="1" dirty="0">
                <a:solidFill>
                  <a:srgbClr val="4B545C"/>
                </a:solidFill>
                <a:latin typeface="游ゴシック" pitchFamily="34" charset="0"/>
                <a:ea typeface="游ゴシック" pitchFamily="34" charset="-122"/>
                <a:cs typeface="游ゴシック" pitchFamily="34" charset="-120"/>
              </a:rPr>
              <a:t>開発者自身が親戚の土砂災害に居合わせ、徹夜で立ち会った実体験から生まれた課題意識です。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4E4A"/>
        </a:solidFill>
      </p:bgPr>
    </p:bg>
    <p:spTree>
      <p:nvGrpSpPr>
        <p:cNvPr id="1" name=""/>
        <p:cNvGrpSpPr/>
        <p:nvPr/>
      </p:nvGrpSpPr>
      <p:grpSpPr>
        <a:xfrm>
          <a:off x="0" y="0"/>
          <a:ext cx="0" cy="0"/>
          <a:chOff x="0" y="0"/>
          <a:chExt cx="0" cy="0"/>
        </a:xfrm>
      </p:grpSpPr>
      <p:sp>
        <p:nvSpPr>
          <p:cNvPr id="2" name="Text 0"/>
          <p:cNvSpPr/>
          <p:nvPr/>
        </p:nvSpPr>
        <p:spPr>
          <a:xfrm>
            <a:off x="822960" y="502920"/>
            <a:ext cx="5486400" cy="640080"/>
          </a:xfrm>
          <a:prstGeom prst="rect">
            <a:avLst/>
          </a:prstGeom>
          <a:noFill/>
          <a:ln/>
        </p:spPr>
        <p:txBody>
          <a:bodyPr wrap="square" rtlCol="0" anchor="ctr"/>
          <a:lstStyle/>
          <a:p>
            <a:pPr indent="0" marL="0">
              <a:buNone/>
            </a:pPr>
            <a:r>
              <a:rPr lang="en-US" sz="3400" b="1" dirty="0">
                <a:solidFill>
                  <a:srgbClr val="FFFFFF"/>
                </a:solidFill>
                <a:latin typeface="游ゴシック" pitchFamily="34" charset="0"/>
                <a:ea typeface="游ゴシック" pitchFamily="34" charset="-122"/>
                <a:cs typeface="游ゴシック" pitchFamily="34" charset="-120"/>
              </a:rPr>
              <a:t>解決策</a:t>
            </a:r>
            <a:endParaRPr lang="en-US" sz="3400" dirty="0"/>
          </a:p>
        </p:txBody>
      </p:sp>
      <p:sp>
        <p:nvSpPr>
          <p:cNvPr id="3" name="Text 1"/>
          <p:cNvSpPr/>
          <p:nvPr/>
        </p:nvSpPr>
        <p:spPr>
          <a:xfrm>
            <a:off x="822960" y="1143000"/>
            <a:ext cx="10332720" cy="502920"/>
          </a:xfrm>
          <a:prstGeom prst="rect">
            <a:avLst/>
          </a:prstGeom>
          <a:noFill/>
          <a:ln/>
        </p:spPr>
        <p:txBody>
          <a:bodyPr wrap="square" rtlCol="0" anchor="ctr"/>
          <a:lstStyle/>
          <a:p>
            <a:pPr indent="0" marL="0">
              <a:buNone/>
            </a:pPr>
            <a:r>
              <a:rPr lang="en-US" sz="1600" i="1" dirty="0">
                <a:solidFill>
                  <a:srgbClr val="BFE3DA"/>
                </a:solidFill>
                <a:latin typeface="游ゴシック" pitchFamily="34" charset="0"/>
                <a:ea typeface="游ゴシック" pitchFamily="34" charset="-122"/>
                <a:cs typeface="游ゴシック" pitchFamily="34" charset="-120"/>
              </a:rPr>
              <a:t>6桁のコードだけで、家族と現場をつなぐ</a:t>
            </a:r>
            <a:endParaRPr lang="en-US" sz="1600" dirty="0"/>
          </a:p>
        </p:txBody>
      </p:sp>
      <p:sp>
        <p:nvSpPr>
          <p:cNvPr id="4" name="Shape 2"/>
          <p:cNvSpPr/>
          <p:nvPr/>
        </p:nvSpPr>
        <p:spPr>
          <a:xfrm>
            <a:off x="822960" y="2743200"/>
            <a:ext cx="3108960" cy="1554480"/>
          </a:xfrm>
          <a:prstGeom prst="roundRect">
            <a:avLst>
              <a:gd name="adj" fmla="val 8235"/>
            </a:avLst>
          </a:prstGeom>
          <a:solidFill>
            <a:srgbClr val="FFFFFF"/>
          </a:solidFill>
          <a:ln/>
          <a:effectLst>
            <a:outerShdw sx="100000" sy="100000" kx="0" ky="0" algn="bl" rotWithShape="0" blurRad="127000" dist="38100" dir="5400000">
              <a:srgbClr val="000000">
                <a:alpha val="18000"/>
              </a:srgbClr>
            </a:outerShdw>
          </a:effectLst>
        </p:spPr>
        <p:txBody>
          <a:bodyPr/>
          <a:p/>
        </p:txBody>
      </p:sp>
      <p:sp>
        <p:nvSpPr>
          <p:cNvPr id="5" name="Text 3"/>
          <p:cNvSpPr/>
          <p:nvPr/>
        </p:nvSpPr>
        <p:spPr>
          <a:xfrm>
            <a:off x="822960" y="2880360"/>
            <a:ext cx="3108960" cy="64008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6" name="Text 4"/>
          <p:cNvSpPr/>
          <p:nvPr/>
        </p:nvSpPr>
        <p:spPr>
          <a:xfrm>
            <a:off x="822960" y="3611880"/>
            <a:ext cx="3108960" cy="548640"/>
          </a:xfrm>
          <a:prstGeom prst="rect">
            <a:avLst/>
          </a:prstGeom>
          <a:noFill/>
          <a:ln/>
        </p:spPr>
        <p:txBody>
          <a:bodyPr wrap="square" lIns="0" tIns="0" rIns="0" bIns="0" rtlCol="0" anchor="ctr"/>
          <a:lstStyle/>
          <a:p>
            <a:pPr algn="ctr" indent="0" marL="0">
              <a:buNone/>
            </a:pPr>
            <a:r>
              <a:rPr lang="en-US" sz="1400" b="1" dirty="0">
                <a:solidFill>
                  <a:srgbClr val="1C2126"/>
                </a:solidFill>
                <a:latin typeface="游ゴシック" pitchFamily="34" charset="0"/>
                <a:ea typeface="游ゴシック" pitchFamily="34" charset="-122"/>
                <a:cs typeface="游ゴシック" pitchFamily="34" charset="-120"/>
              </a:rPr>
              <a:t>待機する家族・関係者</a:t>
            </a:r>
            <a:endParaRPr lang="en-US" sz="1400" dirty="0"/>
          </a:p>
        </p:txBody>
      </p:sp>
      <p:sp>
        <p:nvSpPr>
          <p:cNvPr id="7" name="Shape 5"/>
          <p:cNvSpPr/>
          <p:nvPr/>
        </p:nvSpPr>
        <p:spPr>
          <a:xfrm>
            <a:off x="4434840" y="2926080"/>
            <a:ext cx="3291840" cy="1188720"/>
          </a:xfrm>
          <a:prstGeom prst="roundRect">
            <a:avLst>
              <a:gd name="adj" fmla="val 46154"/>
            </a:avLst>
          </a:prstGeom>
          <a:solidFill>
            <a:srgbClr val="C98A1F"/>
          </a:solidFill>
          <a:ln/>
          <a:effectLst>
            <a:outerShdw sx="100000" sy="100000" kx="0" ky="0" algn="bl" rotWithShape="0" blurRad="127000" dist="38100" dir="5400000">
              <a:srgbClr val="000000">
                <a:alpha val="18000"/>
              </a:srgbClr>
            </a:outerShdw>
          </a:effectLst>
        </p:spPr>
        <p:txBody>
          <a:bodyPr/>
          <a:p/>
        </p:txBody>
      </p:sp>
      <p:sp>
        <p:nvSpPr>
          <p:cNvPr id="8" name="Text 6"/>
          <p:cNvSpPr/>
          <p:nvPr/>
        </p:nvSpPr>
        <p:spPr>
          <a:xfrm>
            <a:off x="4434840" y="2926080"/>
            <a:ext cx="3291840" cy="1188720"/>
          </a:xfrm>
          <a:prstGeom prst="rect">
            <a:avLst/>
          </a:prstGeom>
          <a:noFill/>
          <a:ln/>
        </p:spPr>
        <p:txBody>
          <a:bodyPr wrap="square" lIns="0" tIns="0" rIns="0" bIns="0" rtlCol="0" anchor="ctr"/>
          <a:lstStyle/>
          <a:p>
            <a:pPr algn="ctr" indent="0" marL="0">
              <a:lnSpc>
                <a:spcPct val="115000"/>
              </a:lnSpc>
              <a:buNone/>
            </a:pPr>
            <a:r>
              <a:rPr lang="en-US" sz="1300" b="1" dirty="0">
                <a:solidFill>
                  <a:srgbClr val="1C2126"/>
                </a:solidFill>
                <a:latin typeface="游ゴシック" pitchFamily="34" charset="0"/>
                <a:ea typeface="游ゴシック" pitchFamily="34" charset="-122"/>
                <a:cs typeface="游ゴシック" pitchFamily="34" charset="-120"/>
              </a:rPr>
              <a:t>現場ルーム</a:t>
            </a:r>
            <a:endParaRPr lang="en-US" sz="1300" dirty="0"/>
          </a:p>
          <a:p>
            <a:pPr algn="ctr" indent="0" marL="0">
              <a:lnSpc>
                <a:spcPct val="115000"/>
              </a:lnSpc>
              <a:buNone/>
            </a:pPr>
            <a:r>
              <a:rPr lang="en-US" sz="1300" b="1" dirty="0">
                <a:solidFill>
                  <a:srgbClr val="1C2126"/>
                </a:solidFill>
                <a:latin typeface="游ゴシック" pitchFamily="34" charset="0"/>
                <a:ea typeface="游ゴシック" pitchFamily="34" charset="-122"/>
                <a:cs typeface="游ゴシック" pitchFamily="34" charset="-120"/>
              </a:rPr>
              <a:t>6桁コード・ログイン不要</a:t>
            </a:r>
            <a:endParaRPr lang="en-US" sz="1300" dirty="0"/>
          </a:p>
        </p:txBody>
      </p:sp>
      <p:sp>
        <p:nvSpPr>
          <p:cNvPr id="9" name="Shape 7"/>
          <p:cNvSpPr/>
          <p:nvPr/>
        </p:nvSpPr>
        <p:spPr>
          <a:xfrm>
            <a:off x="8229600" y="2743200"/>
            <a:ext cx="3108960" cy="1554480"/>
          </a:xfrm>
          <a:prstGeom prst="roundRect">
            <a:avLst>
              <a:gd name="adj" fmla="val 8235"/>
            </a:avLst>
          </a:prstGeom>
          <a:solidFill>
            <a:srgbClr val="FFFFFF"/>
          </a:solidFill>
          <a:ln/>
          <a:effectLst>
            <a:outerShdw sx="100000" sy="100000" kx="0" ky="0" algn="bl" rotWithShape="0" blurRad="127000" dist="38100" dir="5400000">
              <a:srgbClr val="000000">
                <a:alpha val="18000"/>
              </a:srgbClr>
            </a:outerShdw>
          </a:effectLst>
        </p:spPr>
        <p:txBody>
          <a:bodyPr/>
          <a:p/>
        </p:txBody>
      </p:sp>
      <p:sp>
        <p:nvSpPr>
          <p:cNvPr id="10" name="Text 8"/>
          <p:cNvSpPr/>
          <p:nvPr/>
        </p:nvSpPr>
        <p:spPr>
          <a:xfrm>
            <a:off x="8229600" y="2880360"/>
            <a:ext cx="3108960" cy="64008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11" name="Text 9"/>
          <p:cNvSpPr/>
          <p:nvPr/>
        </p:nvSpPr>
        <p:spPr>
          <a:xfrm>
            <a:off x="8229600" y="3611880"/>
            <a:ext cx="3108960" cy="548640"/>
          </a:xfrm>
          <a:prstGeom prst="rect">
            <a:avLst/>
          </a:prstGeom>
          <a:noFill/>
          <a:ln/>
        </p:spPr>
        <p:txBody>
          <a:bodyPr wrap="square" lIns="0" tIns="0" rIns="0" bIns="0" rtlCol="0" anchor="ctr"/>
          <a:lstStyle/>
          <a:p>
            <a:pPr algn="ctr" indent="0" marL="0">
              <a:buNone/>
            </a:pPr>
            <a:r>
              <a:rPr lang="en-US" sz="1400" b="1" dirty="0">
                <a:solidFill>
                  <a:srgbClr val="1C2126"/>
                </a:solidFill>
                <a:latin typeface="游ゴシック" pitchFamily="34" charset="0"/>
                <a:ea typeface="游ゴシック" pitchFamily="34" charset="-122"/>
                <a:cs typeface="游ゴシック" pitchFamily="34" charset="-120"/>
              </a:rPr>
              <a:t>現場指揮・救助隊</a:t>
            </a:r>
            <a:endParaRPr lang="en-US" sz="1400" dirty="0"/>
          </a:p>
        </p:txBody>
      </p:sp>
      <p:sp>
        <p:nvSpPr>
          <p:cNvPr id="12" name="Text 10"/>
          <p:cNvSpPr/>
          <p:nvPr/>
        </p:nvSpPr>
        <p:spPr>
          <a:xfrm>
            <a:off x="3611880" y="3063240"/>
            <a:ext cx="960120" cy="914400"/>
          </a:xfrm>
          <a:prstGeom prst="rect">
            <a:avLst/>
          </a:prstGeom>
          <a:noFill/>
          <a:ln/>
        </p:spPr>
        <p:txBody>
          <a:bodyPr wrap="square" lIns="0" tIns="0" rIns="0" bIns="0" rtlCol="0" anchor="ctr"/>
          <a:lstStyle/>
          <a:p>
            <a:pPr algn="ctr" indent="0" marL="0">
              <a:buNone/>
            </a:pPr>
            <a:r>
              <a:rPr lang="en-US" sz="3400" b="1" dirty="0">
                <a:solidFill>
                  <a:srgbClr val="FFFFFF"/>
                </a:solidFill>
              </a:rPr>
              <a:t>→</a:t>
            </a:r>
            <a:endParaRPr lang="en-US" sz="3400" dirty="0"/>
          </a:p>
        </p:txBody>
      </p:sp>
      <p:sp>
        <p:nvSpPr>
          <p:cNvPr id="13" name="Text 11"/>
          <p:cNvSpPr/>
          <p:nvPr/>
        </p:nvSpPr>
        <p:spPr>
          <a:xfrm>
            <a:off x="7452360" y="3063240"/>
            <a:ext cx="960120" cy="914400"/>
          </a:xfrm>
          <a:prstGeom prst="rect">
            <a:avLst/>
          </a:prstGeom>
          <a:noFill/>
          <a:ln/>
        </p:spPr>
        <p:txBody>
          <a:bodyPr wrap="square" lIns="0" tIns="0" rIns="0" bIns="0" rtlCol="0" anchor="ctr"/>
          <a:lstStyle/>
          <a:p>
            <a:pPr algn="ctr" indent="0" marL="0">
              <a:buNone/>
            </a:pPr>
            <a:r>
              <a:rPr lang="en-US" sz="3400" b="1" dirty="0">
                <a:solidFill>
                  <a:srgbClr val="FFFFFF"/>
                </a:solidFill>
              </a:rPr>
              <a:t>→</a:t>
            </a:r>
            <a:endParaRPr lang="en-US" sz="3400" dirty="0"/>
          </a:p>
        </p:txBody>
      </p:sp>
      <p:sp>
        <p:nvSpPr>
          <p:cNvPr id="14" name="Text 12"/>
          <p:cNvSpPr/>
          <p:nvPr/>
        </p:nvSpPr>
        <p:spPr>
          <a:xfrm>
            <a:off x="822960" y="4846320"/>
            <a:ext cx="10515600" cy="548640"/>
          </a:xfrm>
          <a:prstGeom prst="rect">
            <a:avLst/>
          </a:prstGeom>
          <a:noFill/>
          <a:ln/>
        </p:spPr>
        <p:txBody>
          <a:bodyPr wrap="square" rtlCol="0" anchor="ctr"/>
          <a:lstStyle/>
          <a:p>
            <a:pPr indent="0" marL="0">
              <a:buNone/>
            </a:pPr>
            <a:r>
              <a:rPr lang="en-US" sz="1500" dirty="0">
                <a:solidFill>
                  <a:srgbClr val="FFFFFF"/>
                </a:solidFill>
                <a:latin typeface="游ゴシック" pitchFamily="34" charset="0"/>
                <a:ea typeface="游ゴシック" pitchFamily="34" charset="-122"/>
                <a:cs typeface="游ゴシック" pitchFamily="34" charset="-120"/>
              </a:rPr>
              <a:t>事前に整理された情報がそのまま届くため、聞き取りの手間がなくなり、捜索・救助のスピードが落ちない。</a:t>
            </a:r>
            <a:endParaRPr lang="en-US" sz="1500" dirty="0"/>
          </a:p>
        </p:txBody>
      </p:sp>
      <p:sp>
        <p:nvSpPr>
          <p:cNvPr id="15" name="Text 13"/>
          <p:cNvSpPr/>
          <p:nvPr/>
        </p:nvSpPr>
        <p:spPr>
          <a:xfrm>
            <a:off x="822960" y="5486400"/>
            <a:ext cx="10515600" cy="457200"/>
          </a:xfrm>
          <a:prstGeom prst="rect">
            <a:avLst/>
          </a:prstGeom>
          <a:noFill/>
          <a:ln/>
        </p:spPr>
        <p:txBody>
          <a:bodyPr wrap="square" rtlCol="0" anchor="ctr"/>
          <a:lstStyle/>
          <a:p>
            <a:pPr indent="0" marL="0">
              <a:buNone/>
            </a:pPr>
            <a:r>
              <a:rPr lang="en-US" sz="1200" dirty="0">
                <a:solidFill>
                  <a:srgbClr val="9FC7BC"/>
                </a:solidFill>
                <a:latin typeface="游ゴシック" pitchFamily="34" charset="0"/>
                <a:ea typeface="游ゴシック" pitchFamily="34" charset="-122"/>
                <a:cs typeface="游ゴシック" pitchFamily="34" charset="-120"/>
              </a:rPr>
              <a:t>対象データは東京都建設局河川部のオープンデータ（CC BY 4.0）を活用。Cloudflare Workers + D1で構築、完全無料で運用。</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5486400" cy="640080"/>
          </a:xfrm>
          <a:prstGeom prst="rect">
            <a:avLst/>
          </a:prstGeom>
          <a:noFill/>
          <a:ln/>
        </p:spPr>
        <p:txBody>
          <a:bodyPr wrap="square" rtlCol="0" anchor="ctr"/>
          <a:lstStyle/>
          <a:p>
            <a:pPr indent="0" marL="0">
              <a:buNone/>
            </a:pPr>
            <a:r>
              <a:rPr lang="en-US" sz="3400" b="1" dirty="0">
                <a:solidFill>
                  <a:srgbClr val="1F4E4A"/>
                </a:solidFill>
                <a:latin typeface="游ゴシック" pitchFamily="34" charset="0"/>
                <a:ea typeface="游ゴシック" pitchFamily="34" charset="-122"/>
                <a:cs typeface="游ゴシック" pitchFamily="34" charset="-120"/>
              </a:rPr>
              <a:t>プロダクト</a:t>
            </a:r>
            <a:endParaRPr lang="en-US" sz="3400" dirty="0"/>
          </a:p>
        </p:txBody>
      </p:sp>
      <p:sp>
        <p:nvSpPr>
          <p:cNvPr id="3" name="Text 1"/>
          <p:cNvSpPr/>
          <p:nvPr/>
        </p:nvSpPr>
        <p:spPr>
          <a:xfrm>
            <a:off x="822960" y="1143000"/>
            <a:ext cx="5486400" cy="457200"/>
          </a:xfrm>
          <a:prstGeom prst="rect">
            <a:avLst/>
          </a:prstGeom>
          <a:noFill/>
          <a:ln/>
        </p:spPr>
        <p:txBody>
          <a:bodyPr wrap="square" rtlCol="0" anchor="ctr"/>
          <a:lstStyle/>
          <a:p>
            <a:pPr indent="0" marL="0">
              <a:buNone/>
            </a:pPr>
            <a:r>
              <a:rPr lang="en-US" sz="1600" i="1" dirty="0">
                <a:solidFill>
                  <a:srgbClr val="4B545C"/>
                </a:solidFill>
                <a:latin typeface="游ゴシック" pitchFamily="34" charset="0"/>
                <a:ea typeface="游ゴシック" pitchFamily="34" charset="-122"/>
                <a:cs typeface="游ゴシック" pitchFamily="34" charset="-120"/>
              </a:rPr>
              <a:t>4つの核心機能</a:t>
            </a:r>
            <a:endParaRPr lang="en-US" sz="1600" dirty="0"/>
          </a:p>
        </p:txBody>
      </p:sp>
      <p:sp>
        <p:nvSpPr>
          <p:cNvPr id="4" name="Shape 2"/>
          <p:cNvSpPr/>
          <p:nvPr/>
        </p:nvSpPr>
        <p:spPr>
          <a:xfrm>
            <a:off x="822960" y="1828800"/>
            <a:ext cx="685800" cy="685800"/>
          </a:xfrm>
          <a:prstGeom prst="ellipse">
            <a:avLst/>
          </a:prstGeom>
          <a:solidFill>
            <a:srgbClr val="F4F5F3"/>
          </a:solidFill>
          <a:ln w="15875">
            <a:solidFill>
              <a:srgbClr val="1F4E4A"/>
            </a:solidFill>
            <a:prstDash val="solid"/>
          </a:ln>
        </p:spPr>
        <p:txBody>
          <a:bodyPr/>
          <a:p/>
        </p:txBody>
      </p:sp>
      <p:sp>
        <p:nvSpPr>
          <p:cNvPr id="5" name="Text 3"/>
          <p:cNvSpPr/>
          <p:nvPr/>
        </p:nvSpPr>
        <p:spPr>
          <a:xfrm>
            <a:off x="822960" y="1828800"/>
            <a:ext cx="685800" cy="6858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6" name="Text 4"/>
          <p:cNvSpPr/>
          <p:nvPr/>
        </p:nvSpPr>
        <p:spPr>
          <a:xfrm>
            <a:off x="1737360" y="1801368"/>
            <a:ext cx="4023360" cy="365760"/>
          </a:xfrm>
          <a:prstGeom prst="rect">
            <a:avLst/>
          </a:prstGeom>
          <a:noFill/>
          <a:ln/>
        </p:spPr>
        <p:txBody>
          <a:bodyPr wrap="square" lIns="0" tIns="0" rIns="0" bIns="0" rtlCol="0" anchor="ctr"/>
          <a:lstStyle/>
          <a:p>
            <a:pPr indent="0" marL="0">
              <a:buNone/>
            </a:pPr>
            <a:r>
              <a:rPr lang="en-US" sz="1500" b="1" dirty="0">
                <a:solidFill>
                  <a:srgbClr val="1C2126"/>
                </a:solidFill>
                <a:latin typeface="游ゴシック" pitchFamily="34" charset="0"/>
                <a:ea typeface="游ゴシック" pitchFamily="34" charset="-122"/>
                <a:cs typeface="游ゴシック" pitchFamily="34" charset="-120"/>
              </a:rPr>
              <a:t>危険エリアの可視化</a:t>
            </a:r>
            <a:endParaRPr lang="en-US" sz="1500" dirty="0"/>
          </a:p>
        </p:txBody>
      </p:sp>
      <p:sp>
        <p:nvSpPr>
          <p:cNvPr id="7" name="Text 5"/>
          <p:cNvSpPr/>
          <p:nvPr/>
        </p:nvSpPr>
        <p:spPr>
          <a:xfrm>
            <a:off x="1737360" y="2167128"/>
            <a:ext cx="4023360" cy="594360"/>
          </a:xfrm>
          <a:prstGeom prst="rect">
            <a:avLst/>
          </a:prstGeom>
          <a:noFill/>
          <a:ln/>
        </p:spPr>
        <p:txBody>
          <a:bodyPr wrap="square" lIns="0" tIns="0" rIns="0" bIns="0" rtlCol="0" anchor="ctr"/>
          <a:lstStyle/>
          <a:p>
            <a:pPr indent="0" marL="0">
              <a:lnSpc>
                <a:spcPct val="115000"/>
              </a:lnSpc>
              <a:buNone/>
            </a:pPr>
            <a:r>
              <a:rPr lang="en-US" sz="1100" dirty="0">
                <a:solidFill>
                  <a:srgbClr val="4B545C"/>
                </a:solidFill>
                <a:latin typeface="游ゴシック" pitchFamily="34" charset="0"/>
                <a:ea typeface="游ゴシック" pitchFamily="34" charset="-122"/>
                <a:cs typeface="游ゴシック" pitchFamily="34" charset="-120"/>
              </a:rPr>
              <a:t>東京都の土砂災害警戒区域データを地図上に色分け表示</a:t>
            </a:r>
            <a:endParaRPr lang="en-US" sz="1100" dirty="0"/>
          </a:p>
        </p:txBody>
      </p:sp>
      <p:sp>
        <p:nvSpPr>
          <p:cNvPr id="8" name="Shape 6"/>
          <p:cNvSpPr/>
          <p:nvPr/>
        </p:nvSpPr>
        <p:spPr>
          <a:xfrm>
            <a:off x="822960" y="2857500"/>
            <a:ext cx="685800" cy="685800"/>
          </a:xfrm>
          <a:prstGeom prst="ellipse">
            <a:avLst/>
          </a:prstGeom>
          <a:solidFill>
            <a:srgbClr val="F4F5F3"/>
          </a:solidFill>
          <a:ln w="15875">
            <a:solidFill>
              <a:srgbClr val="1F4E4A"/>
            </a:solidFill>
            <a:prstDash val="solid"/>
          </a:ln>
        </p:spPr>
        <p:txBody>
          <a:bodyPr/>
          <a:p/>
        </p:txBody>
      </p:sp>
      <p:sp>
        <p:nvSpPr>
          <p:cNvPr id="9" name="Text 7"/>
          <p:cNvSpPr/>
          <p:nvPr/>
        </p:nvSpPr>
        <p:spPr>
          <a:xfrm>
            <a:off x="822960" y="2857500"/>
            <a:ext cx="685800" cy="6858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0" name="Text 8"/>
          <p:cNvSpPr/>
          <p:nvPr/>
        </p:nvSpPr>
        <p:spPr>
          <a:xfrm>
            <a:off x="1737360" y="2830068"/>
            <a:ext cx="4023360" cy="365760"/>
          </a:xfrm>
          <a:prstGeom prst="rect">
            <a:avLst/>
          </a:prstGeom>
          <a:noFill/>
          <a:ln/>
        </p:spPr>
        <p:txBody>
          <a:bodyPr wrap="square" lIns="0" tIns="0" rIns="0" bIns="0" rtlCol="0" anchor="ctr"/>
          <a:lstStyle/>
          <a:p>
            <a:pPr indent="0" marL="0">
              <a:buNone/>
            </a:pPr>
            <a:r>
              <a:rPr lang="en-US" sz="1500" b="1" dirty="0">
                <a:solidFill>
                  <a:srgbClr val="1C2126"/>
                </a:solidFill>
                <a:latin typeface="游ゴシック" pitchFamily="34" charset="0"/>
                <a:ea typeface="游ゴシック" pitchFamily="34" charset="-122"/>
                <a:cs typeface="游ゴシック" pitchFamily="34" charset="-120"/>
              </a:rPr>
              <a:t>事前問診フォーム</a:t>
            </a:r>
            <a:endParaRPr lang="en-US" sz="1500" dirty="0"/>
          </a:p>
        </p:txBody>
      </p:sp>
      <p:sp>
        <p:nvSpPr>
          <p:cNvPr id="11" name="Text 9"/>
          <p:cNvSpPr/>
          <p:nvPr/>
        </p:nvSpPr>
        <p:spPr>
          <a:xfrm>
            <a:off x="1737360" y="3195828"/>
            <a:ext cx="4023360" cy="594360"/>
          </a:xfrm>
          <a:prstGeom prst="rect">
            <a:avLst/>
          </a:prstGeom>
          <a:noFill/>
          <a:ln/>
        </p:spPr>
        <p:txBody>
          <a:bodyPr wrap="square" lIns="0" tIns="0" rIns="0" bIns="0" rtlCol="0" anchor="ctr"/>
          <a:lstStyle/>
          <a:p>
            <a:pPr indent="0" marL="0">
              <a:lnSpc>
                <a:spcPct val="115000"/>
              </a:lnSpc>
              <a:buNone/>
            </a:pPr>
            <a:r>
              <a:rPr lang="en-US" sz="1100" dirty="0">
                <a:solidFill>
                  <a:srgbClr val="4B545C"/>
                </a:solidFill>
                <a:latin typeface="游ゴシック" pitchFamily="34" charset="0"/>
                <a:ea typeface="游ゴシック" pitchFamily="34" charset="-122"/>
                <a:cs typeface="游ゴシック" pitchFamily="34" charset="-120"/>
              </a:rPr>
              <a:t>行方不明者情報を家族が事前入力。音声ガイドで一問一答入力も可能</a:t>
            </a:r>
            <a:endParaRPr lang="en-US" sz="1100" dirty="0"/>
          </a:p>
        </p:txBody>
      </p:sp>
      <p:sp>
        <p:nvSpPr>
          <p:cNvPr id="12" name="Shape 10"/>
          <p:cNvSpPr/>
          <p:nvPr/>
        </p:nvSpPr>
        <p:spPr>
          <a:xfrm>
            <a:off x="822960" y="3886200"/>
            <a:ext cx="685800" cy="685800"/>
          </a:xfrm>
          <a:prstGeom prst="ellipse">
            <a:avLst/>
          </a:prstGeom>
          <a:solidFill>
            <a:srgbClr val="F4F5F3"/>
          </a:solidFill>
          <a:ln w="15875">
            <a:solidFill>
              <a:srgbClr val="1F4E4A"/>
            </a:solidFill>
            <a:prstDash val="solid"/>
          </a:ln>
        </p:spPr>
        <p:txBody>
          <a:bodyPr/>
          <a:p/>
        </p:txBody>
      </p:sp>
      <p:sp>
        <p:nvSpPr>
          <p:cNvPr id="13" name="Text 11"/>
          <p:cNvSpPr/>
          <p:nvPr/>
        </p:nvSpPr>
        <p:spPr>
          <a:xfrm>
            <a:off x="822960" y="3886200"/>
            <a:ext cx="685800" cy="6858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Text 12"/>
          <p:cNvSpPr/>
          <p:nvPr/>
        </p:nvSpPr>
        <p:spPr>
          <a:xfrm>
            <a:off x="1737360" y="3858768"/>
            <a:ext cx="4023360" cy="365760"/>
          </a:xfrm>
          <a:prstGeom prst="rect">
            <a:avLst/>
          </a:prstGeom>
          <a:noFill/>
          <a:ln/>
        </p:spPr>
        <p:txBody>
          <a:bodyPr wrap="square" lIns="0" tIns="0" rIns="0" bIns="0" rtlCol="0" anchor="ctr"/>
          <a:lstStyle/>
          <a:p>
            <a:pPr indent="0" marL="0">
              <a:buNone/>
            </a:pPr>
            <a:r>
              <a:rPr lang="en-US" sz="1500" b="1" dirty="0">
                <a:solidFill>
                  <a:srgbClr val="1C2126"/>
                </a:solidFill>
                <a:latin typeface="游ゴシック" pitchFamily="34" charset="0"/>
                <a:ea typeface="游ゴシック" pitchFamily="34" charset="-122"/>
                <a:cs typeface="游ゴシック" pitchFamily="34" charset="-120"/>
              </a:rPr>
              <a:t>間取り 手書き共有</a:t>
            </a:r>
            <a:endParaRPr lang="en-US" sz="1500" dirty="0"/>
          </a:p>
        </p:txBody>
      </p:sp>
      <p:sp>
        <p:nvSpPr>
          <p:cNvPr id="15" name="Text 13"/>
          <p:cNvSpPr/>
          <p:nvPr/>
        </p:nvSpPr>
        <p:spPr>
          <a:xfrm>
            <a:off x="1737360" y="4224528"/>
            <a:ext cx="4023360" cy="594360"/>
          </a:xfrm>
          <a:prstGeom prst="rect">
            <a:avLst/>
          </a:prstGeom>
          <a:noFill/>
          <a:ln/>
        </p:spPr>
        <p:txBody>
          <a:bodyPr wrap="square" lIns="0" tIns="0" rIns="0" bIns="0" rtlCol="0" anchor="ctr"/>
          <a:lstStyle/>
          <a:p>
            <a:pPr indent="0" marL="0">
              <a:lnSpc>
                <a:spcPct val="115000"/>
              </a:lnSpc>
              <a:buNone/>
            </a:pPr>
            <a:r>
              <a:rPr lang="en-US" sz="1100" dirty="0">
                <a:solidFill>
                  <a:srgbClr val="4B545C"/>
                </a:solidFill>
                <a:latin typeface="游ゴシック" pitchFamily="34" charset="0"/>
                <a:ea typeface="游ゴシック" pitchFamily="34" charset="-122"/>
                <a:cs typeface="游ゴシック" pitchFamily="34" charset="-120"/>
              </a:rPr>
              <a:t>救助隊員に聞かれる前に、簡易な間取り図を描いて先回りで共有</a:t>
            </a:r>
            <a:endParaRPr lang="en-US" sz="1100" dirty="0"/>
          </a:p>
        </p:txBody>
      </p:sp>
      <p:sp>
        <p:nvSpPr>
          <p:cNvPr id="16" name="Shape 14"/>
          <p:cNvSpPr/>
          <p:nvPr/>
        </p:nvSpPr>
        <p:spPr>
          <a:xfrm>
            <a:off x="822960" y="4914900"/>
            <a:ext cx="685800" cy="685800"/>
          </a:xfrm>
          <a:prstGeom prst="ellipse">
            <a:avLst/>
          </a:prstGeom>
          <a:solidFill>
            <a:srgbClr val="F4F5F3"/>
          </a:solidFill>
          <a:ln w="15875">
            <a:solidFill>
              <a:srgbClr val="1F4E4A"/>
            </a:solidFill>
            <a:prstDash val="solid"/>
          </a:ln>
        </p:spPr>
        <p:txBody>
          <a:bodyPr/>
          <a:p/>
        </p:txBody>
      </p:sp>
      <p:sp>
        <p:nvSpPr>
          <p:cNvPr id="17" name="Text 15"/>
          <p:cNvSpPr/>
          <p:nvPr/>
        </p:nvSpPr>
        <p:spPr>
          <a:xfrm>
            <a:off x="822960" y="4914900"/>
            <a:ext cx="685800" cy="6858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Text 16"/>
          <p:cNvSpPr/>
          <p:nvPr/>
        </p:nvSpPr>
        <p:spPr>
          <a:xfrm>
            <a:off x="1737360" y="4887468"/>
            <a:ext cx="4023360" cy="365760"/>
          </a:xfrm>
          <a:prstGeom prst="rect">
            <a:avLst/>
          </a:prstGeom>
          <a:noFill/>
          <a:ln/>
        </p:spPr>
        <p:txBody>
          <a:bodyPr wrap="square" lIns="0" tIns="0" rIns="0" bIns="0" rtlCol="0" anchor="ctr"/>
          <a:lstStyle/>
          <a:p>
            <a:pPr indent="0" marL="0">
              <a:buNone/>
            </a:pPr>
            <a:r>
              <a:rPr lang="en-US" sz="1500" b="1" dirty="0">
                <a:solidFill>
                  <a:srgbClr val="1C2126"/>
                </a:solidFill>
                <a:latin typeface="游ゴシック" pitchFamily="34" charset="0"/>
                <a:ea typeface="游ゴシック" pitchFamily="34" charset="-122"/>
                <a:cs typeface="游ゴシック" pitchFamily="34" charset="-120"/>
              </a:rPr>
              <a:t>前兆現象の共有</a:t>
            </a:r>
            <a:endParaRPr lang="en-US" sz="1500" dirty="0"/>
          </a:p>
        </p:txBody>
      </p:sp>
      <p:sp>
        <p:nvSpPr>
          <p:cNvPr id="19" name="Text 17"/>
          <p:cNvSpPr/>
          <p:nvPr/>
        </p:nvSpPr>
        <p:spPr>
          <a:xfrm>
            <a:off x="1737360" y="5253228"/>
            <a:ext cx="4023360" cy="594360"/>
          </a:xfrm>
          <a:prstGeom prst="rect">
            <a:avLst/>
          </a:prstGeom>
          <a:noFill/>
          <a:ln/>
        </p:spPr>
        <p:txBody>
          <a:bodyPr wrap="square" lIns="0" tIns="0" rIns="0" bIns="0" rtlCol="0" anchor="ctr"/>
          <a:lstStyle/>
          <a:p>
            <a:pPr indent="0" marL="0">
              <a:lnSpc>
                <a:spcPct val="115000"/>
              </a:lnSpc>
              <a:buNone/>
            </a:pPr>
            <a:r>
              <a:rPr lang="en-US" sz="1100" dirty="0">
                <a:solidFill>
                  <a:srgbClr val="4B545C"/>
                </a:solidFill>
                <a:latin typeface="游ゴシック" pitchFamily="34" charset="0"/>
                <a:ea typeface="游ゴシック" pitchFamily="34" charset="-122"/>
                <a:cs typeface="游ゴシック" pitchFamily="34" charset="-120"/>
              </a:rPr>
              <a:t>公式チェックリストに基づく目撃情報をワンタップで共有</a:t>
            </a:r>
            <a:endParaRPr lang="en-US" sz="1100" dirty="0"/>
          </a:p>
        </p:txBody>
      </p:sp>
      <p:sp>
        <p:nvSpPr>
          <p:cNvPr id="20" name="Shape 18"/>
          <p:cNvSpPr/>
          <p:nvPr/>
        </p:nvSpPr>
        <p:spPr>
          <a:xfrm>
            <a:off x="6263640" y="1828800"/>
            <a:ext cx="5820000" cy="4240000"/>
          </a:xfrm>
          <a:prstGeom prst="roundRect">
            <a:avLst>
              <a:gd name="adj" fmla="val 1616"/>
            </a:avLst>
          </a:prstGeom>
          <a:solidFill>
            <a:srgbClr val="F4F5F3"/>
          </a:solidFill>
          <a:ln w="12700">
            <a:solidFill>
              <a:srgbClr val="DCDFDC"/>
            </a:solidFill>
            <a:prstDash val="solid"/>
          </a:ln>
          <a:effectLst>
            <a:outerShdw sx="100000" sy="100000" kx="0" ky="0" algn="bl" rotWithShape="0" blurRad="127000" dist="38100" dir="5400000">
              <a:srgbClr val="000000">
                <a:alpha val="18000"/>
              </a:srgbClr>
            </a:outerShdw>
          </a:effectLst>
        </p:spPr>
        <p:txBody>
          <a:bodyPr/>
          <a:p/>
        </p:txBody>
      </p:sp>
      <p:pic>
        <p:nvPicPr>
          <p:cNvPr id="21" name="Image 0" descr="/home/user/Kizashi/kizashi-app/submission/screenshot_02_floorplan.png">    </p:cNvPr>
          <p:cNvPicPr>
            <a:picLocks noChangeAspect="1"/>
          </p:cNvPicPr>
          <p:nvPr/>
        </p:nvPicPr>
        <p:blipFill>
          <a:blip r:embed="rId1"/>
          <a:stretch>
            <a:fillRect/>
          </a:stretch>
        </p:blipFill>
        <p:spPr>
          <a:xfrm>
            <a:off x="6293640" y="1858800"/>
            <a:ext cx="5760000" cy="3240000"/>
          </a:xfrm>
          <a:prstGeom prst="rect">
            <a:avLst/>
          </a:prstGeom>
        </p:spPr>
      </p:pic>
      <p:sp>
        <p:nvSpPr>
          <p:cNvPr id="22" name="Text 19"/>
          <p:cNvSpPr/>
          <p:nvPr/>
        </p:nvSpPr>
        <p:spPr>
          <a:xfrm>
            <a:off x="6293640" y="5138800"/>
            <a:ext cx="5760000" cy="280000"/>
          </a:xfrm>
          <a:prstGeom prst="rect">
            <a:avLst/>
          </a:prstGeom>
          <a:noFill/>
          <a:ln/>
        </p:spPr>
        <p:txBody>
          <a:bodyPr wrap="square" rtlCol="0" anchor="ctr"/>
          <a:lstStyle/>
          <a:p>
            <a:pPr indent="0" marL="0">
              <a:buNone/>
            </a:pPr>
            <a:r>
              <a:rPr lang="en-US" sz="1100" i="1" dirty="0">
                <a:solidFill>
                  <a:srgbClr val="4B545C"/>
                </a:solidFill>
                <a:latin typeface="游ゴシック" pitchFamily="34" charset="0"/>
                <a:ea typeface="游ゴシック" pitchFamily="34" charset="-122"/>
                <a:cs typeface="游ゴシック" pitchFamily="34" charset="-120"/>
              </a:rPr>
              <a:t>画面例：家の間取り 手書き共有</a:t>
            </a:r>
            <a:endParaRPr lang="en-US" sz="1100" dirty="0"/>
          </a:p>
        </p:txBody>
      </p:sp>
      <p:sp>
        <p:nvSpPr>
          <p:cNvPr id="23" name="Text 20"/>
          <p:cNvSpPr/>
          <p:nvPr/>
        </p:nvSpPr>
        <p:spPr>
          <a:xfrm>
            <a:off x="6293640" y="5438800"/>
            <a:ext cx="5760000" cy="600000"/>
          </a:xfrm>
          <a:prstGeom prst="rect">
            <a:avLst/>
          </a:prstGeom>
          <a:noFill/>
          <a:ln/>
        </p:spPr>
        <p:txBody>
          <a:bodyPr wrap="square" rtlCol="0" anchor="ctr"/>
          <a:lstStyle/>
          <a:p>
            <a:pPr indent="0" marL="0">
              <a:lnSpc>
                <a:spcPct val="130000"/>
              </a:lnSpc>
              <a:buNone/>
            </a:pPr>
            <a:r>
              <a:rPr lang="en-US" sz="1250" dirty="0">
                <a:solidFill>
                  <a:srgbClr val="1C2126"/>
                </a:solidFill>
                <a:latin typeface="游ゴシック" pitchFamily="34" charset="0"/>
                <a:ea typeface="游ゴシック" pitchFamily="34" charset="-122"/>
                <a:cs typeface="游ゴシック" pitchFamily="34" charset="-120"/>
              </a:rPr>
              <a:t>手が震えて文字入力が難しい状況でも、なぞって描くだけで伝えられる。</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5486400" cy="640080"/>
          </a:xfrm>
          <a:prstGeom prst="rect">
            <a:avLst/>
          </a:prstGeom>
          <a:noFill/>
          <a:ln/>
        </p:spPr>
        <p:txBody>
          <a:bodyPr wrap="square" rtlCol="0" anchor="ctr"/>
          <a:lstStyle/>
          <a:p>
            <a:pPr indent="0" marL="0">
              <a:buNone/>
            </a:pPr>
            <a:r>
              <a:rPr lang="en-US" sz="3400" b="1" dirty="0">
                <a:solidFill>
                  <a:srgbClr val="1F4E4A"/>
                </a:solidFill>
                <a:latin typeface="游ゴシック" pitchFamily="34" charset="0"/>
                <a:ea typeface="游ゴシック" pitchFamily="34" charset="-122"/>
                <a:cs typeface="游ゴシック" pitchFamily="34" charset="-120"/>
              </a:rPr>
              <a:t>プロダクト</a:t>
            </a:r>
            <a:endParaRPr lang="en-US" sz="3400" dirty="0"/>
          </a:p>
        </p:txBody>
      </p:sp>
      <p:sp>
        <p:nvSpPr>
          <p:cNvPr id="3" name="Text 1"/>
          <p:cNvSpPr/>
          <p:nvPr/>
        </p:nvSpPr>
        <p:spPr>
          <a:xfrm>
            <a:off x="822960" y="1143000"/>
            <a:ext cx="9144000" cy="457200"/>
          </a:xfrm>
          <a:prstGeom prst="rect">
            <a:avLst/>
          </a:prstGeom>
          <a:noFill/>
          <a:ln/>
        </p:spPr>
        <p:txBody>
          <a:bodyPr wrap="square" rtlCol="0" anchor="ctr"/>
          <a:lstStyle/>
          <a:p>
            <a:pPr indent="0" marL="0">
              <a:buNone/>
            </a:pPr>
            <a:r>
              <a:rPr lang="en-US" sz="1600" i="1" dirty="0">
                <a:solidFill>
                  <a:srgbClr val="4B545C"/>
                </a:solidFill>
                <a:latin typeface="游ゴシック" pitchFamily="34" charset="0"/>
                <a:ea typeface="游ゴシック" pitchFamily="34" charset="-122"/>
                <a:cs typeface="游ゴシック" pitchFamily="34" charset="-120"/>
              </a:rPr>
              <a:t>危機感を伝えるUXと、そっと寄り添うAI</a:t>
            </a:r>
            <a:endParaRPr lang="en-US" sz="1600" dirty="0"/>
          </a:p>
        </p:txBody>
      </p:sp>
      <p:sp>
        <p:nvSpPr>
          <p:cNvPr id="4" name="Shape 2"/>
          <p:cNvSpPr/>
          <p:nvPr/>
        </p:nvSpPr>
        <p:spPr>
          <a:xfrm>
            <a:off x="400000" y="1874520"/>
            <a:ext cx="5596000" cy="4114000"/>
          </a:xfrm>
          <a:prstGeom prst="roundRect">
            <a:avLst>
              <a:gd name="adj" fmla="val 1758"/>
            </a:avLst>
          </a:prstGeom>
          <a:solidFill>
            <a:srgbClr val="F4F5F3"/>
          </a:solidFill>
          <a:ln w="12700">
            <a:solidFill>
              <a:srgbClr val="DCDFDC"/>
            </a:solidFill>
            <a:prstDash val="solid"/>
          </a:ln>
          <a:effectLst>
            <a:outerShdw sx="100000" sy="100000" kx="0" ky="0" algn="bl" rotWithShape="0" blurRad="127000" dist="38100" dir="5400000">
              <a:srgbClr val="000000">
                <a:alpha val="18000"/>
              </a:srgbClr>
            </a:outerShdw>
          </a:effectLst>
        </p:spPr>
        <p:txBody>
          <a:bodyPr/>
          <a:p/>
        </p:txBody>
      </p:sp>
      <p:pic>
        <p:nvPicPr>
          <p:cNvPr id="5" name="Image 0" descr="/home/user/Kizashi/kizashi-app/submission/screenshot_03_precursor.png">    </p:cNvPr>
          <p:cNvPicPr>
            <a:picLocks noChangeAspect="1"/>
          </p:cNvPicPr>
          <p:nvPr/>
        </p:nvPicPr>
        <p:blipFill>
          <a:blip r:embed="rId1"/>
          <a:stretch>
            <a:fillRect/>
          </a:stretch>
        </p:blipFill>
        <p:spPr>
          <a:xfrm>
            <a:off x="430000" y="1904520"/>
            <a:ext cx="5536000" cy="3114000"/>
          </a:xfrm>
          <a:prstGeom prst="rect">
            <a:avLst/>
          </a:prstGeom>
        </p:spPr>
      </p:pic>
      <p:sp>
        <p:nvSpPr>
          <p:cNvPr id="6" name="Text 3"/>
          <p:cNvSpPr/>
          <p:nvPr/>
        </p:nvSpPr>
        <p:spPr>
          <a:xfrm>
            <a:off x="430000" y="5058520"/>
            <a:ext cx="5536000" cy="280000"/>
          </a:xfrm>
          <a:prstGeom prst="rect">
            <a:avLst/>
          </a:prstGeom>
          <a:noFill/>
          <a:ln/>
        </p:spPr>
        <p:txBody>
          <a:bodyPr wrap="square" rtlCol="0" anchor="ctr"/>
          <a:lstStyle/>
          <a:p>
            <a:pPr indent="0" marL="0">
              <a:buNone/>
            </a:pPr>
            <a:r>
              <a:rPr lang="en-US" sz="1150" b="1" dirty="0">
                <a:solidFill>
                  <a:srgbClr val="B3352A"/>
                </a:solidFill>
                <a:latin typeface="游ゴシック" pitchFamily="34" charset="0"/>
                <a:ea typeface="游ゴシック" pitchFamily="34" charset="-122"/>
                <a:cs typeface="游ゴシック" pitchFamily="34" charset="-120"/>
              </a:rPr>
              <a:t>「〇〇さんの近くで報告：山鳴り・地鳴り」</a:t>
            </a:r>
            <a:endParaRPr lang="en-US" sz="1150" dirty="0"/>
          </a:p>
        </p:txBody>
      </p:sp>
      <p:sp>
        <p:nvSpPr>
          <p:cNvPr id="7" name="Text 4"/>
          <p:cNvSpPr/>
          <p:nvPr/>
        </p:nvSpPr>
        <p:spPr>
          <a:xfrm>
            <a:off x="430000" y="5358520"/>
            <a:ext cx="5536000" cy="600000"/>
          </a:xfrm>
          <a:prstGeom prst="rect">
            <a:avLst/>
          </a:prstGeom>
          <a:noFill/>
          <a:ln/>
        </p:spPr>
        <p:txBody>
          <a:bodyPr wrap="square" rtlCol="0" anchor="ctr"/>
          <a:lstStyle/>
          <a:p>
            <a:pPr indent="0" marL="0">
              <a:lnSpc>
                <a:spcPct val="125000"/>
              </a:lnSpc>
              <a:buNone/>
            </a:pPr>
            <a:r>
              <a:rPr lang="en-US" sz="1200" dirty="0">
                <a:solidFill>
                  <a:srgbClr val="4B545C"/>
                </a:solidFill>
                <a:latin typeface="游ゴシック" pitchFamily="34" charset="0"/>
                <a:ea typeface="游ゴシック" pitchFamily="34" charset="-122"/>
                <a:cs typeface="游ゴシック" pitchFamily="34" charset="-120"/>
              </a:rPr>
              <a:t>正常性バイアス対策として、具体的な人・場所を名指しする呼びかけ形式で通知。</a:t>
            </a:r>
            <a:endParaRPr lang="en-US" sz="1200" dirty="0"/>
          </a:p>
        </p:txBody>
      </p:sp>
      <p:sp>
        <p:nvSpPr>
          <p:cNvPr id="8" name="Shape 5"/>
          <p:cNvSpPr/>
          <p:nvPr/>
        </p:nvSpPr>
        <p:spPr>
          <a:xfrm>
            <a:off x="6196000" y="1874520"/>
            <a:ext cx="5596000" cy="4114000"/>
          </a:xfrm>
          <a:prstGeom prst="roundRect">
            <a:avLst>
              <a:gd name="adj" fmla="val 1758"/>
            </a:avLst>
          </a:prstGeom>
          <a:solidFill>
            <a:srgbClr val="F4F5F3"/>
          </a:solidFill>
          <a:ln w="12700">
            <a:solidFill>
              <a:srgbClr val="DCDFDC"/>
            </a:solidFill>
            <a:prstDash val="solid"/>
          </a:ln>
          <a:effectLst>
            <a:outerShdw sx="100000" sy="100000" kx="0" ky="0" algn="bl" rotWithShape="0" blurRad="127000" dist="38100" dir="5400000">
              <a:srgbClr val="000000">
                <a:alpha val="18000"/>
              </a:srgbClr>
            </a:outerShdw>
          </a:effectLst>
        </p:spPr>
        <p:txBody>
          <a:bodyPr/>
          <a:p/>
        </p:txBody>
      </p:sp>
      <p:pic>
        <p:nvPicPr>
          <p:cNvPr id="9" name="Image 1" descr="/home/user/Kizashi/kizashi-app/submission/screenshot_04_chat_optional.png">    </p:cNvPr>
          <p:cNvPicPr>
            <a:picLocks noChangeAspect="1"/>
          </p:cNvPicPr>
          <p:nvPr/>
        </p:nvPicPr>
        <p:blipFill>
          <a:blip r:embed="rId2"/>
          <a:stretch>
            <a:fillRect/>
          </a:stretch>
        </p:blipFill>
        <p:spPr>
          <a:xfrm>
            <a:off x="6226000" y="1904520"/>
            <a:ext cx="5536000" cy="3114000"/>
          </a:xfrm>
          <a:prstGeom prst="rect">
            <a:avLst/>
          </a:prstGeom>
        </p:spPr>
      </p:pic>
      <p:sp>
        <p:nvSpPr>
          <p:cNvPr id="10" name="Text 6"/>
          <p:cNvSpPr/>
          <p:nvPr/>
        </p:nvSpPr>
        <p:spPr>
          <a:xfrm>
            <a:off x="6226000" y="5058520"/>
            <a:ext cx="5536000" cy="280000"/>
          </a:xfrm>
          <a:prstGeom prst="rect">
            <a:avLst/>
          </a:prstGeom>
          <a:noFill/>
          <a:ln/>
        </p:spPr>
        <p:txBody>
          <a:bodyPr wrap="square" rtlCol="0" anchor="ctr"/>
          <a:lstStyle/>
          <a:p>
            <a:pPr indent="0" marL="0">
              <a:buNone/>
            </a:pPr>
            <a:r>
              <a:rPr lang="en-US" sz="1150" b="1" dirty="0">
                <a:solidFill>
                  <a:srgbClr val="1F4E4A"/>
                </a:solidFill>
                <a:latin typeface="游ゴシック" pitchFamily="34" charset="0"/>
                <a:ea typeface="游ゴシック" pitchFamily="34" charset="-122"/>
                <a:cs typeface="游ゴシック" pitchFamily="34" charset="-120"/>
              </a:rPr>
              <a:t>💬 AI相談（傾聴AIチャット）</a:t>
            </a:r>
            <a:endParaRPr lang="en-US" sz="1150" dirty="0"/>
          </a:p>
        </p:txBody>
      </p:sp>
      <p:sp>
        <p:nvSpPr>
          <p:cNvPr id="11" name="Text 7"/>
          <p:cNvSpPr/>
          <p:nvPr/>
        </p:nvSpPr>
        <p:spPr>
          <a:xfrm>
            <a:off x="6226000" y="5358520"/>
            <a:ext cx="5536000" cy="600000"/>
          </a:xfrm>
          <a:prstGeom prst="rect">
            <a:avLst/>
          </a:prstGeom>
          <a:noFill/>
          <a:ln/>
        </p:spPr>
        <p:txBody>
          <a:bodyPr wrap="square" rtlCol="0" anchor="ctr"/>
          <a:lstStyle/>
          <a:p>
            <a:pPr indent="0" marL="0">
              <a:lnSpc>
                <a:spcPct val="125000"/>
              </a:lnSpc>
              <a:buNone/>
            </a:pPr>
            <a:r>
              <a:rPr lang="en-US" sz="1200" dirty="0">
                <a:solidFill>
                  <a:srgbClr val="4B545C"/>
                </a:solidFill>
                <a:latin typeface="游ゴシック" pitchFamily="34" charset="0"/>
                <a:ea typeface="游ゴシック" pitchFamily="34" charset="-122"/>
                <a:cs typeface="游ゴシック" pitchFamily="34" charset="-120"/>
              </a:rPr>
              <a:t>専門家のいない現場で、不安な気持ちに寄り添うAI。助言・予測は一切せず、深刻な兆候は専門窓口へ橋渡しする安全設計。</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3936"/>
        </a:solidFill>
      </p:bgPr>
    </p:bg>
    <p:spTree>
      <p:nvGrpSpPr>
        <p:cNvPr id="1" name=""/>
        <p:cNvGrpSpPr/>
        <p:nvPr/>
      </p:nvGrpSpPr>
      <p:grpSpPr>
        <a:xfrm>
          <a:off x="0" y="0"/>
          <a:ext cx="0" cy="0"/>
          <a:chOff x="0" y="0"/>
          <a:chExt cx="0" cy="0"/>
        </a:xfrm>
      </p:grpSpPr>
      <p:sp>
        <p:nvSpPr>
          <p:cNvPr id="2" name="Text 0"/>
          <p:cNvSpPr/>
          <p:nvPr/>
        </p:nvSpPr>
        <p:spPr>
          <a:xfrm>
            <a:off x="822960" y="457200"/>
            <a:ext cx="5486400" cy="640080"/>
          </a:xfrm>
          <a:prstGeom prst="rect">
            <a:avLst/>
          </a:prstGeom>
          <a:noFill/>
          <a:ln/>
        </p:spPr>
        <p:txBody>
          <a:bodyPr wrap="square" rtlCol="0" anchor="ctr"/>
          <a:lstStyle/>
          <a:p>
            <a:pPr indent="0" marL="0">
              <a:buNone/>
            </a:pPr>
            <a:r>
              <a:rPr lang="en-US" sz="3400" b="1" dirty="0">
                <a:solidFill>
                  <a:srgbClr val="FFFFFF"/>
                </a:solidFill>
                <a:latin typeface="游ゴシック" pitchFamily="34" charset="0"/>
                <a:ea typeface="游ゴシック" pitchFamily="34" charset="-122"/>
                <a:cs typeface="游ゴシック" pitchFamily="34" charset="-120"/>
              </a:rPr>
              <a:t>デモ</a:t>
            </a:r>
            <a:endParaRPr lang="en-US" sz="3400" dirty="0"/>
          </a:p>
        </p:txBody>
      </p:sp>
      <p:sp>
        <p:nvSpPr>
          <p:cNvPr id="3" name="Text 1"/>
          <p:cNvSpPr/>
          <p:nvPr/>
        </p:nvSpPr>
        <p:spPr>
          <a:xfrm>
            <a:off x="822960" y="1097280"/>
            <a:ext cx="7315200" cy="457200"/>
          </a:xfrm>
          <a:prstGeom prst="rect">
            <a:avLst/>
          </a:prstGeom>
          <a:noFill/>
          <a:ln/>
        </p:spPr>
        <p:txBody>
          <a:bodyPr wrap="square" rtlCol="0" anchor="ctr"/>
          <a:lstStyle/>
          <a:p>
            <a:pPr indent="0" marL="0">
              <a:buNone/>
            </a:pPr>
            <a:r>
              <a:rPr lang="en-US" sz="1600" i="1" dirty="0">
                <a:solidFill>
                  <a:srgbClr val="9FC7BC"/>
                </a:solidFill>
                <a:latin typeface="游ゴシック" pitchFamily="34" charset="0"/>
                <a:ea typeface="游ゴシック" pitchFamily="34" charset="-122"/>
                <a:cs typeface="游ゴシック" pitchFamily="34" charset="-120"/>
              </a:rPr>
              <a:t>実際の画面操作</a:t>
            </a:r>
            <a:endParaRPr lang="en-US" sz="1600" dirty="0"/>
          </a:p>
        </p:txBody>
      </p:sp>
      <p:sp>
        <p:nvSpPr>
          <p:cNvPr id="5" name="Text 2"/>
          <p:cNvSpPr/>
          <p:nvPr/>
        </p:nvSpPr>
        <p:spPr>
          <a:xfrm>
            <a:off x="2093976" y="6355080"/>
            <a:ext cx="8001000" cy="365760"/>
          </a:xfrm>
          <a:prstGeom prst="rect">
            <a:avLst/>
          </a:prstGeom>
          <a:noFill/>
          <a:ln/>
        </p:spPr>
        <p:txBody>
          <a:bodyPr wrap="square" rtlCol="0" anchor="ctr"/>
          <a:lstStyle/>
          <a:p>
            <a:pPr algn="ctr" indent="0" marL="0">
              <a:buNone/>
            </a:pPr>
            <a:r>
              <a:rPr lang="en-US" sz="1100" dirty="0">
                <a:solidFill>
                  <a:srgbClr val="9FC7BC"/>
                </a:solidFill>
                <a:latin typeface="游ゴシック" pitchFamily="34" charset="0"/>
                <a:ea typeface="游ゴシック" pitchFamily="34" charset="-122"/>
                <a:cs typeface="游ゴシック" pitchFamily="34" charset="-120"/>
              </a:rPr>
              <a:t>▶ クリックで再生（無音・約17秒）</a:t>
            </a:r>
            <a:endParaRPr lang="en-US" sz="1100" dirty="0"/>
          </a:p>
        </p:txBody>
      </p:sp>
      <p:pic>
        <p:nvPicPr>
          <p:cNvPr id="6" name="demo_video.mp4">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1"/>
          <a:stretch>
            <a:fillRect/>
          </a:stretch>
        </p:blipFill>
        <p:spPr>
          <a:xfrm>
            <a:off x="2096000" y="1700000"/>
            <a:ext cx="8000000" cy="4500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7315200" cy="640080"/>
          </a:xfrm>
          <a:prstGeom prst="rect">
            <a:avLst/>
          </a:prstGeom>
          <a:noFill/>
          <a:ln/>
        </p:spPr>
        <p:txBody>
          <a:bodyPr wrap="square" rtlCol="0" anchor="ctr"/>
          <a:lstStyle/>
          <a:p>
            <a:pPr indent="0" marL="0">
              <a:buNone/>
            </a:pPr>
            <a:r>
              <a:rPr lang="en-US" sz="3400" b="1" dirty="0">
                <a:solidFill>
                  <a:srgbClr val="1F4E4A"/>
                </a:solidFill>
                <a:latin typeface="游ゴシック" pitchFamily="34" charset="0"/>
                <a:ea typeface="游ゴシック" pitchFamily="34" charset="-122"/>
                <a:cs typeface="游ゴシック" pitchFamily="34" charset="-120"/>
              </a:rPr>
              <a:t>利用オープンデータ</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22960" y="1371600"/>
          <a:ext cx="10515600" cy="4754880"/>
        </p:xfrm>
        <a:graphic>
          <a:graphicData uri="http://schemas.openxmlformats.org/drawingml/2006/table">
            <a:tbl>
              <a:tblPr/>
              <a:tblGrid>
                <a:gridCol w="6583680"/>
                <a:gridCol w="3931920"/>
              </a:tblGrid>
              <a:tr h="679269">
                <a:tc>
                  <a:txBody>
                    <a:bodyPr/>
                    <a:lstStyle/>
                    <a:p>
                      <a:pPr indent="0" marL="0">
                        <a:buNone/>
                      </a:pPr>
                      <a:r>
                        <a:rPr lang="en-US" sz="1300" b="1" dirty="0">
                          <a:solidFill>
                            <a:srgbClr val="FFFFFF"/>
                          </a:solidFill>
                          <a:latin typeface="游ゴシック" pitchFamily="34" charset="0"/>
                          <a:ea typeface="游ゴシック" pitchFamily="34" charset="-122"/>
                          <a:cs typeface="游ゴシック" pitchFamily="34" charset="-120"/>
                        </a:rPr>
                        <a:t>データ名</a:t>
                      </a:r>
                      <a:endParaRPr lang="en-US" sz="1300" dirty="0">
                        <a:latin typeface="游ゴシック" charset="0"/>
                        <a:ea typeface="游ゴシック" charset="0"/>
                        <a:cs typeface="游ゴシック"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1F4E4A"/>
                    </a:solidFill>
                  </a:tcPr>
                </a:tc>
                <a:tc>
                  <a:txBody>
                    <a:bodyPr/>
                    <a:lstStyle/>
                    <a:p>
                      <a:pPr indent="0" marL="0">
                        <a:buNone/>
                      </a:pPr>
                      <a:r>
                        <a:rPr lang="en-US" sz="1300" b="1" dirty="0">
                          <a:solidFill>
                            <a:srgbClr val="FFFFFF"/>
                          </a:solidFill>
                          <a:latin typeface="游ゴシック" pitchFamily="34" charset="0"/>
                          <a:ea typeface="游ゴシック" pitchFamily="34" charset="-122"/>
                          <a:cs typeface="游ゴシック" pitchFamily="34" charset="-120"/>
                        </a:rPr>
                        <a:t>用途</a:t>
                      </a:r>
                      <a:endParaRPr lang="en-US" sz="1300" dirty="0">
                        <a:latin typeface="游ゴシック" charset="0"/>
                        <a:ea typeface="游ゴシック" charset="0"/>
                        <a:cs typeface="游ゴシック"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1F4E4A"/>
                    </a:solidFill>
                  </a:tcPr>
                </a:tc>
              </a:tr>
              <a:tr h="679269">
                <a:tc>
                  <a:txBody>
                    <a:bodyPr/>
                    <a:lstStyle/>
                    <a:p>
                      <a:pPr indent="0" marL="0">
                        <a:buNone/>
                      </a:pPr>
                      <a:r>
                        <a:rPr lang="en-US" sz="1300" dirty="0">
                          <a:solidFill>
                            <a:srgbClr val="1C2126"/>
                          </a:solidFill>
                          <a:latin typeface="游ゴシック" pitchFamily="34" charset="0"/>
                          <a:ea typeface="游ゴシック" pitchFamily="34" charset="-122"/>
                          <a:cs typeface="游ゴシック" pitchFamily="34" charset="-120"/>
                        </a:rPr>
                        <a:t>東京都建設局河川部「東京都土砂災害危険度情報関連データ」（CC BY 4.0）</a:t>
                      </a:r>
                      <a:endParaRPr lang="en-US" sz="1300" dirty="0">
                        <a:latin typeface="游ゴシック" charset="0"/>
                        <a:ea typeface="游ゴシック" charset="0"/>
                        <a:cs typeface="游ゴシック"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4F5F3"/>
                    </a:solidFill>
                  </a:tcPr>
                </a:tc>
                <a:tc>
                  <a:txBody>
                    <a:bodyPr/>
                    <a:lstStyle/>
                    <a:p>
                      <a:pPr indent="0" marL="0">
                        <a:buNone/>
                      </a:pPr>
                      <a:r>
                        <a:rPr lang="en-US" sz="1300" dirty="0">
                          <a:solidFill>
                            <a:srgbClr val="4B545C"/>
                          </a:solidFill>
                          <a:latin typeface="游ゴシック" pitchFamily="34" charset="0"/>
                          <a:ea typeface="游ゴシック" pitchFamily="34" charset="-122"/>
                          <a:cs typeface="游ゴシック" pitchFamily="34" charset="-120"/>
                        </a:rPr>
                        <a:t>危険エリアの地図表示（区域データ本体を使用）</a:t>
                      </a:r>
                      <a:endParaRPr lang="en-US" sz="1300" dirty="0">
                        <a:latin typeface="游ゴシック" charset="0"/>
                        <a:ea typeface="游ゴシック" charset="0"/>
                        <a:cs typeface="游ゴシック"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4F5F3"/>
                    </a:solidFill>
                  </a:tcPr>
                </a:tc>
              </a:tr>
              <a:tr h="679269">
                <a:tc>
                  <a:txBody>
                    <a:bodyPr/>
                    <a:lstStyle/>
                    <a:p>
                      <a:pPr indent="0" marL="0">
                        <a:buNone/>
                      </a:pPr>
                      <a:r>
                        <a:rPr lang="en-US" sz="1300" dirty="0">
                          <a:solidFill>
                            <a:srgbClr val="1C2126"/>
                          </a:solidFill>
                          <a:latin typeface="游ゴシック" pitchFamily="34" charset="0"/>
                          <a:ea typeface="游ゴシック" pitchFamily="34" charset="-122"/>
                          <a:cs typeface="游ゴシック" pitchFamily="34" charset="-120"/>
                        </a:rPr>
                        <a:t>東京都「土砂災害警戒区域等マップ」</a:t>
                      </a:r>
                      <a:endParaRPr lang="en-US" sz="1300" dirty="0">
                        <a:latin typeface="游ゴシック" charset="0"/>
                        <a:ea typeface="游ゴシック" charset="0"/>
                        <a:cs typeface="游ゴシック"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c>
                  <a:txBody>
                    <a:bodyPr/>
                    <a:lstStyle/>
                    <a:p>
                      <a:pPr indent="0" marL="0">
                        <a:buNone/>
                      </a:pPr>
                      <a:r>
                        <a:rPr lang="en-US" sz="1300" dirty="0">
                          <a:solidFill>
                            <a:srgbClr val="4B545C"/>
                          </a:solidFill>
                          <a:latin typeface="游ゴシック" pitchFamily="34" charset="0"/>
                          <a:ea typeface="游ゴシック" pitchFamily="34" charset="-122"/>
                          <a:cs typeface="游ゴシック" pitchFamily="34" charset="-120"/>
                        </a:rPr>
                        <a:t>最新の指定状況への参照リンク</a:t>
                      </a:r>
                      <a:endParaRPr lang="en-US" sz="1300" dirty="0">
                        <a:latin typeface="游ゴシック" charset="0"/>
                        <a:ea typeface="游ゴシック" charset="0"/>
                        <a:cs typeface="游ゴシック"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r>
              <a:tr h="679269">
                <a:tc>
                  <a:txBody>
                    <a:bodyPr/>
                    <a:lstStyle/>
                    <a:p>
                      <a:pPr indent="0" marL="0">
                        <a:buNone/>
                      </a:pPr>
                      <a:r>
                        <a:rPr lang="en-US" sz="1300" dirty="0">
                          <a:solidFill>
                            <a:srgbClr val="1C2126"/>
                          </a:solidFill>
                          <a:latin typeface="游ゴシック" pitchFamily="34" charset="0"/>
                          <a:ea typeface="游ゴシック" pitchFamily="34" charset="-122"/>
                          <a:cs typeface="游ゴシック" pitchFamily="34" charset="-120"/>
                        </a:rPr>
                        <a:t>首相官邸「土砂災害」防災情報ページ</a:t>
                      </a:r>
                      <a:endParaRPr lang="en-US" sz="1300" dirty="0">
                        <a:latin typeface="游ゴシック" charset="0"/>
                        <a:ea typeface="游ゴシック" charset="0"/>
                        <a:cs typeface="游ゴシック"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c>
                  <a:txBody>
                    <a:bodyPr/>
                    <a:lstStyle/>
                    <a:p>
                      <a:pPr indent="0" marL="0">
                        <a:buNone/>
                      </a:pPr>
                      <a:r>
                        <a:rPr lang="en-US" sz="1300" dirty="0">
                          <a:solidFill>
                            <a:srgbClr val="4B545C"/>
                          </a:solidFill>
                          <a:latin typeface="游ゴシック" pitchFamily="34" charset="0"/>
                          <a:ea typeface="游ゴシック" pitchFamily="34" charset="-122"/>
                          <a:cs typeface="游ゴシック" pitchFamily="34" charset="-120"/>
                        </a:rPr>
                        <a:t>過去の災害事例（参考情報）・前兆現象チェックリストの出典</a:t>
                      </a:r>
                      <a:endParaRPr lang="en-US" sz="1300" dirty="0">
                        <a:latin typeface="游ゴシック" charset="0"/>
                        <a:ea typeface="游ゴシック" charset="0"/>
                        <a:cs typeface="游ゴシック"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4E4A"/>
        </a:solidFill>
      </p:bgPr>
    </p:bg>
    <p:spTree>
      <p:nvGrpSpPr>
        <p:cNvPr id="1" name=""/>
        <p:cNvGrpSpPr/>
        <p:nvPr/>
      </p:nvGrpSpPr>
      <p:grpSpPr>
        <a:xfrm>
          <a:off x="0" y="0"/>
          <a:ext cx="0" cy="0"/>
          <a:chOff x="0" y="0"/>
          <a:chExt cx="0" cy="0"/>
        </a:xfrm>
      </p:grpSpPr>
      <p:sp>
        <p:nvSpPr>
          <p:cNvPr id="2" name="Text 0"/>
          <p:cNvSpPr/>
          <p:nvPr/>
        </p:nvSpPr>
        <p:spPr>
          <a:xfrm>
            <a:off x="822960" y="548640"/>
            <a:ext cx="5486400" cy="640080"/>
          </a:xfrm>
          <a:prstGeom prst="rect">
            <a:avLst/>
          </a:prstGeom>
          <a:noFill/>
          <a:ln/>
        </p:spPr>
        <p:txBody>
          <a:bodyPr wrap="square" rtlCol="0" anchor="ctr"/>
          <a:lstStyle/>
          <a:p>
            <a:pPr indent="0" marL="0">
              <a:buNone/>
            </a:pPr>
            <a:r>
              <a:rPr lang="en-US" sz="3400" b="1" dirty="0">
                <a:solidFill>
                  <a:srgbClr val="FFFFFF"/>
                </a:solidFill>
                <a:latin typeface="游ゴシック" pitchFamily="34" charset="0"/>
                <a:ea typeface="游ゴシック" pitchFamily="34" charset="-122"/>
                <a:cs typeface="游ゴシック" pitchFamily="34" charset="-120"/>
              </a:rPr>
              <a:t>チーム紹介</a:t>
            </a:r>
            <a:endParaRPr lang="en-US" sz="3400" dirty="0"/>
          </a:p>
        </p:txBody>
      </p:sp>
      <p:sp>
        <p:nvSpPr>
          <p:cNvPr id="3" name="Shape 1"/>
          <p:cNvSpPr/>
          <p:nvPr/>
        </p:nvSpPr>
        <p:spPr>
          <a:xfrm>
            <a:off x="822960" y="1554480"/>
            <a:ext cx="1188720" cy="1188720"/>
          </a:xfrm>
          <a:prstGeom prst="ellipse">
            <a:avLst/>
          </a:prstGeom>
          <a:solidFill>
            <a:srgbClr val="FFFFFF"/>
          </a:solidFill>
          <a:ln/>
        </p:spPr>
      </p:sp>
      <p:sp>
        <p:nvSpPr>
          <p:cNvPr id="4" name="Text 2"/>
          <p:cNvSpPr/>
          <p:nvPr/>
        </p:nvSpPr>
        <p:spPr>
          <a:xfrm>
            <a:off x="822960" y="1554480"/>
            <a:ext cx="1188720" cy="1188720"/>
          </a:xfrm>
          <a:prstGeom prst="rect">
            <a:avLst/>
          </a:prstGeom>
          <a:noFill/>
          <a:ln/>
        </p:spPr>
        <p:txBody>
          <a:bodyPr wrap="square" lIns="0" tIns="0" rIns="0" bIns="0" rtlCol="0" anchor="ctr"/>
          <a:lstStyle/>
          <a:p>
            <a:pPr algn="ctr" indent="0" marL="0">
              <a:buNone/>
            </a:pPr>
            <a:r>
              <a:rPr lang="en-US" sz="3000" b="1" dirty="0">
                <a:solidFill>
                  <a:srgbClr val="1F4E4A"/>
                </a:solidFill>
                <a:latin typeface="游ゴシック" pitchFamily="34" charset="0"/>
                <a:ea typeface="游ゴシック" pitchFamily="34" charset="-122"/>
                <a:cs typeface="游ゴシック" pitchFamily="34" charset="-120"/>
              </a:rPr>
              <a:t>結</a:t>
            </a:r>
            <a:endParaRPr lang="en-US" sz="3000" dirty="0"/>
          </a:p>
        </p:txBody>
      </p:sp>
      <p:sp>
        <p:nvSpPr>
          <p:cNvPr id="5" name="Text 3"/>
          <p:cNvSpPr/>
          <p:nvPr/>
        </p:nvSpPr>
        <p:spPr>
          <a:xfrm>
            <a:off x="2194560" y="1691640"/>
            <a:ext cx="7315200" cy="457200"/>
          </a:xfrm>
          <a:prstGeom prst="rect">
            <a:avLst/>
          </a:prstGeom>
          <a:noFill/>
          <a:ln/>
        </p:spPr>
        <p:txBody>
          <a:bodyPr wrap="square" lIns="0" tIns="0" rIns="0" bIns="0" rtlCol="0" anchor="ctr"/>
          <a:lstStyle/>
          <a:p>
            <a:pPr indent="0" marL="0">
              <a:buNone/>
            </a:pPr>
            <a:r>
              <a:rPr lang="en-US" sz="1800" b="1" dirty="0">
                <a:solidFill>
                  <a:srgbClr val="FFFFFF"/>
                </a:solidFill>
                <a:latin typeface="游ゴシック" pitchFamily="34" charset="0"/>
                <a:ea typeface="游ゴシック" pitchFamily="34" charset="-122"/>
                <a:cs typeface="游ゴシック" pitchFamily="34" charset="-120"/>
              </a:rPr>
              <a:t>チーム「結」（個人開発）</a:t>
            </a:r>
            <a:endParaRPr lang="en-US" sz="1800" dirty="0"/>
          </a:p>
        </p:txBody>
      </p:sp>
      <p:sp>
        <p:nvSpPr>
          <p:cNvPr id="6" name="Text 4"/>
          <p:cNvSpPr/>
          <p:nvPr/>
        </p:nvSpPr>
        <p:spPr>
          <a:xfrm>
            <a:off x="2194560" y="2148840"/>
            <a:ext cx="8686800" cy="731520"/>
          </a:xfrm>
          <a:prstGeom prst="rect">
            <a:avLst/>
          </a:prstGeom>
          <a:noFill/>
          <a:ln/>
        </p:spPr>
        <p:txBody>
          <a:bodyPr wrap="square" rtlCol="0" anchor="ctr"/>
          <a:lstStyle/>
          <a:p>
            <a:pPr indent="0" marL="0">
              <a:lnSpc>
                <a:spcPct val="130000"/>
              </a:lnSpc>
              <a:buNone/>
            </a:pPr>
            <a:r>
              <a:rPr lang="en-US" sz="1300" dirty="0">
                <a:solidFill>
                  <a:srgbClr val="E4EFEA"/>
                </a:solidFill>
                <a:latin typeface="游ゴシック" pitchFamily="34" charset="0"/>
                <a:ea typeface="游ゴシック" pitchFamily="34" charset="-122"/>
                <a:cs typeface="游ゴシック" pitchFamily="34" charset="-120"/>
              </a:rPr>
              <a:t>土砂災害の現場に居合わせ、家族として何もできずただ待つしかなかった実体験から、</a:t>
            </a:r>
            <a:endParaRPr lang="en-US" sz="1300" dirty="0"/>
          </a:p>
          <a:p>
            <a:pPr indent="0" marL="0">
              <a:lnSpc>
                <a:spcPct val="130000"/>
              </a:lnSpc>
              <a:buNone/>
            </a:pPr>
            <a:r>
              <a:rPr lang="en-US" sz="1300" dirty="0">
                <a:solidFill>
                  <a:srgbClr val="E4EFEA"/>
                </a:solidFill>
                <a:latin typeface="游ゴシック" pitchFamily="34" charset="0"/>
                <a:ea typeface="游ゴシック" pitchFamily="34" charset="-122"/>
                <a:cs typeface="游ゴシック" pitchFamily="34" charset="-120"/>
              </a:rPr>
              <a:t>企画・設計・実装まで一人で開発。</a:t>
            </a:r>
            <a:endParaRPr lang="en-US" sz="1300" dirty="0"/>
          </a:p>
        </p:txBody>
      </p:sp>
      <p:sp>
        <p:nvSpPr>
          <p:cNvPr id="7" name="Shape 5"/>
          <p:cNvSpPr/>
          <p:nvPr/>
        </p:nvSpPr>
        <p:spPr>
          <a:xfrm>
            <a:off x="822960" y="3246120"/>
            <a:ext cx="10515600" cy="2331720"/>
          </a:xfrm>
          <a:prstGeom prst="roundRect">
            <a:avLst>
              <a:gd name="adj" fmla="val 3922"/>
            </a:avLst>
          </a:prstGeom>
          <a:solidFill>
            <a:srgbClr val="FFFFFF">
              <a:alpha val="8000"/>
            </a:srgbClr>
          </a:solidFill>
          <a:ln w="9525">
            <a:solidFill>
              <a:srgbClr val="FFFFFF"/>
            </a:solidFill>
            <a:prstDash val="solid"/>
          </a:ln>
        </p:spPr>
      </p:sp>
      <p:sp>
        <p:nvSpPr>
          <p:cNvPr id="8" name="Text 6"/>
          <p:cNvSpPr/>
          <p:nvPr/>
        </p:nvSpPr>
        <p:spPr>
          <a:xfrm>
            <a:off x="1143000" y="3474720"/>
            <a:ext cx="9875520" cy="457200"/>
          </a:xfrm>
          <a:prstGeom prst="rect">
            <a:avLst/>
          </a:prstGeom>
          <a:noFill/>
          <a:ln/>
        </p:spPr>
        <p:txBody>
          <a:bodyPr wrap="square" lIns="0" tIns="0" rIns="0" bIns="0" rtlCol="0" anchor="ctr"/>
          <a:lstStyle/>
          <a:p>
            <a:pPr indent="0" marL="0">
              <a:buNone/>
            </a:pPr>
            <a:r>
              <a:rPr lang="en-US" sz="1500" b="1" dirty="0">
                <a:solidFill>
                  <a:srgbClr val="FFFFFF"/>
                </a:solidFill>
                <a:latin typeface="游ゴシック" pitchFamily="34" charset="0"/>
                <a:ea typeface="游ゴシック" pitchFamily="34" charset="-122"/>
                <a:cs typeface="游ゴシック" pitchFamily="34" charset="-120"/>
              </a:rPr>
              <a:t>🛡️ 安全設計へのこだわり</a:t>
            </a:r>
            <a:endParaRPr lang="en-US" sz="1500" dirty="0"/>
          </a:p>
        </p:txBody>
      </p:sp>
      <p:sp>
        <p:nvSpPr>
          <p:cNvPr id="9" name="Text 7"/>
          <p:cNvSpPr/>
          <p:nvPr/>
        </p:nvSpPr>
        <p:spPr>
          <a:xfrm>
            <a:off x="1143000" y="3977640"/>
            <a:ext cx="9875520" cy="1463040"/>
          </a:xfrm>
          <a:prstGeom prst="rect">
            <a:avLst/>
          </a:prstGeom>
          <a:noFill/>
          <a:ln/>
        </p:spPr>
        <p:txBody>
          <a:bodyPr wrap="square" rtlCol="0" anchor="ctr"/>
          <a:lstStyle/>
          <a:p>
            <a:pPr marL="342900" indent="-342900">
              <a:lnSpc>
                <a:spcPct val="135000"/>
              </a:lnSpc>
              <a:spcAft>
                <a:spcPts val="800"/>
              </a:spcAft>
              <a:buSzPct val="100000"/>
              <a:buChar char="•"/>
            </a:pPr>
            <a:r>
              <a:rPr lang="en-US" sz="1250" dirty="0">
                <a:solidFill>
                  <a:srgbClr val="E4EFEA"/>
                </a:solidFill>
                <a:latin typeface="游ゴシック" pitchFamily="34" charset="0"/>
                <a:ea typeface="游ゴシック" pitchFamily="34" charset="-122"/>
                <a:cs typeface="游ゴシック" pitchFamily="34" charset="-120"/>
              </a:rPr>
              <a:t>生存確率・助かる見込み時間の提示はしない（AIチャットのシステムプロンプトで明示的に禁止）</a:t>
            </a:r>
            <a:endParaRPr lang="en-US" sz="1250" dirty="0"/>
          </a:p>
          <a:p>
            <a:pPr marL="342900" indent="-342900">
              <a:lnSpc>
                <a:spcPct val="135000"/>
              </a:lnSpc>
              <a:spcAft>
                <a:spcPts val="800"/>
              </a:spcAft>
              <a:buSzPct val="100000"/>
              <a:buChar char="•"/>
            </a:pPr>
            <a:r>
              <a:rPr lang="en-US" sz="1250" dirty="0">
                <a:solidFill>
                  <a:srgbClr val="E4EFEA"/>
                </a:solidFill>
                <a:latin typeface="游ゴシック" pitchFamily="34" charset="0"/>
                <a:ea typeface="游ゴシック" pitchFamily="34" charset="-122"/>
                <a:cs typeface="游ゴシック" pitchFamily="34" charset="-120"/>
              </a:rPr>
              <a:t>前兆現象は「予測」ではなく、公式チェックリストに基づく目撃情報の共有として扱う</a:t>
            </a:r>
            <a:endParaRPr lang="en-US" sz="1250" dirty="0"/>
          </a:p>
          <a:p>
            <a:pPr marL="342900" indent="-342900">
              <a:lnSpc>
                <a:spcPct val="135000"/>
              </a:lnSpc>
              <a:spcAft>
                <a:spcPts val="800"/>
              </a:spcAft>
              <a:buSzPct val="100000"/>
              <a:buChar char="•"/>
            </a:pPr>
            <a:r>
              <a:rPr lang="en-US" sz="1250" dirty="0">
                <a:solidFill>
                  <a:srgbClr val="E4EFEA"/>
                </a:solidFill>
                <a:latin typeface="游ゴシック" pitchFamily="34" charset="0"/>
                <a:ea typeface="游ゴシック" pitchFamily="34" charset="-122"/>
                <a:cs typeface="游ゴシック" pitchFamily="34" charset="-120"/>
              </a:rPr>
              <a:t>深刻な危機のサインは、AI任せにせずキーワード安全網で即座に専門相談窓口へ橋渡し</a:t>
            </a:r>
            <a:endParaRPr lang="en-US" sz="1250" dirty="0"/>
          </a:p>
        </p:txBody>
      </p:sp>
      <p:sp>
        <p:nvSpPr>
          <p:cNvPr id="10" name="Text 8"/>
          <p:cNvSpPr/>
          <p:nvPr/>
        </p:nvSpPr>
        <p:spPr>
          <a:xfrm>
            <a:off x="822960" y="5989320"/>
            <a:ext cx="10515600" cy="457200"/>
          </a:xfrm>
          <a:prstGeom prst="rect">
            <a:avLst/>
          </a:prstGeom>
          <a:noFill/>
          <a:ln/>
        </p:spPr>
        <p:txBody>
          <a:bodyPr wrap="square" rtlCol="0" anchor="ctr"/>
          <a:lstStyle/>
          <a:p>
            <a:pPr indent="0" marL="0">
              <a:buNone/>
            </a:pPr>
            <a:r>
              <a:rPr lang="en-US" sz="1300" i="1" dirty="0">
                <a:solidFill>
                  <a:srgbClr val="9FC7BC"/>
                </a:solidFill>
                <a:latin typeface="游ゴシック" pitchFamily="34" charset="0"/>
                <a:ea typeface="游ゴシック" pitchFamily="34" charset="-122"/>
                <a:cs typeface="游ゴシック" pitchFamily="34" charset="-120"/>
              </a:rPr>
              <a:t>結（ゆい） — 救助を後押しする、無料の情報共有アプリ</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2026-08-01T03:51:45Z</dcterms:created>
  <dcterms:modified xsi:type="dcterms:W3CDTF">2026-08-01T03:51:45Z</dcterms:modified>
</cp:coreProperties>
</file>