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6-1.mp4"/><Relationship Id="rId2" Type="http://schemas.microsoft.com/office/2007/relationships/media" Target="../media/media-6-1.mp4"/><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4A"/>
        </a:solidFill>
      </p:bgPr>
    </p:bg>
    <p:spTree>
      <p:nvGrpSpPr>
        <p:cNvPr id="1" name=""/>
        <p:cNvGrpSpPr/>
        <p:nvPr/>
      </p:nvGrpSpPr>
      <p:grpSpPr>
        <a:xfrm>
          <a:off x="0" y="0"/>
          <a:ext cx="0" cy="0"/>
          <a:chOff x="0" y="0"/>
          <a:chExt cx="0" cy="0"/>
        </a:xfrm>
      </p:grpSpPr>
      <p:sp>
        <p:nvSpPr>
          <p:cNvPr id="2" name="Text 0"/>
          <p:cNvSpPr/>
          <p:nvPr/>
        </p:nvSpPr>
        <p:spPr>
          <a:xfrm>
            <a:off x="822960" y="1371600"/>
            <a:ext cx="10515600" cy="457200"/>
          </a:xfrm>
          <a:prstGeom prst="rect">
            <a:avLst/>
          </a:prstGeom>
          <a:noFill/>
          <a:ln/>
        </p:spPr>
        <p:txBody>
          <a:bodyPr wrap="square" rtlCol="0" anchor="ctr"/>
          <a:lstStyle/>
          <a:p>
            <a:pPr indent="0" marL="0">
              <a:buNone/>
            </a:pPr>
            <a:r>
              <a:rPr lang="en-US" sz="1400" b="1" spc="200" kern="0" dirty="0">
                <a:solidFill>
                  <a:srgbClr val="BFE3DA"/>
                </a:solidFill>
                <a:latin typeface="Calibri" pitchFamily="34" charset="0"/>
                <a:ea typeface="Calibri" pitchFamily="34" charset="-122"/>
                <a:cs typeface="Calibri" pitchFamily="34" charset="-120"/>
              </a:rPr>
              <a:t>都知事杯オープンデータ・ハッカソン 2026</a:t>
            </a:r>
            <a:endParaRPr lang="en-US" sz="1400" dirty="0"/>
          </a:p>
        </p:txBody>
      </p:sp>
      <p:sp>
        <p:nvSpPr>
          <p:cNvPr id="3" name="Text 1"/>
          <p:cNvSpPr/>
          <p:nvPr/>
        </p:nvSpPr>
        <p:spPr>
          <a:xfrm>
            <a:off x="777240" y="1828800"/>
            <a:ext cx="10515600" cy="1463040"/>
          </a:xfrm>
          <a:prstGeom prst="rect">
            <a:avLst/>
          </a:prstGeom>
          <a:noFill/>
          <a:ln/>
        </p:spPr>
        <p:txBody>
          <a:bodyPr wrap="square" lIns="0" tIns="0" rIns="0" bIns="0" rtlCol="0" anchor="ctr"/>
          <a:lstStyle/>
          <a:p>
            <a:pPr indent="0" marL="0">
              <a:buNone/>
            </a:pPr>
            <a:r>
              <a:rPr lang="en-US" sz="8000" b="1" dirty="0">
                <a:solidFill>
                  <a:srgbClr val="FFFFFF"/>
                </a:solidFill>
                <a:latin typeface="Cambria" pitchFamily="34" charset="0"/>
                <a:ea typeface="Cambria" pitchFamily="34" charset="-122"/>
                <a:cs typeface="Cambria" pitchFamily="34" charset="-120"/>
              </a:rPr>
              <a:t>結（ゆい）</a:t>
            </a:r>
            <a:endParaRPr lang="en-US" sz="8000" dirty="0"/>
          </a:p>
        </p:txBody>
      </p:sp>
      <p:sp>
        <p:nvSpPr>
          <p:cNvPr id="4" name="Text 2"/>
          <p:cNvSpPr/>
          <p:nvPr/>
        </p:nvSpPr>
        <p:spPr>
          <a:xfrm>
            <a:off x="822960" y="3383280"/>
            <a:ext cx="9692640" cy="731520"/>
          </a:xfrm>
          <a:prstGeom prst="rect">
            <a:avLst/>
          </a:prstGeom>
          <a:noFill/>
          <a:ln/>
        </p:spPr>
        <p:txBody>
          <a:bodyPr wrap="square" rtlCol="0" anchor="ctr"/>
          <a:lstStyle/>
          <a:p>
            <a:pPr indent="0" marL="0">
              <a:buNone/>
            </a:pPr>
            <a:r>
              <a:rPr lang="en-US" sz="1800" i="1" dirty="0">
                <a:solidFill>
                  <a:srgbClr val="E4EFEA"/>
                </a:solidFill>
                <a:latin typeface="Calibri" pitchFamily="34" charset="0"/>
                <a:ea typeface="Calibri" pitchFamily="34" charset="-122"/>
                <a:cs typeface="Calibri" pitchFamily="34" charset="-120"/>
              </a:rPr>
              <a:t>土砂災害現場で無事を待つ家族と救助隊を情報共有でつなぎ、救助を後押しする無料アプリ「結」</a:t>
            </a:r>
            <a:endParaRPr lang="en-US" sz="1800" dirty="0"/>
          </a:p>
        </p:txBody>
      </p:sp>
      <p:sp>
        <p:nvSpPr>
          <p:cNvPr id="5" name="Shape 3"/>
          <p:cNvSpPr/>
          <p:nvPr/>
        </p:nvSpPr>
        <p:spPr>
          <a:xfrm>
            <a:off x="822960" y="4434840"/>
            <a:ext cx="3200400" cy="502920"/>
          </a:xfrm>
          <a:prstGeom prst="roundRect">
            <a:avLst>
              <a:gd name="adj" fmla="val 50909"/>
            </a:avLst>
          </a:prstGeom>
          <a:solidFill>
            <a:srgbClr val="FFFFFF">
              <a:alpha val="12000"/>
            </a:srgbClr>
          </a:solidFill>
          <a:ln w="12700">
            <a:solidFill>
              <a:srgbClr val="FFFFFF"/>
            </a:solidFill>
            <a:prstDash val="solid"/>
          </a:ln>
        </p:spPr>
      </p:sp>
      <p:sp>
        <p:nvSpPr>
          <p:cNvPr id="6" name="Text 4"/>
          <p:cNvSpPr/>
          <p:nvPr/>
        </p:nvSpPr>
        <p:spPr>
          <a:xfrm>
            <a:off x="822960" y="4434840"/>
            <a:ext cx="3200400" cy="5029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チーム「結」（個人開発）</a:t>
            </a:r>
            <a:endParaRPr lang="en-US" sz="1300" dirty="0"/>
          </a:p>
        </p:txBody>
      </p:sp>
      <p:sp>
        <p:nvSpPr>
          <p:cNvPr id="7" name="Text 5"/>
          <p:cNvSpPr/>
          <p:nvPr/>
        </p:nvSpPr>
        <p:spPr>
          <a:xfrm>
            <a:off x="822960" y="6126480"/>
            <a:ext cx="9144000" cy="365760"/>
          </a:xfrm>
          <a:prstGeom prst="rect">
            <a:avLst/>
          </a:prstGeom>
          <a:noFill/>
          <a:ln/>
        </p:spPr>
        <p:txBody>
          <a:bodyPr wrap="square" rtlCol="0" anchor="ctr"/>
          <a:lstStyle/>
          <a:p>
            <a:pPr indent="0" marL="0">
              <a:buNone/>
            </a:pPr>
            <a:r>
              <a:rPr lang="en-US" sz="1200" dirty="0">
                <a:solidFill>
                  <a:srgbClr val="9FC7BC"/>
                </a:solidFill>
                <a:latin typeface="Calibri" pitchFamily="34" charset="0"/>
                <a:ea typeface="Calibri" pitchFamily="34" charset="-122"/>
                <a:cs typeface="Calibri" pitchFamily="34" charset="-120"/>
              </a:rPr>
              <a:t>現場で待機する被災者家族・関係者のための、Web完結・無料の情報共有アプリ</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5486400" cy="640080"/>
          </a:xfrm>
          <a:prstGeom prst="rect">
            <a:avLst/>
          </a:prstGeom>
          <a:noFill/>
          <a:ln/>
        </p:spPr>
        <p:txBody>
          <a:bodyPr wrap="square" rtlCol="0" anchor="ctr"/>
          <a:lstStyle/>
          <a:p>
            <a:pPr indent="0" marL="0">
              <a:buNone/>
            </a:pPr>
            <a:r>
              <a:rPr lang="en-US" sz="3400" b="1" dirty="0">
                <a:solidFill>
                  <a:srgbClr val="1F4E4A"/>
                </a:solidFill>
                <a:latin typeface="Cambria" pitchFamily="34" charset="0"/>
                <a:ea typeface="Cambria" pitchFamily="34" charset="-122"/>
                <a:cs typeface="Cambria" pitchFamily="34" charset="-120"/>
              </a:rPr>
              <a:t>課題</a:t>
            </a:r>
            <a:endParaRPr lang="en-US" sz="3400" dirty="0"/>
          </a:p>
        </p:txBody>
      </p:sp>
      <p:sp>
        <p:nvSpPr>
          <p:cNvPr id="3" name="Text 1"/>
          <p:cNvSpPr/>
          <p:nvPr/>
        </p:nvSpPr>
        <p:spPr>
          <a:xfrm>
            <a:off x="822960" y="1143000"/>
            <a:ext cx="10332720" cy="502920"/>
          </a:xfrm>
          <a:prstGeom prst="rect">
            <a:avLst/>
          </a:prstGeom>
          <a:noFill/>
          <a:ln/>
        </p:spPr>
        <p:txBody>
          <a:bodyPr wrap="square" rtlCol="0" anchor="ctr"/>
          <a:lstStyle/>
          <a:p>
            <a:pPr indent="0" marL="0">
              <a:buNone/>
            </a:pPr>
            <a:r>
              <a:rPr lang="en-US" sz="1600" i="1" dirty="0">
                <a:solidFill>
                  <a:srgbClr val="4B545C"/>
                </a:solidFill>
                <a:latin typeface="Calibri" pitchFamily="34" charset="0"/>
                <a:ea typeface="Calibri" pitchFamily="34" charset="-122"/>
                <a:cs typeface="Calibri" pitchFamily="34" charset="-120"/>
              </a:rPr>
              <a:t>土砂災害の現場で、家族は「ただ待つ」ことしかできなかった</a:t>
            </a:r>
            <a:endParaRPr lang="en-US" sz="1600" dirty="0"/>
          </a:p>
        </p:txBody>
      </p:sp>
      <p:sp>
        <p:nvSpPr>
          <p:cNvPr id="4" name="Shape 2"/>
          <p:cNvSpPr/>
          <p:nvPr/>
        </p:nvSpPr>
        <p:spPr>
          <a:xfrm>
            <a:off x="822960" y="1965960"/>
            <a:ext cx="3319272" cy="3566160"/>
          </a:xfrm>
          <a:prstGeom prst="roundRect">
            <a:avLst>
              <a:gd name="adj" fmla="val 3306"/>
            </a:avLst>
          </a:prstGeom>
          <a:solidFill>
            <a:srgbClr val="F4F5F3"/>
          </a:solidFill>
          <a:ln/>
          <a:effectLst>
            <a:outerShdw sx="100000" sy="100000" kx="0" ky="0" algn="bl" rotWithShape="0" blurRad="127000" dist="38100" dir="5400000">
              <a:srgbClr val="000000">
                <a:alpha val="18000"/>
              </a:srgbClr>
            </a:outerShdw>
          </a:effectLst>
        </p:spPr>
      </p:sp>
      <p:sp>
        <p:nvSpPr>
          <p:cNvPr id="5" name="Shape 3"/>
          <p:cNvSpPr/>
          <p:nvPr/>
        </p:nvSpPr>
        <p:spPr>
          <a:xfrm>
            <a:off x="1143000" y="2331720"/>
            <a:ext cx="822960" cy="822960"/>
          </a:xfrm>
          <a:prstGeom prst="ellipse">
            <a:avLst/>
          </a:prstGeom>
          <a:solidFill>
            <a:srgbClr val="1F4E4A"/>
          </a:solidFill>
          <a:ln/>
        </p:spPr>
      </p:sp>
      <p:sp>
        <p:nvSpPr>
          <p:cNvPr id="6" name="Text 4"/>
          <p:cNvSpPr/>
          <p:nvPr/>
        </p:nvSpPr>
        <p:spPr>
          <a:xfrm>
            <a:off x="1143000" y="2331720"/>
            <a:ext cx="822960" cy="822960"/>
          </a:xfrm>
          <a:prstGeom prst="rect">
            <a:avLst/>
          </a:prstGeom>
          <a:noFill/>
          <a:ln/>
        </p:spPr>
        <p:txBody>
          <a:bodyPr wrap="square" lIns="0" tIns="0" rIns="0" bIns="0" rtlCol="0" anchor="ctr"/>
          <a:lstStyle/>
          <a:p>
            <a:pPr algn="ctr" indent="0" marL="0">
              <a:buNone/>
            </a:pPr>
            <a:r>
              <a:rPr lang="en-US" sz="3000" dirty="0">
                <a:solidFill>
                  <a:srgbClr val="000000"/>
                </a:solidFill>
              </a:rPr>
              <a:t>⏳</a:t>
            </a:r>
            <a:endParaRPr lang="en-US" sz="3000" dirty="0"/>
          </a:p>
        </p:txBody>
      </p:sp>
      <p:sp>
        <p:nvSpPr>
          <p:cNvPr id="7" name="Text 5"/>
          <p:cNvSpPr/>
          <p:nvPr/>
        </p:nvSpPr>
        <p:spPr>
          <a:xfrm>
            <a:off x="1143000" y="3337560"/>
            <a:ext cx="2679192" cy="640080"/>
          </a:xfrm>
          <a:prstGeom prst="rect">
            <a:avLst/>
          </a:prstGeom>
          <a:noFill/>
          <a:ln/>
        </p:spPr>
        <p:txBody>
          <a:bodyPr wrap="square" lIns="0" tIns="0" rIns="0" bIns="0" rtlCol="0" anchor="ctr"/>
          <a:lstStyle/>
          <a:p>
            <a:pPr indent="0" marL="0">
              <a:buNone/>
            </a:pPr>
            <a:r>
              <a:rPr lang="en-US" sz="1700" b="1" dirty="0">
                <a:solidFill>
                  <a:srgbClr val="1C2126"/>
                </a:solidFill>
                <a:latin typeface="Cambria" pitchFamily="34" charset="0"/>
                <a:ea typeface="Cambria" pitchFamily="34" charset="-122"/>
                <a:cs typeface="Cambria" pitchFamily="34" charset="-120"/>
              </a:rPr>
              <a:t>何もできず、ただ待つ</a:t>
            </a:r>
            <a:endParaRPr lang="en-US" sz="1700" dirty="0"/>
          </a:p>
        </p:txBody>
      </p:sp>
      <p:sp>
        <p:nvSpPr>
          <p:cNvPr id="8" name="Text 6"/>
          <p:cNvSpPr/>
          <p:nvPr/>
        </p:nvSpPr>
        <p:spPr>
          <a:xfrm>
            <a:off x="1143000" y="3977640"/>
            <a:ext cx="2679192" cy="1417320"/>
          </a:xfrm>
          <a:prstGeom prst="rect">
            <a:avLst/>
          </a:prstGeom>
          <a:noFill/>
          <a:ln/>
        </p:spPr>
        <p:txBody>
          <a:bodyPr wrap="square" lIns="0" tIns="0" rIns="0" bIns="0" rtlCol="0" anchor="ctr"/>
          <a:lstStyle/>
          <a:p>
            <a:pPr indent="0" marL="0">
              <a:lnSpc>
                <a:spcPct val="125000"/>
              </a:lnSpc>
              <a:buNone/>
            </a:pPr>
            <a:r>
              <a:rPr lang="en-US" sz="1250" dirty="0">
                <a:solidFill>
                  <a:srgbClr val="4B545C"/>
                </a:solidFill>
                <a:latin typeface="Calibri" pitchFamily="34" charset="0"/>
                <a:ea typeface="Calibri" pitchFamily="34" charset="-122"/>
                <a:cs typeface="Calibri" pitchFamily="34" charset="-120"/>
              </a:rPr>
              <a:t>現場に居合わせた家族・親戚は、捜索・救助の間、何も手伝うことができない。</a:t>
            </a:r>
            <a:endParaRPr lang="en-US" sz="1250" dirty="0"/>
          </a:p>
        </p:txBody>
      </p:sp>
      <p:sp>
        <p:nvSpPr>
          <p:cNvPr id="9" name="Shape 7"/>
          <p:cNvSpPr/>
          <p:nvPr/>
        </p:nvSpPr>
        <p:spPr>
          <a:xfrm>
            <a:off x="4462272" y="1965960"/>
            <a:ext cx="3319272" cy="3566160"/>
          </a:xfrm>
          <a:prstGeom prst="roundRect">
            <a:avLst>
              <a:gd name="adj" fmla="val 3306"/>
            </a:avLst>
          </a:prstGeom>
          <a:solidFill>
            <a:srgbClr val="F4F5F3"/>
          </a:solidFill>
          <a:ln/>
          <a:effectLst>
            <a:outerShdw sx="100000" sy="100000" kx="0" ky="0" algn="bl" rotWithShape="0" blurRad="127000" dist="38100" dir="5400000">
              <a:srgbClr val="000000">
                <a:alpha val="18000"/>
              </a:srgbClr>
            </a:outerShdw>
          </a:effectLst>
        </p:spPr>
      </p:sp>
      <p:sp>
        <p:nvSpPr>
          <p:cNvPr id="10" name="Shape 8"/>
          <p:cNvSpPr/>
          <p:nvPr/>
        </p:nvSpPr>
        <p:spPr>
          <a:xfrm>
            <a:off x="4782312" y="2331720"/>
            <a:ext cx="822960" cy="822960"/>
          </a:xfrm>
          <a:prstGeom prst="ellipse">
            <a:avLst/>
          </a:prstGeom>
          <a:solidFill>
            <a:srgbClr val="1F4E4A"/>
          </a:solidFill>
          <a:ln/>
        </p:spPr>
      </p:sp>
      <p:sp>
        <p:nvSpPr>
          <p:cNvPr id="11" name="Text 9"/>
          <p:cNvSpPr/>
          <p:nvPr/>
        </p:nvSpPr>
        <p:spPr>
          <a:xfrm>
            <a:off x="4782312" y="2331720"/>
            <a:ext cx="822960" cy="822960"/>
          </a:xfrm>
          <a:prstGeom prst="rect">
            <a:avLst/>
          </a:prstGeom>
          <a:noFill/>
          <a:ln/>
        </p:spPr>
        <p:txBody>
          <a:bodyPr wrap="square" lIns="0" tIns="0" rIns="0" bIns="0" rtlCol="0" anchor="ctr"/>
          <a:lstStyle/>
          <a:p>
            <a:pPr algn="ctr" indent="0" marL="0">
              <a:buNone/>
            </a:pPr>
            <a:r>
              <a:rPr lang="en-US" sz="3000" dirty="0">
                <a:solidFill>
                  <a:srgbClr val="000000"/>
                </a:solidFill>
              </a:rPr>
              <a:t>🗣️</a:t>
            </a:r>
            <a:endParaRPr lang="en-US" sz="3000" dirty="0"/>
          </a:p>
        </p:txBody>
      </p:sp>
      <p:sp>
        <p:nvSpPr>
          <p:cNvPr id="12" name="Text 10"/>
          <p:cNvSpPr/>
          <p:nvPr/>
        </p:nvSpPr>
        <p:spPr>
          <a:xfrm>
            <a:off x="4782312" y="3337560"/>
            <a:ext cx="2679192" cy="640080"/>
          </a:xfrm>
          <a:prstGeom prst="rect">
            <a:avLst/>
          </a:prstGeom>
          <a:noFill/>
          <a:ln/>
        </p:spPr>
        <p:txBody>
          <a:bodyPr wrap="square" lIns="0" tIns="0" rIns="0" bIns="0" rtlCol="0" anchor="ctr"/>
          <a:lstStyle/>
          <a:p>
            <a:pPr indent="0" marL="0">
              <a:buNone/>
            </a:pPr>
            <a:r>
              <a:rPr lang="en-US" sz="1700" b="1" dirty="0">
                <a:solidFill>
                  <a:srgbClr val="1C2126"/>
                </a:solidFill>
                <a:latin typeface="Cambria" pitchFamily="34" charset="0"/>
                <a:ea typeface="Cambria" pitchFamily="34" charset="-122"/>
                <a:cs typeface="Cambria" pitchFamily="34" charset="-120"/>
              </a:rPr>
              <a:t>聞き取りで指揮の手が止まる</a:t>
            </a:r>
            <a:endParaRPr lang="en-US" sz="1700" dirty="0"/>
          </a:p>
        </p:txBody>
      </p:sp>
      <p:sp>
        <p:nvSpPr>
          <p:cNvPr id="13" name="Text 11"/>
          <p:cNvSpPr/>
          <p:nvPr/>
        </p:nvSpPr>
        <p:spPr>
          <a:xfrm>
            <a:off x="4782312" y="3977640"/>
            <a:ext cx="2679192" cy="1417320"/>
          </a:xfrm>
          <a:prstGeom prst="rect">
            <a:avLst/>
          </a:prstGeom>
          <a:noFill/>
          <a:ln/>
        </p:spPr>
        <p:txBody>
          <a:bodyPr wrap="square" lIns="0" tIns="0" rIns="0" bIns="0" rtlCol="0" anchor="ctr"/>
          <a:lstStyle/>
          <a:p>
            <a:pPr indent="0" marL="0">
              <a:lnSpc>
                <a:spcPct val="125000"/>
              </a:lnSpc>
              <a:buNone/>
            </a:pPr>
            <a:r>
              <a:rPr lang="en-US" sz="1250" dirty="0">
                <a:solidFill>
                  <a:srgbClr val="4B545C"/>
                </a:solidFill>
                <a:latin typeface="Calibri" pitchFamily="34" charset="0"/>
                <a:ea typeface="Calibri" pitchFamily="34" charset="-122"/>
                <a:cs typeface="Calibri" pitchFamily="34" charset="-120"/>
              </a:rPr>
              <a:t>唯一伝えられる間取りや特徴も、司令官が家族から直接聞き取るため、捜索の手が止まる。</a:t>
            </a:r>
            <a:endParaRPr lang="en-US" sz="1250" dirty="0"/>
          </a:p>
        </p:txBody>
      </p:sp>
      <p:sp>
        <p:nvSpPr>
          <p:cNvPr id="14" name="Shape 12"/>
          <p:cNvSpPr/>
          <p:nvPr/>
        </p:nvSpPr>
        <p:spPr>
          <a:xfrm>
            <a:off x="8101584" y="1965960"/>
            <a:ext cx="3319272" cy="3566160"/>
          </a:xfrm>
          <a:prstGeom prst="roundRect">
            <a:avLst>
              <a:gd name="adj" fmla="val 3306"/>
            </a:avLst>
          </a:prstGeom>
          <a:solidFill>
            <a:srgbClr val="F4F5F3"/>
          </a:solidFill>
          <a:ln/>
          <a:effectLst>
            <a:outerShdw sx="100000" sy="100000" kx="0" ky="0" algn="bl" rotWithShape="0" blurRad="127000" dist="38100" dir="5400000">
              <a:srgbClr val="000000">
                <a:alpha val="18000"/>
              </a:srgbClr>
            </a:outerShdw>
          </a:effectLst>
        </p:spPr>
      </p:sp>
      <p:sp>
        <p:nvSpPr>
          <p:cNvPr id="15" name="Shape 13"/>
          <p:cNvSpPr/>
          <p:nvPr/>
        </p:nvSpPr>
        <p:spPr>
          <a:xfrm>
            <a:off x="8421624" y="2331720"/>
            <a:ext cx="822960" cy="822960"/>
          </a:xfrm>
          <a:prstGeom prst="ellipse">
            <a:avLst/>
          </a:prstGeom>
          <a:solidFill>
            <a:srgbClr val="1F4E4A"/>
          </a:solidFill>
          <a:ln/>
        </p:spPr>
      </p:sp>
      <p:sp>
        <p:nvSpPr>
          <p:cNvPr id="16" name="Text 14"/>
          <p:cNvSpPr/>
          <p:nvPr/>
        </p:nvSpPr>
        <p:spPr>
          <a:xfrm>
            <a:off x="8421624" y="2331720"/>
            <a:ext cx="822960" cy="822960"/>
          </a:xfrm>
          <a:prstGeom prst="rect">
            <a:avLst/>
          </a:prstGeom>
          <a:noFill/>
          <a:ln/>
        </p:spPr>
        <p:txBody>
          <a:bodyPr wrap="square" lIns="0" tIns="0" rIns="0" bIns="0" rtlCol="0" anchor="ctr"/>
          <a:lstStyle/>
          <a:p>
            <a:pPr algn="ctr" indent="0" marL="0">
              <a:buNone/>
            </a:pPr>
            <a:r>
              <a:rPr lang="en-US" sz="3000" dirty="0">
                <a:solidFill>
                  <a:srgbClr val="000000"/>
                </a:solidFill>
              </a:rPr>
              <a:t>📢</a:t>
            </a:r>
            <a:endParaRPr lang="en-US" sz="3000" dirty="0"/>
          </a:p>
        </p:txBody>
      </p:sp>
      <p:sp>
        <p:nvSpPr>
          <p:cNvPr id="17" name="Text 15"/>
          <p:cNvSpPr/>
          <p:nvPr/>
        </p:nvSpPr>
        <p:spPr>
          <a:xfrm>
            <a:off x="8421624" y="3337560"/>
            <a:ext cx="2679192" cy="640080"/>
          </a:xfrm>
          <a:prstGeom prst="rect">
            <a:avLst/>
          </a:prstGeom>
          <a:noFill/>
          <a:ln/>
        </p:spPr>
        <p:txBody>
          <a:bodyPr wrap="square" lIns="0" tIns="0" rIns="0" bIns="0" rtlCol="0" anchor="ctr"/>
          <a:lstStyle/>
          <a:p>
            <a:pPr indent="0" marL="0">
              <a:buNone/>
            </a:pPr>
            <a:r>
              <a:rPr lang="en-US" sz="1700" b="1" dirty="0">
                <a:solidFill>
                  <a:srgbClr val="1C2126"/>
                </a:solidFill>
                <a:latin typeface="Cambria" pitchFamily="34" charset="0"/>
                <a:ea typeface="Cambria" pitchFamily="34" charset="-122"/>
                <a:cs typeface="Cambria" pitchFamily="34" charset="-120"/>
              </a:rPr>
              <a:t>人づての伝言でロスが生じる</a:t>
            </a:r>
            <a:endParaRPr lang="en-US" sz="1700" dirty="0"/>
          </a:p>
        </p:txBody>
      </p:sp>
      <p:sp>
        <p:nvSpPr>
          <p:cNvPr id="18" name="Text 16"/>
          <p:cNvSpPr/>
          <p:nvPr/>
        </p:nvSpPr>
        <p:spPr>
          <a:xfrm>
            <a:off x="8421624" y="3977640"/>
            <a:ext cx="2679192" cy="1417320"/>
          </a:xfrm>
          <a:prstGeom prst="rect">
            <a:avLst/>
          </a:prstGeom>
          <a:noFill/>
          <a:ln/>
        </p:spPr>
        <p:txBody>
          <a:bodyPr wrap="square" lIns="0" tIns="0" rIns="0" bIns="0" rtlCol="0" anchor="ctr"/>
          <a:lstStyle/>
          <a:p>
            <a:pPr indent="0" marL="0">
              <a:lnSpc>
                <a:spcPct val="125000"/>
              </a:lnSpc>
              <a:buNone/>
            </a:pPr>
            <a:r>
              <a:rPr lang="en-US" sz="1250" dirty="0">
                <a:solidFill>
                  <a:srgbClr val="4B545C"/>
                </a:solidFill>
                <a:latin typeface="Calibri" pitchFamily="34" charset="0"/>
                <a:ea typeface="Calibri" pitchFamily="34" charset="-122"/>
                <a:cs typeface="Calibri" pitchFamily="34" charset="-120"/>
              </a:rPr>
              <a:t>聞き取った内容を他の関係者へ伝えるのも人づてに頼らざるを得ず、遅延や伝達ミスが起きる。</a:t>
            </a:r>
            <a:endParaRPr lang="en-US" sz="1250" dirty="0"/>
          </a:p>
        </p:txBody>
      </p:sp>
      <p:sp>
        <p:nvSpPr>
          <p:cNvPr id="19" name="Text 17"/>
          <p:cNvSpPr/>
          <p:nvPr/>
        </p:nvSpPr>
        <p:spPr>
          <a:xfrm>
            <a:off x="822960" y="6080760"/>
            <a:ext cx="10332720" cy="457200"/>
          </a:xfrm>
          <a:prstGeom prst="rect">
            <a:avLst/>
          </a:prstGeom>
          <a:noFill/>
          <a:ln/>
        </p:spPr>
        <p:txBody>
          <a:bodyPr wrap="square" rtlCol="0" anchor="ctr"/>
          <a:lstStyle/>
          <a:p>
            <a:pPr indent="0" marL="0">
              <a:buNone/>
            </a:pPr>
            <a:r>
              <a:rPr lang="en-US" sz="1200" i="1" dirty="0">
                <a:solidFill>
                  <a:srgbClr val="4B545C"/>
                </a:solidFill>
                <a:latin typeface="Calibri" pitchFamily="34" charset="0"/>
                <a:ea typeface="Calibri" pitchFamily="34" charset="-122"/>
                <a:cs typeface="Calibri" pitchFamily="34" charset="-120"/>
              </a:rPr>
              <a:t>開発者自身が親戚の土砂災害に居合わせ、徹夜で立ち会った実体験から生まれた課題意識です。</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4E4A"/>
        </a:solidFill>
      </p:bgPr>
    </p:bg>
    <p:spTree>
      <p:nvGrpSpPr>
        <p:cNvPr id="1" name=""/>
        <p:cNvGrpSpPr/>
        <p:nvPr/>
      </p:nvGrpSpPr>
      <p:grpSpPr>
        <a:xfrm>
          <a:off x="0" y="0"/>
          <a:ext cx="0" cy="0"/>
          <a:chOff x="0" y="0"/>
          <a:chExt cx="0" cy="0"/>
        </a:xfrm>
      </p:grpSpPr>
      <p:sp>
        <p:nvSpPr>
          <p:cNvPr id="2" name="Text 0"/>
          <p:cNvSpPr/>
          <p:nvPr/>
        </p:nvSpPr>
        <p:spPr>
          <a:xfrm>
            <a:off x="822960" y="502920"/>
            <a:ext cx="5486400" cy="64008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解決策</a:t>
            </a:r>
            <a:endParaRPr lang="en-US" sz="3400" dirty="0"/>
          </a:p>
        </p:txBody>
      </p:sp>
      <p:sp>
        <p:nvSpPr>
          <p:cNvPr id="3" name="Text 1"/>
          <p:cNvSpPr/>
          <p:nvPr/>
        </p:nvSpPr>
        <p:spPr>
          <a:xfrm>
            <a:off x="822960" y="1143000"/>
            <a:ext cx="10332720" cy="502920"/>
          </a:xfrm>
          <a:prstGeom prst="rect">
            <a:avLst/>
          </a:prstGeom>
          <a:noFill/>
          <a:ln/>
        </p:spPr>
        <p:txBody>
          <a:bodyPr wrap="square" rtlCol="0" anchor="ctr"/>
          <a:lstStyle/>
          <a:p>
            <a:pPr indent="0" marL="0">
              <a:buNone/>
            </a:pPr>
            <a:r>
              <a:rPr lang="en-US" sz="1600" i="1" dirty="0">
                <a:solidFill>
                  <a:srgbClr val="BFE3DA"/>
                </a:solidFill>
                <a:latin typeface="Calibri" pitchFamily="34" charset="0"/>
                <a:ea typeface="Calibri" pitchFamily="34" charset="-122"/>
                <a:cs typeface="Calibri" pitchFamily="34" charset="-120"/>
              </a:rPr>
              <a:t>6桁のコードだけで、家族と現場をつなぐ</a:t>
            </a:r>
            <a:endParaRPr lang="en-US" sz="1600" dirty="0"/>
          </a:p>
        </p:txBody>
      </p:sp>
      <p:sp>
        <p:nvSpPr>
          <p:cNvPr id="4" name="Shape 2"/>
          <p:cNvSpPr/>
          <p:nvPr/>
        </p:nvSpPr>
        <p:spPr>
          <a:xfrm>
            <a:off x="822960" y="2743200"/>
            <a:ext cx="3108960" cy="1554480"/>
          </a:xfrm>
          <a:prstGeom prst="roundRect">
            <a:avLst>
              <a:gd name="adj" fmla="val 8235"/>
            </a:avLst>
          </a:prstGeom>
          <a:solidFill>
            <a:srgbClr val="FFFFFF"/>
          </a:solidFill>
          <a:ln/>
          <a:effectLst>
            <a:outerShdw sx="100000" sy="100000" kx="0" ky="0" algn="bl" rotWithShape="0" blurRad="127000" dist="38100" dir="5400000">
              <a:srgbClr val="000000">
                <a:alpha val="18000"/>
              </a:srgbClr>
            </a:outerShdw>
          </a:effectLst>
        </p:spPr>
        <p:txBody>
          <a:bodyPr/>
          <a:p/>
        </p:txBody>
      </p:sp>
      <p:sp>
        <p:nvSpPr>
          <p:cNvPr id="5" name="Text 3"/>
          <p:cNvSpPr/>
          <p:nvPr/>
        </p:nvSpPr>
        <p:spPr>
          <a:xfrm>
            <a:off x="822960" y="2880360"/>
            <a:ext cx="3108960" cy="640080"/>
          </a:xfrm>
          <a:prstGeom prst="rect">
            <a:avLst/>
          </a:prstGeom>
          <a:noFill/>
          <a:ln/>
        </p:spPr>
        <p:txBody>
          <a:bodyPr wrap="square" lIns="0" tIns="0" rIns="0" bIns="0" rtlCol="0" anchor="ctr"/>
          <a:lstStyle/>
          <a:p>
            <a:pPr algn="ctr" indent="0" marL="0">
              <a:buNone/>
            </a:pPr>
            <a:r>
              <a:rPr lang="en-US" sz="3000" dirty="0">
                <a:solidFill>
                  <a:srgbClr val="000000"/>
                </a:solidFill>
              </a:rPr>
              <a:t>👨‍👩‍👧</a:t>
            </a:r>
            <a:endParaRPr lang="en-US" sz="3000" dirty="0"/>
          </a:p>
        </p:txBody>
      </p:sp>
      <p:sp>
        <p:nvSpPr>
          <p:cNvPr id="6" name="Text 4"/>
          <p:cNvSpPr/>
          <p:nvPr/>
        </p:nvSpPr>
        <p:spPr>
          <a:xfrm>
            <a:off x="822960" y="3611880"/>
            <a:ext cx="3108960" cy="548640"/>
          </a:xfrm>
          <a:prstGeom prst="rect">
            <a:avLst/>
          </a:prstGeom>
          <a:noFill/>
          <a:ln/>
        </p:spPr>
        <p:txBody>
          <a:bodyPr wrap="square" lIns="0" tIns="0" rIns="0" bIns="0" rtlCol="0" anchor="ctr"/>
          <a:lstStyle/>
          <a:p>
            <a:pPr algn="ctr" indent="0" marL="0">
              <a:buNone/>
            </a:pPr>
            <a:r>
              <a:rPr lang="en-US" sz="1400" b="1" dirty="0">
                <a:solidFill>
                  <a:srgbClr val="1C2126"/>
                </a:solidFill>
                <a:latin typeface="Calibri" pitchFamily="34" charset="0"/>
                <a:ea typeface="Calibri" pitchFamily="34" charset="-122"/>
                <a:cs typeface="Calibri" pitchFamily="34" charset="-120"/>
              </a:rPr>
              <a:t>待機する家族・関係者</a:t>
            </a:r>
            <a:endParaRPr lang="en-US" sz="1400" dirty="0"/>
          </a:p>
        </p:txBody>
      </p:sp>
      <p:sp>
        <p:nvSpPr>
          <p:cNvPr id="7" name="Shape 5"/>
          <p:cNvSpPr/>
          <p:nvPr/>
        </p:nvSpPr>
        <p:spPr>
          <a:xfrm>
            <a:off x="4434840" y="2926080"/>
            <a:ext cx="3291840" cy="1188720"/>
          </a:xfrm>
          <a:prstGeom prst="roundRect">
            <a:avLst>
              <a:gd name="adj" fmla="val 46154"/>
            </a:avLst>
          </a:prstGeom>
          <a:solidFill>
            <a:srgbClr val="C98A1F"/>
          </a:solidFill>
          <a:ln/>
          <a:effectLst>
            <a:outerShdw sx="100000" sy="100000" kx="0" ky="0" algn="bl" rotWithShape="0" blurRad="127000" dist="38100" dir="5400000">
              <a:srgbClr val="000000">
                <a:alpha val="18000"/>
              </a:srgbClr>
            </a:outerShdw>
          </a:effectLst>
        </p:spPr>
        <p:txBody>
          <a:bodyPr/>
          <a:p/>
        </p:txBody>
      </p:sp>
      <p:sp>
        <p:nvSpPr>
          <p:cNvPr id="8" name="Text 6"/>
          <p:cNvSpPr/>
          <p:nvPr/>
        </p:nvSpPr>
        <p:spPr>
          <a:xfrm>
            <a:off x="4434840" y="2926080"/>
            <a:ext cx="3291840" cy="1188720"/>
          </a:xfrm>
          <a:prstGeom prst="rect">
            <a:avLst/>
          </a:prstGeom>
          <a:noFill/>
          <a:ln/>
        </p:spPr>
        <p:txBody>
          <a:bodyPr wrap="square" lIns="0" tIns="0" rIns="0" bIns="0" rtlCol="0" anchor="ctr"/>
          <a:lstStyle/>
          <a:p>
            <a:pPr algn="ctr" indent="0" marL="0">
              <a:lnSpc>
                <a:spcPct val="115000"/>
              </a:lnSpc>
              <a:buNone/>
            </a:pPr>
            <a:r>
              <a:rPr lang="en-US" sz="1300" b="1" dirty="0">
                <a:solidFill>
                  <a:srgbClr val="1C2126"/>
                </a:solidFill>
                <a:latin typeface="Calibri" pitchFamily="34" charset="0"/>
                <a:ea typeface="Calibri" pitchFamily="34" charset="-122"/>
                <a:cs typeface="Calibri" pitchFamily="34" charset="-120"/>
              </a:rPr>
              <a:t>現場ルーム</a:t>
            </a:r>
            <a:endParaRPr lang="en-US" sz="1300" dirty="0"/>
          </a:p>
          <a:p>
            <a:pPr algn="ctr" indent="0" marL="0">
              <a:lnSpc>
                <a:spcPct val="115000"/>
              </a:lnSpc>
              <a:buNone/>
            </a:pPr>
            <a:r>
              <a:rPr lang="en-US" sz="1300" b="1" dirty="0">
                <a:solidFill>
                  <a:srgbClr val="1C2126"/>
                </a:solidFill>
                <a:latin typeface="Calibri" pitchFamily="34" charset="0"/>
                <a:ea typeface="Calibri" pitchFamily="34" charset="-122"/>
                <a:cs typeface="Calibri" pitchFamily="34" charset="-120"/>
              </a:rPr>
              <a:t>6桁コード・ログイン不要</a:t>
            </a:r>
            <a:endParaRPr lang="en-US" sz="1300" dirty="0"/>
          </a:p>
        </p:txBody>
      </p:sp>
      <p:sp>
        <p:nvSpPr>
          <p:cNvPr id="9" name="Shape 7"/>
          <p:cNvSpPr/>
          <p:nvPr/>
        </p:nvSpPr>
        <p:spPr>
          <a:xfrm>
            <a:off x="8229600" y="2743200"/>
            <a:ext cx="3108960" cy="1554480"/>
          </a:xfrm>
          <a:prstGeom prst="roundRect">
            <a:avLst>
              <a:gd name="adj" fmla="val 8235"/>
            </a:avLst>
          </a:prstGeom>
          <a:solidFill>
            <a:srgbClr val="FFFFFF"/>
          </a:solidFill>
          <a:ln/>
          <a:effectLst>
            <a:outerShdw sx="100000" sy="100000" kx="0" ky="0" algn="bl" rotWithShape="0" blurRad="127000" dist="38100" dir="5400000">
              <a:srgbClr val="000000">
                <a:alpha val="18000"/>
              </a:srgbClr>
            </a:outerShdw>
          </a:effectLst>
        </p:spPr>
        <p:txBody>
          <a:bodyPr/>
          <a:p/>
        </p:txBody>
      </p:sp>
      <p:sp>
        <p:nvSpPr>
          <p:cNvPr id="10" name="Text 8"/>
          <p:cNvSpPr/>
          <p:nvPr/>
        </p:nvSpPr>
        <p:spPr>
          <a:xfrm>
            <a:off x="8229600" y="2880360"/>
            <a:ext cx="3108960" cy="640080"/>
          </a:xfrm>
          <a:prstGeom prst="rect">
            <a:avLst/>
          </a:prstGeom>
          <a:noFill/>
          <a:ln/>
        </p:spPr>
        <p:txBody>
          <a:bodyPr wrap="square" lIns="0" tIns="0" rIns="0" bIns="0" rtlCol="0" anchor="ctr"/>
          <a:lstStyle/>
          <a:p>
            <a:pPr algn="ctr" indent="0" marL="0">
              <a:buNone/>
            </a:pPr>
            <a:r>
              <a:rPr lang="en-US" sz="3000" dirty="0">
                <a:solidFill>
                  <a:srgbClr val="000000"/>
                </a:solidFill>
              </a:rPr>
              <a:t>🚒</a:t>
            </a:r>
            <a:endParaRPr lang="en-US" sz="3000" dirty="0"/>
          </a:p>
        </p:txBody>
      </p:sp>
      <p:sp>
        <p:nvSpPr>
          <p:cNvPr id="11" name="Text 9"/>
          <p:cNvSpPr/>
          <p:nvPr/>
        </p:nvSpPr>
        <p:spPr>
          <a:xfrm>
            <a:off x="8229600" y="3611880"/>
            <a:ext cx="3108960" cy="548640"/>
          </a:xfrm>
          <a:prstGeom prst="rect">
            <a:avLst/>
          </a:prstGeom>
          <a:noFill/>
          <a:ln/>
        </p:spPr>
        <p:txBody>
          <a:bodyPr wrap="square" lIns="0" tIns="0" rIns="0" bIns="0" rtlCol="0" anchor="ctr"/>
          <a:lstStyle/>
          <a:p>
            <a:pPr algn="ctr" indent="0" marL="0">
              <a:buNone/>
            </a:pPr>
            <a:r>
              <a:rPr lang="en-US" sz="1400" b="1" dirty="0">
                <a:solidFill>
                  <a:srgbClr val="1C2126"/>
                </a:solidFill>
                <a:latin typeface="Calibri" pitchFamily="34" charset="0"/>
                <a:ea typeface="Calibri" pitchFamily="34" charset="-122"/>
                <a:cs typeface="Calibri" pitchFamily="34" charset="-120"/>
              </a:rPr>
              <a:t>現場指揮・救助隊</a:t>
            </a:r>
            <a:endParaRPr lang="en-US" sz="1400" dirty="0"/>
          </a:p>
        </p:txBody>
      </p:sp>
      <p:sp>
        <p:nvSpPr>
          <p:cNvPr id="12" name="Text 10"/>
          <p:cNvSpPr/>
          <p:nvPr/>
        </p:nvSpPr>
        <p:spPr>
          <a:xfrm>
            <a:off x="3611880" y="3063240"/>
            <a:ext cx="960120" cy="914400"/>
          </a:xfrm>
          <a:prstGeom prst="rect">
            <a:avLst/>
          </a:prstGeom>
          <a:noFill/>
          <a:ln/>
        </p:spPr>
        <p:txBody>
          <a:bodyPr wrap="square" lIns="0" tIns="0" rIns="0" bIns="0" rtlCol="0" anchor="ctr"/>
          <a:lstStyle/>
          <a:p>
            <a:pPr algn="ctr" indent="0" marL="0">
              <a:buNone/>
            </a:pPr>
            <a:r>
              <a:rPr lang="en-US" sz="3400" b="1" dirty="0">
                <a:solidFill>
                  <a:srgbClr val="FFFFFF"/>
                </a:solidFill>
              </a:rPr>
              <a:t>→</a:t>
            </a:r>
            <a:endParaRPr lang="en-US" sz="3400" dirty="0"/>
          </a:p>
        </p:txBody>
      </p:sp>
      <p:sp>
        <p:nvSpPr>
          <p:cNvPr id="13" name="Text 11"/>
          <p:cNvSpPr/>
          <p:nvPr/>
        </p:nvSpPr>
        <p:spPr>
          <a:xfrm>
            <a:off x="7452360" y="3063240"/>
            <a:ext cx="960120" cy="914400"/>
          </a:xfrm>
          <a:prstGeom prst="rect">
            <a:avLst/>
          </a:prstGeom>
          <a:noFill/>
          <a:ln/>
        </p:spPr>
        <p:txBody>
          <a:bodyPr wrap="square" lIns="0" tIns="0" rIns="0" bIns="0" rtlCol="0" anchor="ctr"/>
          <a:lstStyle/>
          <a:p>
            <a:pPr algn="ctr" indent="0" marL="0">
              <a:buNone/>
            </a:pPr>
            <a:r>
              <a:rPr lang="en-US" sz="3400" b="1" dirty="0">
                <a:solidFill>
                  <a:srgbClr val="FFFFFF"/>
                </a:solidFill>
              </a:rPr>
              <a:t>→</a:t>
            </a:r>
            <a:endParaRPr lang="en-US" sz="3400" dirty="0"/>
          </a:p>
        </p:txBody>
      </p:sp>
      <p:sp>
        <p:nvSpPr>
          <p:cNvPr id="14" name="Text 12"/>
          <p:cNvSpPr/>
          <p:nvPr/>
        </p:nvSpPr>
        <p:spPr>
          <a:xfrm>
            <a:off x="822960" y="4846320"/>
            <a:ext cx="10515600" cy="548640"/>
          </a:xfrm>
          <a:prstGeom prst="rect">
            <a:avLst/>
          </a:prstGeom>
          <a:noFill/>
          <a:ln/>
        </p:spPr>
        <p:txBody>
          <a:bodyPr wrap="square" rtlCol="0" anchor="ctr"/>
          <a:lstStyle/>
          <a:p>
            <a:pPr indent="0" marL="0">
              <a:buNone/>
            </a:pPr>
            <a:r>
              <a:rPr lang="en-US" sz="1500" dirty="0">
                <a:solidFill>
                  <a:srgbClr val="FFFFFF"/>
                </a:solidFill>
                <a:latin typeface="Calibri" pitchFamily="34" charset="0"/>
                <a:ea typeface="Calibri" pitchFamily="34" charset="-122"/>
                <a:cs typeface="Calibri" pitchFamily="34" charset="-120"/>
              </a:rPr>
              <a:t>事前に整理された情報がそのまま届くため、聞き取りの手間がなくなり、捜索・救助のスピードが落ちない。</a:t>
            </a:r>
            <a:endParaRPr lang="en-US" sz="1500" dirty="0"/>
          </a:p>
        </p:txBody>
      </p:sp>
      <p:sp>
        <p:nvSpPr>
          <p:cNvPr id="15" name="Text 13"/>
          <p:cNvSpPr/>
          <p:nvPr/>
        </p:nvSpPr>
        <p:spPr>
          <a:xfrm>
            <a:off x="822960" y="5486400"/>
            <a:ext cx="10515600" cy="457200"/>
          </a:xfrm>
          <a:prstGeom prst="rect">
            <a:avLst/>
          </a:prstGeom>
          <a:noFill/>
          <a:ln/>
        </p:spPr>
        <p:txBody>
          <a:bodyPr wrap="square" rtlCol="0" anchor="ctr"/>
          <a:lstStyle/>
          <a:p>
            <a:pPr indent="0" marL="0">
              <a:buNone/>
            </a:pPr>
            <a:r>
              <a:rPr lang="en-US" sz="1200" dirty="0">
                <a:solidFill>
                  <a:srgbClr val="9FC7BC"/>
                </a:solidFill>
                <a:latin typeface="Calibri" pitchFamily="34" charset="0"/>
                <a:ea typeface="Calibri" pitchFamily="34" charset="-122"/>
                <a:cs typeface="Calibri" pitchFamily="34" charset="-120"/>
              </a:rPr>
              <a:t>対象データは東京都建設局河川部のオープンデータ（CC BY 4.0）を活用。Cloudflare Workers + D1で構築、完全無料で運用。</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5486400" cy="640080"/>
          </a:xfrm>
          <a:prstGeom prst="rect">
            <a:avLst/>
          </a:prstGeom>
          <a:noFill/>
          <a:ln/>
        </p:spPr>
        <p:txBody>
          <a:bodyPr wrap="square" rtlCol="0" anchor="ctr"/>
          <a:lstStyle/>
          <a:p>
            <a:pPr indent="0" marL="0">
              <a:buNone/>
            </a:pPr>
            <a:r>
              <a:rPr lang="en-US" sz="3400" b="1" dirty="0">
                <a:solidFill>
                  <a:srgbClr val="1F4E4A"/>
                </a:solidFill>
                <a:latin typeface="Cambria" pitchFamily="34" charset="0"/>
                <a:ea typeface="Cambria" pitchFamily="34" charset="-122"/>
                <a:cs typeface="Cambria" pitchFamily="34" charset="-120"/>
              </a:rPr>
              <a:t>プロダクト</a:t>
            </a:r>
            <a:endParaRPr lang="en-US" sz="3400" dirty="0"/>
          </a:p>
        </p:txBody>
      </p:sp>
      <p:sp>
        <p:nvSpPr>
          <p:cNvPr id="3" name="Text 1"/>
          <p:cNvSpPr/>
          <p:nvPr/>
        </p:nvSpPr>
        <p:spPr>
          <a:xfrm>
            <a:off x="822960" y="1143000"/>
            <a:ext cx="5486400" cy="457200"/>
          </a:xfrm>
          <a:prstGeom prst="rect">
            <a:avLst/>
          </a:prstGeom>
          <a:noFill/>
          <a:ln/>
        </p:spPr>
        <p:txBody>
          <a:bodyPr wrap="square" rtlCol="0" anchor="ctr"/>
          <a:lstStyle/>
          <a:p>
            <a:pPr indent="0" marL="0">
              <a:buNone/>
            </a:pPr>
            <a:r>
              <a:rPr lang="en-US" sz="1600" i="1" dirty="0">
                <a:solidFill>
                  <a:srgbClr val="4B545C"/>
                </a:solidFill>
                <a:latin typeface="Calibri" pitchFamily="34" charset="0"/>
                <a:ea typeface="Calibri" pitchFamily="34" charset="-122"/>
                <a:cs typeface="Calibri" pitchFamily="34" charset="-120"/>
              </a:rPr>
              <a:t>4つの核心機能</a:t>
            </a:r>
            <a:endParaRPr lang="en-US" sz="1600" dirty="0"/>
          </a:p>
        </p:txBody>
      </p:sp>
      <p:sp>
        <p:nvSpPr>
          <p:cNvPr id="4" name="Shape 2"/>
          <p:cNvSpPr/>
          <p:nvPr/>
        </p:nvSpPr>
        <p:spPr>
          <a:xfrm>
            <a:off x="822960" y="1828800"/>
            <a:ext cx="685800" cy="685800"/>
          </a:xfrm>
          <a:prstGeom prst="ellipse">
            <a:avLst/>
          </a:prstGeom>
          <a:solidFill>
            <a:srgbClr val="F4F5F3"/>
          </a:solidFill>
          <a:ln w="15875">
            <a:solidFill>
              <a:srgbClr val="1F4E4A"/>
            </a:solidFill>
            <a:prstDash val="solid"/>
          </a:ln>
        </p:spPr>
        <p:txBody>
          <a:bodyPr/>
          <a:p/>
        </p:txBody>
      </p:sp>
      <p:sp>
        <p:nvSpPr>
          <p:cNvPr id="5" name="Text 3"/>
          <p:cNvSpPr/>
          <p:nvPr/>
        </p:nvSpPr>
        <p:spPr>
          <a:xfrm>
            <a:off x="822960" y="1828800"/>
            <a:ext cx="685800" cy="6858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6" name="Text 4"/>
          <p:cNvSpPr/>
          <p:nvPr/>
        </p:nvSpPr>
        <p:spPr>
          <a:xfrm>
            <a:off x="1737360" y="1801368"/>
            <a:ext cx="4023360" cy="365760"/>
          </a:xfrm>
          <a:prstGeom prst="rect">
            <a:avLst/>
          </a:prstGeom>
          <a:noFill/>
          <a:ln/>
        </p:spPr>
        <p:txBody>
          <a:bodyPr wrap="square" lIns="0" tIns="0" rIns="0" bIns="0" rtlCol="0" anchor="ctr"/>
          <a:lstStyle/>
          <a:p>
            <a:pPr indent="0" marL="0">
              <a:buNone/>
            </a:pPr>
            <a:r>
              <a:rPr lang="en-US" sz="1500" b="1" dirty="0">
                <a:solidFill>
                  <a:srgbClr val="1C2126"/>
                </a:solidFill>
                <a:latin typeface="Calibri" pitchFamily="34" charset="0"/>
                <a:ea typeface="Calibri" pitchFamily="34" charset="-122"/>
                <a:cs typeface="Calibri" pitchFamily="34" charset="-120"/>
              </a:rPr>
              <a:t>危険エリアの可視化</a:t>
            </a:r>
            <a:endParaRPr lang="en-US" sz="1500" dirty="0"/>
          </a:p>
        </p:txBody>
      </p:sp>
      <p:sp>
        <p:nvSpPr>
          <p:cNvPr id="7" name="Text 5"/>
          <p:cNvSpPr/>
          <p:nvPr/>
        </p:nvSpPr>
        <p:spPr>
          <a:xfrm>
            <a:off x="1737360" y="2167128"/>
            <a:ext cx="4023360" cy="594360"/>
          </a:xfrm>
          <a:prstGeom prst="rect">
            <a:avLst/>
          </a:prstGeom>
          <a:noFill/>
          <a:ln/>
        </p:spPr>
        <p:txBody>
          <a:bodyPr wrap="square" lIns="0" tIns="0" rIns="0" bIns="0" rtlCol="0" anchor="ctr"/>
          <a:lstStyle/>
          <a:p>
            <a:pPr indent="0" marL="0">
              <a:lnSpc>
                <a:spcPct val="115000"/>
              </a:lnSpc>
              <a:buNone/>
            </a:pPr>
            <a:r>
              <a:rPr lang="en-US" sz="1100" dirty="0">
                <a:solidFill>
                  <a:srgbClr val="4B545C"/>
                </a:solidFill>
                <a:latin typeface="Calibri" pitchFamily="34" charset="0"/>
                <a:ea typeface="Calibri" pitchFamily="34" charset="-122"/>
                <a:cs typeface="Calibri" pitchFamily="34" charset="-120"/>
              </a:rPr>
              <a:t>東京都の土砂災害警戒区域データを地図上に色分け表示</a:t>
            </a:r>
            <a:endParaRPr lang="en-US" sz="1100" dirty="0"/>
          </a:p>
        </p:txBody>
      </p:sp>
      <p:sp>
        <p:nvSpPr>
          <p:cNvPr id="8" name="Shape 6"/>
          <p:cNvSpPr/>
          <p:nvPr/>
        </p:nvSpPr>
        <p:spPr>
          <a:xfrm>
            <a:off x="822960" y="2857500"/>
            <a:ext cx="685800" cy="685800"/>
          </a:xfrm>
          <a:prstGeom prst="ellipse">
            <a:avLst/>
          </a:prstGeom>
          <a:solidFill>
            <a:srgbClr val="F4F5F3"/>
          </a:solidFill>
          <a:ln w="15875">
            <a:solidFill>
              <a:srgbClr val="1F4E4A"/>
            </a:solidFill>
            <a:prstDash val="solid"/>
          </a:ln>
        </p:spPr>
        <p:txBody>
          <a:bodyPr/>
          <a:p/>
        </p:txBody>
      </p:sp>
      <p:sp>
        <p:nvSpPr>
          <p:cNvPr id="9" name="Text 7"/>
          <p:cNvSpPr/>
          <p:nvPr/>
        </p:nvSpPr>
        <p:spPr>
          <a:xfrm>
            <a:off x="822960" y="2857500"/>
            <a:ext cx="685800" cy="6858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0" name="Text 8"/>
          <p:cNvSpPr/>
          <p:nvPr/>
        </p:nvSpPr>
        <p:spPr>
          <a:xfrm>
            <a:off x="1737360" y="2830068"/>
            <a:ext cx="4023360" cy="365760"/>
          </a:xfrm>
          <a:prstGeom prst="rect">
            <a:avLst/>
          </a:prstGeom>
          <a:noFill/>
          <a:ln/>
        </p:spPr>
        <p:txBody>
          <a:bodyPr wrap="square" lIns="0" tIns="0" rIns="0" bIns="0" rtlCol="0" anchor="ctr"/>
          <a:lstStyle/>
          <a:p>
            <a:pPr indent="0" marL="0">
              <a:buNone/>
            </a:pPr>
            <a:r>
              <a:rPr lang="en-US" sz="1500" b="1" dirty="0">
                <a:solidFill>
                  <a:srgbClr val="1C2126"/>
                </a:solidFill>
                <a:latin typeface="Calibri" pitchFamily="34" charset="0"/>
                <a:ea typeface="Calibri" pitchFamily="34" charset="-122"/>
                <a:cs typeface="Calibri" pitchFamily="34" charset="-120"/>
              </a:rPr>
              <a:t>事前問診フォーム</a:t>
            </a:r>
            <a:endParaRPr lang="en-US" sz="1500" dirty="0"/>
          </a:p>
        </p:txBody>
      </p:sp>
      <p:sp>
        <p:nvSpPr>
          <p:cNvPr id="11" name="Text 9"/>
          <p:cNvSpPr/>
          <p:nvPr/>
        </p:nvSpPr>
        <p:spPr>
          <a:xfrm>
            <a:off x="1737360" y="3195828"/>
            <a:ext cx="4023360" cy="594360"/>
          </a:xfrm>
          <a:prstGeom prst="rect">
            <a:avLst/>
          </a:prstGeom>
          <a:noFill/>
          <a:ln/>
        </p:spPr>
        <p:txBody>
          <a:bodyPr wrap="square" lIns="0" tIns="0" rIns="0" bIns="0" rtlCol="0" anchor="ctr"/>
          <a:lstStyle/>
          <a:p>
            <a:pPr indent="0" marL="0">
              <a:lnSpc>
                <a:spcPct val="115000"/>
              </a:lnSpc>
              <a:buNone/>
            </a:pPr>
            <a:r>
              <a:rPr lang="en-US" sz="1100" dirty="0">
                <a:solidFill>
                  <a:srgbClr val="4B545C"/>
                </a:solidFill>
                <a:latin typeface="Calibri" pitchFamily="34" charset="0"/>
                <a:ea typeface="Calibri" pitchFamily="34" charset="-122"/>
                <a:cs typeface="Calibri" pitchFamily="34" charset="-120"/>
              </a:rPr>
              <a:t>行方不明者情報を家族が事前入力。音声ガイドで一問一答入力も可能</a:t>
            </a:r>
            <a:endParaRPr lang="en-US" sz="1100" dirty="0"/>
          </a:p>
        </p:txBody>
      </p:sp>
      <p:sp>
        <p:nvSpPr>
          <p:cNvPr id="12" name="Shape 10"/>
          <p:cNvSpPr/>
          <p:nvPr/>
        </p:nvSpPr>
        <p:spPr>
          <a:xfrm>
            <a:off x="822960" y="3886200"/>
            <a:ext cx="685800" cy="685800"/>
          </a:xfrm>
          <a:prstGeom prst="ellipse">
            <a:avLst/>
          </a:prstGeom>
          <a:solidFill>
            <a:srgbClr val="F4F5F3"/>
          </a:solidFill>
          <a:ln w="15875">
            <a:solidFill>
              <a:srgbClr val="1F4E4A"/>
            </a:solidFill>
            <a:prstDash val="solid"/>
          </a:ln>
        </p:spPr>
        <p:txBody>
          <a:bodyPr/>
          <a:p/>
        </p:txBody>
      </p:sp>
      <p:sp>
        <p:nvSpPr>
          <p:cNvPr id="13" name="Text 11"/>
          <p:cNvSpPr/>
          <p:nvPr/>
        </p:nvSpPr>
        <p:spPr>
          <a:xfrm>
            <a:off x="822960" y="3886200"/>
            <a:ext cx="685800" cy="6858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Text 12"/>
          <p:cNvSpPr/>
          <p:nvPr/>
        </p:nvSpPr>
        <p:spPr>
          <a:xfrm>
            <a:off x="1737360" y="3858768"/>
            <a:ext cx="4023360" cy="365760"/>
          </a:xfrm>
          <a:prstGeom prst="rect">
            <a:avLst/>
          </a:prstGeom>
          <a:noFill/>
          <a:ln/>
        </p:spPr>
        <p:txBody>
          <a:bodyPr wrap="square" lIns="0" tIns="0" rIns="0" bIns="0" rtlCol="0" anchor="ctr"/>
          <a:lstStyle/>
          <a:p>
            <a:pPr indent="0" marL="0">
              <a:buNone/>
            </a:pPr>
            <a:r>
              <a:rPr lang="en-US" sz="1500" b="1" dirty="0">
                <a:solidFill>
                  <a:srgbClr val="1C2126"/>
                </a:solidFill>
                <a:latin typeface="Calibri" pitchFamily="34" charset="0"/>
                <a:ea typeface="Calibri" pitchFamily="34" charset="-122"/>
                <a:cs typeface="Calibri" pitchFamily="34" charset="-120"/>
              </a:rPr>
              <a:t>間取り 手書き共有</a:t>
            </a:r>
            <a:endParaRPr lang="en-US" sz="1500" dirty="0"/>
          </a:p>
        </p:txBody>
      </p:sp>
      <p:sp>
        <p:nvSpPr>
          <p:cNvPr id="15" name="Text 13"/>
          <p:cNvSpPr/>
          <p:nvPr/>
        </p:nvSpPr>
        <p:spPr>
          <a:xfrm>
            <a:off x="1737360" y="4224528"/>
            <a:ext cx="4023360" cy="594360"/>
          </a:xfrm>
          <a:prstGeom prst="rect">
            <a:avLst/>
          </a:prstGeom>
          <a:noFill/>
          <a:ln/>
        </p:spPr>
        <p:txBody>
          <a:bodyPr wrap="square" lIns="0" tIns="0" rIns="0" bIns="0" rtlCol="0" anchor="ctr"/>
          <a:lstStyle/>
          <a:p>
            <a:pPr indent="0" marL="0">
              <a:lnSpc>
                <a:spcPct val="115000"/>
              </a:lnSpc>
              <a:buNone/>
            </a:pPr>
            <a:r>
              <a:rPr lang="en-US" sz="1100" dirty="0">
                <a:solidFill>
                  <a:srgbClr val="4B545C"/>
                </a:solidFill>
                <a:latin typeface="Calibri" pitchFamily="34" charset="0"/>
                <a:ea typeface="Calibri" pitchFamily="34" charset="-122"/>
                <a:cs typeface="Calibri" pitchFamily="34" charset="-120"/>
              </a:rPr>
              <a:t>救助隊員に聞かれる前に、簡易な間取り図を描いて先回りで共有</a:t>
            </a:r>
            <a:endParaRPr lang="en-US" sz="1100" dirty="0"/>
          </a:p>
        </p:txBody>
      </p:sp>
      <p:sp>
        <p:nvSpPr>
          <p:cNvPr id="16" name="Shape 14"/>
          <p:cNvSpPr/>
          <p:nvPr/>
        </p:nvSpPr>
        <p:spPr>
          <a:xfrm>
            <a:off x="822960" y="4914900"/>
            <a:ext cx="685800" cy="685800"/>
          </a:xfrm>
          <a:prstGeom prst="ellipse">
            <a:avLst/>
          </a:prstGeom>
          <a:solidFill>
            <a:srgbClr val="F4F5F3"/>
          </a:solidFill>
          <a:ln w="15875">
            <a:solidFill>
              <a:srgbClr val="1F4E4A"/>
            </a:solidFill>
            <a:prstDash val="solid"/>
          </a:ln>
        </p:spPr>
        <p:txBody>
          <a:bodyPr/>
          <a:p/>
        </p:txBody>
      </p:sp>
      <p:sp>
        <p:nvSpPr>
          <p:cNvPr id="17" name="Text 15"/>
          <p:cNvSpPr/>
          <p:nvPr/>
        </p:nvSpPr>
        <p:spPr>
          <a:xfrm>
            <a:off x="822960" y="4914900"/>
            <a:ext cx="685800" cy="6858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Text 16"/>
          <p:cNvSpPr/>
          <p:nvPr/>
        </p:nvSpPr>
        <p:spPr>
          <a:xfrm>
            <a:off x="1737360" y="4887468"/>
            <a:ext cx="4023360" cy="365760"/>
          </a:xfrm>
          <a:prstGeom prst="rect">
            <a:avLst/>
          </a:prstGeom>
          <a:noFill/>
          <a:ln/>
        </p:spPr>
        <p:txBody>
          <a:bodyPr wrap="square" lIns="0" tIns="0" rIns="0" bIns="0" rtlCol="0" anchor="ctr"/>
          <a:lstStyle/>
          <a:p>
            <a:pPr indent="0" marL="0">
              <a:buNone/>
            </a:pPr>
            <a:r>
              <a:rPr lang="en-US" sz="1500" b="1" dirty="0">
                <a:solidFill>
                  <a:srgbClr val="1C2126"/>
                </a:solidFill>
                <a:latin typeface="Calibri" pitchFamily="34" charset="0"/>
                <a:ea typeface="Calibri" pitchFamily="34" charset="-122"/>
                <a:cs typeface="Calibri" pitchFamily="34" charset="-120"/>
              </a:rPr>
              <a:t>前兆現象の共有</a:t>
            </a:r>
            <a:endParaRPr lang="en-US" sz="1500" dirty="0"/>
          </a:p>
        </p:txBody>
      </p:sp>
      <p:sp>
        <p:nvSpPr>
          <p:cNvPr id="19" name="Text 17"/>
          <p:cNvSpPr/>
          <p:nvPr/>
        </p:nvSpPr>
        <p:spPr>
          <a:xfrm>
            <a:off x="1737360" y="5253228"/>
            <a:ext cx="4023360" cy="594360"/>
          </a:xfrm>
          <a:prstGeom prst="rect">
            <a:avLst/>
          </a:prstGeom>
          <a:noFill/>
          <a:ln/>
        </p:spPr>
        <p:txBody>
          <a:bodyPr wrap="square" lIns="0" tIns="0" rIns="0" bIns="0" rtlCol="0" anchor="ctr"/>
          <a:lstStyle/>
          <a:p>
            <a:pPr indent="0" marL="0">
              <a:lnSpc>
                <a:spcPct val="115000"/>
              </a:lnSpc>
              <a:buNone/>
            </a:pPr>
            <a:r>
              <a:rPr lang="en-US" sz="1100" dirty="0">
                <a:solidFill>
                  <a:srgbClr val="4B545C"/>
                </a:solidFill>
                <a:latin typeface="Calibri" pitchFamily="34" charset="0"/>
                <a:ea typeface="Calibri" pitchFamily="34" charset="-122"/>
                <a:cs typeface="Calibri" pitchFamily="34" charset="-120"/>
              </a:rPr>
              <a:t>公式チェックリストに基づく目撃情報をワンタップで共有</a:t>
            </a:r>
            <a:endParaRPr lang="en-US" sz="1100" dirty="0"/>
          </a:p>
        </p:txBody>
      </p:sp>
      <p:sp>
        <p:nvSpPr>
          <p:cNvPr id="20" name="Shape 18"/>
          <p:cNvSpPr/>
          <p:nvPr/>
        </p:nvSpPr>
        <p:spPr>
          <a:xfrm>
            <a:off x="6263640" y="1828800"/>
            <a:ext cx="5120640" cy="4526280"/>
          </a:xfrm>
          <a:prstGeom prst="roundRect">
            <a:avLst>
              <a:gd name="adj" fmla="val 1616"/>
            </a:avLst>
          </a:prstGeom>
          <a:solidFill>
            <a:srgbClr val="F4F5F3"/>
          </a:solidFill>
          <a:ln w="12700">
            <a:solidFill>
              <a:srgbClr val="DCDFDC"/>
            </a:solidFill>
            <a:prstDash val="solid"/>
          </a:ln>
          <a:effectLst>
            <a:outerShdw sx="100000" sy="100000" kx="0" ky="0" algn="bl" rotWithShape="0" blurRad="127000" dist="38100" dir="5400000">
              <a:srgbClr val="000000">
                <a:alpha val="18000"/>
              </a:srgbClr>
            </a:outerShdw>
          </a:effectLst>
        </p:spPr>
        <p:txBody>
          <a:bodyPr/>
          <a:p/>
        </p:txBody>
      </p:sp>
      <p:pic>
        <p:nvPicPr>
          <p:cNvPr id="21" name="Image 0" descr="/home/user/Kizashi/kizashi-app/submission/screenshot_02_floorplan.png">    </p:cNvPr>
          <p:cNvPicPr>
            <a:picLocks noChangeAspect="1"/>
          </p:cNvPicPr>
          <p:nvPr/>
        </p:nvPicPr>
        <p:blipFill>
          <a:blip r:embed="rId1"/>
          <a:stretch>
            <a:fillRect/>
          </a:stretch>
        </p:blipFill>
        <p:spPr>
          <a:xfrm>
            <a:off x="6446520" y="2011680"/>
            <a:ext cx="4754880" cy="2674620"/>
          </a:xfrm>
          <a:prstGeom prst="rect">
            <a:avLst/>
          </a:prstGeom>
        </p:spPr>
      </p:pic>
      <p:sp>
        <p:nvSpPr>
          <p:cNvPr id="22" name="Text 19"/>
          <p:cNvSpPr/>
          <p:nvPr/>
        </p:nvSpPr>
        <p:spPr>
          <a:xfrm>
            <a:off x="6446520" y="4754880"/>
            <a:ext cx="4754880" cy="365760"/>
          </a:xfrm>
          <a:prstGeom prst="rect">
            <a:avLst/>
          </a:prstGeom>
          <a:noFill/>
          <a:ln/>
        </p:spPr>
        <p:txBody>
          <a:bodyPr wrap="square" rtlCol="0" anchor="ctr"/>
          <a:lstStyle/>
          <a:p>
            <a:pPr indent="0" marL="0">
              <a:buNone/>
            </a:pPr>
            <a:r>
              <a:rPr lang="en-US" sz="1100" i="1" dirty="0">
                <a:solidFill>
                  <a:srgbClr val="4B545C"/>
                </a:solidFill>
                <a:latin typeface="Calibri" pitchFamily="34" charset="0"/>
                <a:ea typeface="Calibri" pitchFamily="34" charset="-122"/>
                <a:cs typeface="Calibri" pitchFamily="34" charset="-120"/>
              </a:rPr>
              <a:t>画面例：家の間取り 手書き共有</a:t>
            </a:r>
            <a:endParaRPr lang="en-US" sz="1100" dirty="0"/>
          </a:p>
        </p:txBody>
      </p:sp>
      <p:sp>
        <p:nvSpPr>
          <p:cNvPr id="23" name="Text 20"/>
          <p:cNvSpPr/>
          <p:nvPr/>
        </p:nvSpPr>
        <p:spPr>
          <a:xfrm>
            <a:off x="6446520" y="5166360"/>
            <a:ext cx="4754880" cy="1005840"/>
          </a:xfrm>
          <a:prstGeom prst="rect">
            <a:avLst/>
          </a:prstGeom>
          <a:noFill/>
          <a:ln/>
        </p:spPr>
        <p:txBody>
          <a:bodyPr wrap="square" rtlCol="0" anchor="ctr"/>
          <a:lstStyle/>
          <a:p>
            <a:pPr indent="0" marL="0">
              <a:lnSpc>
                <a:spcPct val="130000"/>
              </a:lnSpc>
              <a:buNone/>
            </a:pPr>
            <a:r>
              <a:rPr lang="en-US" sz="1250" dirty="0">
                <a:solidFill>
                  <a:srgbClr val="1C2126"/>
                </a:solidFill>
                <a:latin typeface="Calibri" pitchFamily="34" charset="0"/>
                <a:ea typeface="Calibri" pitchFamily="34" charset="-122"/>
                <a:cs typeface="Calibri" pitchFamily="34" charset="-120"/>
              </a:rPr>
              <a:t>手が震えて文字入力が難しい状況でも、なぞって描くだけで伝えられる。</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5486400" cy="640080"/>
          </a:xfrm>
          <a:prstGeom prst="rect">
            <a:avLst/>
          </a:prstGeom>
          <a:noFill/>
          <a:ln/>
        </p:spPr>
        <p:txBody>
          <a:bodyPr wrap="square" rtlCol="0" anchor="ctr"/>
          <a:lstStyle/>
          <a:p>
            <a:pPr indent="0" marL="0">
              <a:buNone/>
            </a:pPr>
            <a:r>
              <a:rPr lang="en-US" sz="3400" b="1" dirty="0">
                <a:solidFill>
                  <a:srgbClr val="1F4E4A"/>
                </a:solidFill>
                <a:latin typeface="Cambria" pitchFamily="34" charset="0"/>
                <a:ea typeface="Cambria" pitchFamily="34" charset="-122"/>
                <a:cs typeface="Cambria" pitchFamily="34" charset="-120"/>
              </a:rPr>
              <a:t>プロダクト</a:t>
            </a:r>
            <a:endParaRPr lang="en-US" sz="3400" dirty="0"/>
          </a:p>
        </p:txBody>
      </p:sp>
      <p:sp>
        <p:nvSpPr>
          <p:cNvPr id="3" name="Text 1"/>
          <p:cNvSpPr/>
          <p:nvPr/>
        </p:nvSpPr>
        <p:spPr>
          <a:xfrm>
            <a:off x="822960" y="1143000"/>
            <a:ext cx="9144000" cy="457200"/>
          </a:xfrm>
          <a:prstGeom prst="rect">
            <a:avLst/>
          </a:prstGeom>
          <a:noFill/>
          <a:ln/>
        </p:spPr>
        <p:txBody>
          <a:bodyPr wrap="square" rtlCol="0" anchor="ctr"/>
          <a:lstStyle/>
          <a:p>
            <a:pPr indent="0" marL="0">
              <a:buNone/>
            </a:pPr>
            <a:r>
              <a:rPr lang="en-US" sz="1600" i="1" dirty="0">
                <a:solidFill>
                  <a:srgbClr val="4B545C"/>
                </a:solidFill>
                <a:latin typeface="Calibri" pitchFamily="34" charset="0"/>
                <a:ea typeface="Calibri" pitchFamily="34" charset="-122"/>
                <a:cs typeface="Calibri" pitchFamily="34" charset="-120"/>
              </a:rPr>
              <a:t>危機感を伝えるUXと、そっと寄り添うAI</a:t>
            </a:r>
            <a:endParaRPr lang="en-US" sz="1600" dirty="0"/>
          </a:p>
        </p:txBody>
      </p:sp>
      <p:sp>
        <p:nvSpPr>
          <p:cNvPr id="4" name="Shape 2"/>
          <p:cNvSpPr/>
          <p:nvPr/>
        </p:nvSpPr>
        <p:spPr>
          <a:xfrm>
            <a:off x="822960" y="1874520"/>
            <a:ext cx="5212080" cy="4160520"/>
          </a:xfrm>
          <a:prstGeom prst="roundRect">
            <a:avLst>
              <a:gd name="adj" fmla="val 1758"/>
            </a:avLst>
          </a:prstGeom>
          <a:solidFill>
            <a:srgbClr val="F4F5F3"/>
          </a:solidFill>
          <a:ln w="12700">
            <a:solidFill>
              <a:srgbClr val="DCDFDC"/>
            </a:solidFill>
            <a:prstDash val="solid"/>
          </a:ln>
          <a:effectLst>
            <a:outerShdw sx="100000" sy="100000" kx="0" ky="0" algn="bl" rotWithShape="0" blurRad="127000" dist="38100" dir="5400000">
              <a:srgbClr val="000000">
                <a:alpha val="18000"/>
              </a:srgbClr>
            </a:outerShdw>
          </a:effectLst>
        </p:spPr>
        <p:txBody>
          <a:bodyPr/>
          <a:p/>
        </p:txBody>
      </p:sp>
      <p:pic>
        <p:nvPicPr>
          <p:cNvPr id="5" name="Image 0" descr="/home/user/Kizashi/kizashi-app/submission/screenshot_03_precursor.png">    </p:cNvPr>
          <p:cNvPicPr>
            <a:picLocks noChangeAspect="1"/>
          </p:cNvPicPr>
          <p:nvPr/>
        </p:nvPicPr>
        <p:blipFill>
          <a:blip r:embed="rId1"/>
          <a:stretch>
            <a:fillRect/>
          </a:stretch>
        </p:blipFill>
        <p:spPr>
          <a:xfrm>
            <a:off x="1005840" y="2057400"/>
            <a:ext cx="4846320" cy="2725826"/>
          </a:xfrm>
          <a:prstGeom prst="rect">
            <a:avLst/>
          </a:prstGeom>
        </p:spPr>
      </p:pic>
      <p:sp>
        <p:nvSpPr>
          <p:cNvPr id="6" name="Text 3"/>
          <p:cNvSpPr/>
          <p:nvPr/>
        </p:nvSpPr>
        <p:spPr>
          <a:xfrm>
            <a:off x="1005840" y="4828032"/>
            <a:ext cx="4846320" cy="365760"/>
          </a:xfrm>
          <a:prstGeom prst="rect">
            <a:avLst/>
          </a:prstGeom>
          <a:noFill/>
          <a:ln/>
        </p:spPr>
        <p:txBody>
          <a:bodyPr wrap="square" rtlCol="0" anchor="ctr"/>
          <a:lstStyle/>
          <a:p>
            <a:pPr indent="0" marL="0">
              <a:buNone/>
            </a:pPr>
            <a:r>
              <a:rPr lang="en-US" sz="1150" b="1" dirty="0">
                <a:solidFill>
                  <a:srgbClr val="B3352A"/>
                </a:solidFill>
                <a:latin typeface="Calibri" pitchFamily="34" charset="0"/>
                <a:ea typeface="Calibri" pitchFamily="34" charset="-122"/>
                <a:cs typeface="Calibri" pitchFamily="34" charset="-120"/>
              </a:rPr>
              <a:t>「〇〇さんの近くで報告：山鳴り・地鳴り」</a:t>
            </a:r>
            <a:endParaRPr lang="en-US" sz="1150" dirty="0"/>
          </a:p>
        </p:txBody>
      </p:sp>
      <p:sp>
        <p:nvSpPr>
          <p:cNvPr id="7" name="Text 4"/>
          <p:cNvSpPr/>
          <p:nvPr/>
        </p:nvSpPr>
        <p:spPr>
          <a:xfrm>
            <a:off x="1005840" y="5212080"/>
            <a:ext cx="4846320" cy="731520"/>
          </a:xfrm>
          <a:prstGeom prst="rect">
            <a:avLst/>
          </a:prstGeom>
          <a:noFill/>
          <a:ln/>
        </p:spPr>
        <p:txBody>
          <a:bodyPr wrap="square" rtlCol="0" anchor="ctr"/>
          <a:lstStyle/>
          <a:p>
            <a:pPr indent="0" marL="0">
              <a:lnSpc>
                <a:spcPct val="125000"/>
              </a:lnSpc>
              <a:buNone/>
            </a:pPr>
            <a:r>
              <a:rPr lang="en-US" sz="1200" dirty="0">
                <a:solidFill>
                  <a:srgbClr val="4B545C"/>
                </a:solidFill>
                <a:latin typeface="Calibri" pitchFamily="34" charset="0"/>
                <a:ea typeface="Calibri" pitchFamily="34" charset="-122"/>
                <a:cs typeface="Calibri" pitchFamily="34" charset="-120"/>
              </a:rPr>
              <a:t>正常性バイアス対策として、具体的な人・場所を名指しする呼びかけ形式で通知。</a:t>
            </a:r>
            <a:endParaRPr lang="en-US" sz="1200" dirty="0"/>
          </a:p>
        </p:txBody>
      </p:sp>
      <p:sp>
        <p:nvSpPr>
          <p:cNvPr id="8" name="Shape 5"/>
          <p:cNvSpPr/>
          <p:nvPr/>
        </p:nvSpPr>
        <p:spPr>
          <a:xfrm>
            <a:off x="6263640" y="1874520"/>
            <a:ext cx="5120640" cy="4160520"/>
          </a:xfrm>
          <a:prstGeom prst="roundRect">
            <a:avLst>
              <a:gd name="adj" fmla="val 1758"/>
            </a:avLst>
          </a:prstGeom>
          <a:solidFill>
            <a:srgbClr val="F4F5F3"/>
          </a:solidFill>
          <a:ln w="12700">
            <a:solidFill>
              <a:srgbClr val="DCDFDC"/>
            </a:solidFill>
            <a:prstDash val="solid"/>
          </a:ln>
          <a:effectLst>
            <a:outerShdw sx="100000" sy="100000" kx="0" ky="0" algn="bl" rotWithShape="0" blurRad="127000" dist="38100" dir="5400000">
              <a:srgbClr val="000000">
                <a:alpha val="18000"/>
              </a:srgbClr>
            </a:outerShdw>
          </a:effectLst>
        </p:spPr>
        <p:txBody>
          <a:bodyPr/>
          <a:p/>
        </p:txBody>
      </p:sp>
      <p:pic>
        <p:nvPicPr>
          <p:cNvPr id="9" name="Image 1" descr="/home/user/Kizashi/kizashi-app/submission/screenshot_04_chat_optional.png">    </p:cNvPr>
          <p:cNvPicPr>
            <a:picLocks noChangeAspect="1"/>
          </p:cNvPicPr>
          <p:nvPr/>
        </p:nvPicPr>
        <p:blipFill>
          <a:blip r:embed="rId2"/>
          <a:stretch>
            <a:fillRect/>
          </a:stretch>
        </p:blipFill>
        <p:spPr>
          <a:xfrm>
            <a:off x="6446520" y="2057400"/>
            <a:ext cx="4754880" cy="2674620"/>
          </a:xfrm>
          <a:prstGeom prst="rect">
            <a:avLst/>
          </a:prstGeom>
        </p:spPr>
      </p:pic>
      <p:sp>
        <p:nvSpPr>
          <p:cNvPr id="10" name="Text 6"/>
          <p:cNvSpPr/>
          <p:nvPr/>
        </p:nvSpPr>
        <p:spPr>
          <a:xfrm>
            <a:off x="6446520" y="4828032"/>
            <a:ext cx="4754880" cy="365760"/>
          </a:xfrm>
          <a:prstGeom prst="rect">
            <a:avLst/>
          </a:prstGeom>
          <a:noFill/>
          <a:ln/>
        </p:spPr>
        <p:txBody>
          <a:bodyPr wrap="square" rtlCol="0" anchor="ctr"/>
          <a:lstStyle/>
          <a:p>
            <a:pPr indent="0" marL="0">
              <a:buNone/>
            </a:pPr>
            <a:r>
              <a:rPr lang="en-US" sz="1150" b="1" dirty="0">
                <a:solidFill>
                  <a:srgbClr val="1F4E4A"/>
                </a:solidFill>
                <a:latin typeface="Calibri" pitchFamily="34" charset="0"/>
                <a:ea typeface="Calibri" pitchFamily="34" charset="-122"/>
                <a:cs typeface="Calibri" pitchFamily="34" charset="-120"/>
              </a:rPr>
              <a:t>💬 AI相談（傾聴AIチャット）</a:t>
            </a:r>
            <a:endParaRPr lang="en-US" sz="1150" dirty="0"/>
          </a:p>
        </p:txBody>
      </p:sp>
      <p:sp>
        <p:nvSpPr>
          <p:cNvPr id="11" name="Text 7"/>
          <p:cNvSpPr/>
          <p:nvPr/>
        </p:nvSpPr>
        <p:spPr>
          <a:xfrm>
            <a:off x="6446520" y="5212080"/>
            <a:ext cx="4754880" cy="731520"/>
          </a:xfrm>
          <a:prstGeom prst="rect">
            <a:avLst/>
          </a:prstGeom>
          <a:noFill/>
          <a:ln/>
        </p:spPr>
        <p:txBody>
          <a:bodyPr wrap="square" rtlCol="0" anchor="ctr"/>
          <a:lstStyle/>
          <a:p>
            <a:pPr indent="0" marL="0">
              <a:lnSpc>
                <a:spcPct val="125000"/>
              </a:lnSpc>
              <a:buNone/>
            </a:pPr>
            <a:r>
              <a:rPr lang="en-US" sz="1200" dirty="0">
                <a:solidFill>
                  <a:srgbClr val="4B545C"/>
                </a:solidFill>
                <a:latin typeface="Calibri" pitchFamily="34" charset="0"/>
                <a:ea typeface="Calibri" pitchFamily="34" charset="-122"/>
                <a:cs typeface="Calibri" pitchFamily="34" charset="-120"/>
              </a:rPr>
              <a:t>専門家のいない現場で、不安な気持ちに寄り添うAI。助言・予測は一切せず、深刻な兆候は専門窓口へ橋渡しする安全設計。</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3936"/>
        </a:solidFill>
      </p:bgPr>
    </p:bg>
    <p:spTree>
      <p:nvGrpSpPr>
        <p:cNvPr id="1" name=""/>
        <p:cNvGrpSpPr/>
        <p:nvPr/>
      </p:nvGrpSpPr>
      <p:grpSpPr>
        <a:xfrm>
          <a:off x="0" y="0"/>
          <a:ext cx="0" cy="0"/>
          <a:chOff x="0" y="0"/>
          <a:chExt cx="0" cy="0"/>
        </a:xfrm>
      </p:grpSpPr>
      <p:sp>
        <p:nvSpPr>
          <p:cNvPr id="2" name="Text 0"/>
          <p:cNvSpPr/>
          <p:nvPr/>
        </p:nvSpPr>
        <p:spPr>
          <a:xfrm>
            <a:off x="822960" y="457200"/>
            <a:ext cx="5486400" cy="64008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デモ</a:t>
            </a:r>
            <a:endParaRPr lang="en-US" sz="3400" dirty="0"/>
          </a:p>
        </p:txBody>
      </p:sp>
      <p:sp>
        <p:nvSpPr>
          <p:cNvPr id="3" name="Text 1"/>
          <p:cNvSpPr/>
          <p:nvPr/>
        </p:nvSpPr>
        <p:spPr>
          <a:xfrm>
            <a:off x="822960" y="1097280"/>
            <a:ext cx="7315200" cy="457200"/>
          </a:xfrm>
          <a:prstGeom prst="rect">
            <a:avLst/>
          </a:prstGeom>
          <a:noFill/>
          <a:ln/>
        </p:spPr>
        <p:txBody>
          <a:bodyPr wrap="square" rtlCol="0" anchor="ctr"/>
          <a:lstStyle/>
          <a:p>
            <a:pPr indent="0" marL="0">
              <a:buNone/>
            </a:pPr>
            <a:r>
              <a:rPr lang="en-US" sz="1600" i="1" dirty="0">
                <a:solidFill>
                  <a:srgbClr val="9FC7BC"/>
                </a:solidFill>
                <a:latin typeface="Calibri" pitchFamily="34" charset="0"/>
                <a:ea typeface="Calibri" pitchFamily="34" charset="-122"/>
                <a:cs typeface="Calibri" pitchFamily="34" charset="-120"/>
              </a:rPr>
              <a:t>実際の画面操作</a:t>
            </a:r>
            <a:endParaRPr lang="en-US" sz="16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2093976" y="1783080"/>
            <a:ext cx="8001000" cy="4498848"/>
          </a:xfrm>
          <a:prstGeom prst="rect">
            <a:avLst/>
          </a:prstGeom>
        </p:spPr>
      </p:pic>
      <p:sp>
        <p:nvSpPr>
          <p:cNvPr id="5" name="Text 2"/>
          <p:cNvSpPr/>
          <p:nvPr/>
        </p:nvSpPr>
        <p:spPr>
          <a:xfrm>
            <a:off x="2093976" y="6355080"/>
            <a:ext cx="8001000" cy="365760"/>
          </a:xfrm>
          <a:prstGeom prst="rect">
            <a:avLst/>
          </a:prstGeom>
          <a:noFill/>
          <a:ln/>
        </p:spPr>
        <p:txBody>
          <a:bodyPr wrap="square" rtlCol="0" anchor="ctr"/>
          <a:lstStyle/>
          <a:p>
            <a:pPr algn="ctr" indent="0" marL="0">
              <a:buNone/>
            </a:pPr>
            <a:r>
              <a:rPr lang="en-US" sz="1100" dirty="0">
                <a:solidFill>
                  <a:srgbClr val="9FC7BC"/>
                </a:solidFill>
                <a:latin typeface="Calibri" pitchFamily="34" charset="0"/>
                <a:ea typeface="Calibri" pitchFamily="34" charset="-122"/>
                <a:cs typeface="Calibri" pitchFamily="34" charset="-120"/>
              </a:rPr>
              <a:t>▶ クリックで再生（無音・約20秒）</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7315200" cy="640080"/>
          </a:xfrm>
          <a:prstGeom prst="rect">
            <a:avLst/>
          </a:prstGeom>
          <a:noFill/>
          <a:ln/>
        </p:spPr>
        <p:txBody>
          <a:bodyPr wrap="square" rtlCol="0" anchor="ctr"/>
          <a:lstStyle/>
          <a:p>
            <a:pPr indent="0" marL="0">
              <a:buNone/>
            </a:pPr>
            <a:r>
              <a:rPr lang="en-US" sz="3400" b="1" dirty="0">
                <a:solidFill>
                  <a:srgbClr val="1F4E4A"/>
                </a:solidFill>
                <a:latin typeface="Cambria" pitchFamily="34" charset="0"/>
                <a:ea typeface="Cambria" pitchFamily="34" charset="-122"/>
                <a:cs typeface="Cambria" pitchFamily="34" charset="-120"/>
              </a:rPr>
              <a:t>利用オープンデータ</a:t>
            </a:r>
            <a:endParaRPr lang="en-US" sz="3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822960" y="1371600"/>
          <a:ext cx="10515600" cy="4754880"/>
        </p:xfrm>
        <a:graphic>
          <a:graphicData uri="http://schemas.openxmlformats.org/drawingml/2006/table">
            <a:tbl>
              <a:tblPr/>
              <a:tblGrid>
                <a:gridCol w="6583680"/>
                <a:gridCol w="3931920"/>
              </a:tblGrid>
              <a:tr h="679269">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データ名</a:t>
                      </a:r>
                      <a:endParaRPr lang="en-US" sz="1300" dirty="0">
                        <a:latin typeface="Calibri" charset="0"/>
                        <a:ea typeface="Calibri" charset="0"/>
                        <a:cs typeface="Calibri" charset="0"/>
                      </a:endParaRPr>
                    </a:p>
                  </a:txBody>
                  <a:tcPr marL="101600" marR="101600" marT="76200" marB="76200" anchor="ctr">
                    <a:lnL w="6350" cap="flat" cmpd="sng" algn="ctr">
                      <a:solidFill>
                        <a:srgbClr val="DCDFDC"/>
                      </a:solidFill>
                      <a:prstDash val="solid"/>
                      <a:round/>
                      <a:headEnd type="none" w="med" len="med"/>
                      <a:tailEnd type="none" w="med" len="med"/>
                    </a:lnL>
                    <a:lnR w="6350" cap="flat" cmpd="sng" algn="ctr">
                      <a:solidFill>
                        <a:srgbClr val="DCDFDC"/>
                      </a:solidFill>
                      <a:prstDash val="solid"/>
                      <a:round/>
                      <a:headEnd type="none" w="med" len="med"/>
                      <a:tailEnd type="none" w="med" len="med"/>
                    </a:lnR>
                    <a:lnT w="6350" cap="flat" cmpd="sng" algn="ctr">
                      <a:solidFill>
                        <a:srgbClr val="DCDFDC"/>
                      </a:solidFill>
                      <a:prstDash val="solid"/>
                      <a:round/>
                      <a:headEnd type="none" w="med" len="med"/>
                      <a:tailEnd type="none" w="med" len="med"/>
                    </a:lnT>
                    <a:lnB w="6350" cap="flat" cmpd="sng" algn="ctr">
                      <a:solidFill>
                        <a:srgbClr val="DCDFDC"/>
                      </a:solidFill>
                      <a:prstDash val="solid"/>
                      <a:round/>
                      <a:headEnd type="none" w="med" len="med"/>
                      <a:tailEnd type="none" w="med" len="med"/>
                    </a:lnB>
                    <a:solidFill>
                      <a:srgbClr val="1F4E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用途</a:t>
                      </a:r>
                      <a:endParaRPr lang="en-US" sz="1300" dirty="0">
                        <a:latin typeface="Calibri" charset="0"/>
                        <a:ea typeface="Calibri" charset="0"/>
                        <a:cs typeface="Calibri" charset="0"/>
                      </a:endParaRPr>
                    </a:p>
                  </a:txBody>
                  <a:tcPr marL="101600" marR="101600" marT="76200" marB="76200" anchor="ctr">
                    <a:lnL w="6350" cap="flat" cmpd="sng" algn="ctr">
                      <a:solidFill>
                        <a:srgbClr val="DCDFDC"/>
                      </a:solidFill>
                      <a:prstDash val="solid"/>
                      <a:round/>
                      <a:headEnd type="none" w="med" len="med"/>
                      <a:tailEnd type="none" w="med" len="med"/>
                    </a:lnL>
                    <a:lnR w="6350" cap="flat" cmpd="sng" algn="ctr">
                      <a:solidFill>
                        <a:srgbClr val="DCDFDC"/>
                      </a:solidFill>
                      <a:prstDash val="solid"/>
                      <a:round/>
                      <a:headEnd type="none" w="med" len="med"/>
                      <a:tailEnd type="none" w="med" len="med"/>
                    </a:lnR>
                    <a:lnT w="6350" cap="flat" cmpd="sng" algn="ctr">
                      <a:solidFill>
                        <a:srgbClr val="DCDFDC"/>
                      </a:solidFill>
                      <a:prstDash val="solid"/>
                      <a:round/>
                      <a:headEnd type="none" w="med" len="med"/>
                      <a:tailEnd type="none" w="med" len="med"/>
                    </a:lnT>
                    <a:lnB w="6350" cap="flat" cmpd="sng" algn="ctr">
                      <a:solidFill>
                        <a:srgbClr val="DCDFDC"/>
                      </a:solidFill>
                      <a:prstDash val="solid"/>
                      <a:round/>
                      <a:headEnd type="none" w="med" len="med"/>
                      <a:tailEnd type="none" w="med" len="med"/>
                    </a:lnB>
                    <a:solidFill>
                      <a:srgbClr val="1F4E4A"/>
                    </a:solidFill>
                  </a:tcPr>
                </a:tc>
              </a:tr>
              <a:tr h="679269">
                <a:tc>
                  <a:txBody>
                    <a:bodyPr/>
                    <a:lstStyle/>
                    <a:p>
                      <a:pPr indent="0" marL="0">
                        <a:buNone/>
                      </a:pPr>
                      <a:r>
                        <a:rPr lang="en-US" sz="1300" dirty="0">
                          <a:solidFill>
                            <a:srgbClr val="1C2126"/>
                          </a:solidFill>
                          <a:latin typeface="Calibri" pitchFamily="34" charset="0"/>
                          <a:ea typeface="Calibri" pitchFamily="34" charset="-122"/>
                          <a:cs typeface="Calibri" pitchFamily="34" charset="-120"/>
                        </a:rPr>
                        <a:t>東京都建設局河川部「東京都土砂災害危険度情報関連データ」（CC BY 4.0）</a:t>
                      </a:r>
                      <a:endParaRPr lang="en-US" sz="1300" dirty="0">
                        <a:latin typeface="Calibri" charset="0"/>
                        <a:ea typeface="Calibri" charset="0"/>
                        <a:cs typeface="Calibri" charset="0"/>
                      </a:endParaRPr>
                    </a:p>
                  </a:txBody>
                  <a:tcPr marL="101600" marR="101600" marT="76200" marB="76200" anchor="ctr">
                    <a:lnL w="6350" cap="flat" cmpd="sng" algn="ctr">
                      <a:solidFill>
                        <a:srgbClr val="DCDFDC"/>
                      </a:solidFill>
                      <a:prstDash val="solid"/>
                      <a:round/>
                      <a:headEnd type="none" w="med" len="med"/>
                      <a:tailEnd type="none" w="med" len="med"/>
                    </a:lnL>
                    <a:lnR w="6350" cap="flat" cmpd="sng" algn="ctr">
                      <a:solidFill>
                        <a:srgbClr val="DCDFDC"/>
                      </a:solidFill>
                      <a:prstDash val="solid"/>
                      <a:round/>
                      <a:headEnd type="none" w="med" len="med"/>
                      <a:tailEnd type="none" w="med" len="med"/>
                    </a:lnR>
                    <a:lnT w="6350" cap="flat" cmpd="sng" algn="ctr">
                      <a:solidFill>
                        <a:srgbClr val="DCDFDC"/>
                      </a:solidFill>
                      <a:prstDash val="solid"/>
                      <a:round/>
                      <a:headEnd type="none" w="med" len="med"/>
                      <a:tailEnd type="none" w="med" len="med"/>
                    </a:lnT>
                    <a:lnB w="6350" cap="flat" cmpd="sng" algn="ctr">
                      <a:solidFill>
                        <a:srgbClr val="DCDFDC"/>
                      </a:solidFill>
                      <a:prstDash val="solid"/>
                      <a:round/>
                      <a:headEnd type="none" w="med" len="med"/>
                      <a:tailEnd type="none" w="med" len="med"/>
                    </a:lnB>
                    <a:solidFill>
                      <a:srgbClr val="F4F5F3"/>
                    </a:solidFill>
                  </a:tcPr>
                </a:tc>
                <a:tc>
                  <a:txBody>
                    <a:bodyPr/>
                    <a:lstStyle/>
                    <a:p>
                      <a:pPr indent="0" marL="0">
                        <a:buNone/>
                      </a:pPr>
                      <a:r>
                        <a:rPr lang="en-US" sz="1300" dirty="0">
                          <a:solidFill>
                            <a:srgbClr val="4B545C"/>
                          </a:solidFill>
                          <a:latin typeface="Calibri" pitchFamily="34" charset="0"/>
                          <a:ea typeface="Calibri" pitchFamily="34" charset="-122"/>
                          <a:cs typeface="Calibri" pitchFamily="34" charset="-120"/>
                        </a:rPr>
                        <a:t>危険エリアの地図表示（区域データ本体を使用）</a:t>
                      </a:r>
                      <a:endParaRPr lang="en-US" sz="1300" dirty="0">
                        <a:latin typeface="Calibri" charset="0"/>
                        <a:ea typeface="Calibri" charset="0"/>
                        <a:cs typeface="Calibri" charset="0"/>
                      </a:endParaRPr>
                    </a:p>
                  </a:txBody>
                  <a:tcPr marL="101600" marR="101600" marT="76200" marB="76200" anchor="ctr">
                    <a:lnL w="6350" cap="flat" cmpd="sng" algn="ctr">
                      <a:solidFill>
                        <a:srgbClr val="DCDFDC"/>
                      </a:solidFill>
                      <a:prstDash val="solid"/>
                      <a:round/>
                      <a:headEnd type="none" w="med" len="med"/>
                      <a:tailEnd type="none" w="med" len="med"/>
                    </a:lnL>
                    <a:lnR w="6350" cap="flat" cmpd="sng" algn="ctr">
                      <a:solidFill>
                        <a:srgbClr val="DCDFDC"/>
                      </a:solidFill>
                      <a:prstDash val="solid"/>
                      <a:round/>
                      <a:headEnd type="none" w="med" len="med"/>
                      <a:tailEnd type="none" w="med" len="med"/>
                    </a:lnR>
                    <a:lnT w="6350" cap="flat" cmpd="sng" algn="ctr">
                      <a:solidFill>
                        <a:srgbClr val="DCDFDC"/>
                      </a:solidFill>
                      <a:prstDash val="solid"/>
                      <a:round/>
                      <a:headEnd type="none" w="med" len="med"/>
                      <a:tailEnd type="none" w="med" len="med"/>
                    </a:lnT>
                    <a:lnB w="6350" cap="flat" cmpd="sng" algn="ctr">
                      <a:solidFill>
                        <a:srgbClr val="DCDFDC"/>
                      </a:solidFill>
                      <a:prstDash val="solid"/>
                      <a:round/>
                      <a:headEnd type="none" w="med" len="med"/>
                      <a:tailEnd type="none" w="med" len="med"/>
                    </a:lnB>
                    <a:solidFill>
                      <a:srgbClr val="F4F5F3"/>
                    </a:solidFill>
                  </a:tcPr>
                </a:tc>
              </a:tr>
              <a:tr h="679269">
                <a:tc>
                  <a:txBody>
                    <a:bodyPr/>
                    <a:lstStyle/>
                    <a:p>
                      <a:pPr indent="0" marL="0">
                        <a:buNone/>
                      </a:pPr>
                      <a:r>
                        <a:rPr lang="en-US" sz="1300" dirty="0">
                          <a:solidFill>
                            <a:srgbClr val="1C2126"/>
                          </a:solidFill>
                          <a:latin typeface="Calibri" pitchFamily="34" charset="0"/>
                          <a:ea typeface="Calibri" pitchFamily="34" charset="-122"/>
                          <a:cs typeface="Calibri" pitchFamily="34" charset="-120"/>
                        </a:rPr>
                        <a:t>東京都「土砂災害警戒区域等マップ」</a:t>
                      </a:r>
                      <a:endParaRPr lang="en-US" sz="1300" dirty="0">
                        <a:latin typeface="Calibri" charset="0"/>
                        <a:ea typeface="Calibri" charset="0"/>
                        <a:cs typeface="Calibri" charset="0"/>
                      </a:endParaRPr>
                    </a:p>
                  </a:txBody>
                  <a:tcPr marL="101600" marR="101600" marT="76200" marB="76200" anchor="ctr">
                    <a:lnL w="6350" cap="flat" cmpd="sng" algn="ctr">
                      <a:solidFill>
                        <a:srgbClr val="DCDFDC"/>
                      </a:solidFill>
                      <a:prstDash val="solid"/>
                      <a:round/>
                      <a:headEnd type="none" w="med" len="med"/>
                      <a:tailEnd type="none" w="med" len="med"/>
                    </a:lnL>
                    <a:lnR w="6350" cap="flat" cmpd="sng" algn="ctr">
                      <a:solidFill>
                        <a:srgbClr val="DCDFDC"/>
                      </a:solidFill>
                      <a:prstDash val="solid"/>
                      <a:round/>
                      <a:headEnd type="none" w="med" len="med"/>
                      <a:tailEnd type="none" w="med" len="med"/>
                    </a:lnR>
                    <a:lnT w="6350" cap="flat" cmpd="sng" algn="ctr">
                      <a:solidFill>
                        <a:srgbClr val="DCDFDC"/>
                      </a:solidFill>
                      <a:prstDash val="solid"/>
                      <a:round/>
                      <a:headEnd type="none" w="med" len="med"/>
                      <a:tailEnd type="none" w="med" len="med"/>
                    </a:lnT>
                    <a:lnB w="6350" cap="flat" cmpd="sng" algn="ctr">
                      <a:solidFill>
                        <a:srgbClr val="DCDFDC"/>
                      </a:solidFill>
                      <a:prstDash val="solid"/>
                      <a:round/>
                      <a:headEnd type="none" w="med" len="med"/>
                      <a:tailEnd type="none" w="med" len="med"/>
                    </a:lnB>
                    <a:solidFill>
                      <a:srgbClr val="FFFFFF"/>
                    </a:solidFill>
                  </a:tcPr>
                </a:tc>
                <a:tc>
                  <a:txBody>
                    <a:bodyPr/>
                    <a:lstStyle/>
                    <a:p>
                      <a:pPr indent="0" marL="0">
                        <a:buNone/>
                      </a:pPr>
                      <a:r>
                        <a:rPr lang="en-US" sz="1300" dirty="0">
                          <a:solidFill>
                            <a:srgbClr val="4B545C"/>
                          </a:solidFill>
                          <a:latin typeface="Calibri" pitchFamily="34" charset="0"/>
                          <a:ea typeface="Calibri" pitchFamily="34" charset="-122"/>
                          <a:cs typeface="Calibri" pitchFamily="34" charset="-120"/>
                        </a:rPr>
                        <a:t>最新の指定状況への参照リンク</a:t>
                      </a:r>
                      <a:endParaRPr lang="en-US" sz="1300" dirty="0">
                        <a:latin typeface="Calibri" charset="0"/>
                        <a:ea typeface="Calibri" charset="0"/>
                        <a:cs typeface="Calibri" charset="0"/>
                      </a:endParaRPr>
                    </a:p>
                  </a:txBody>
                  <a:tcPr marL="101600" marR="101600" marT="76200" marB="76200" anchor="ctr">
                    <a:lnL w="6350" cap="flat" cmpd="sng" algn="ctr">
                      <a:solidFill>
                        <a:srgbClr val="DCDFDC"/>
                      </a:solidFill>
                      <a:prstDash val="solid"/>
                      <a:round/>
                      <a:headEnd type="none" w="med" len="med"/>
                      <a:tailEnd type="none" w="med" len="med"/>
                    </a:lnL>
                    <a:lnR w="6350" cap="flat" cmpd="sng" algn="ctr">
                      <a:solidFill>
                        <a:srgbClr val="DCDFDC"/>
                      </a:solidFill>
                      <a:prstDash val="solid"/>
                      <a:round/>
                      <a:headEnd type="none" w="med" len="med"/>
                      <a:tailEnd type="none" w="med" len="med"/>
                    </a:lnR>
                    <a:lnT w="6350" cap="flat" cmpd="sng" algn="ctr">
                      <a:solidFill>
                        <a:srgbClr val="DCDFDC"/>
                      </a:solidFill>
                      <a:prstDash val="solid"/>
                      <a:round/>
                      <a:headEnd type="none" w="med" len="med"/>
                      <a:tailEnd type="none" w="med" len="med"/>
                    </a:lnT>
                    <a:lnB w="6350" cap="flat" cmpd="sng" algn="ctr">
                      <a:solidFill>
                        <a:srgbClr val="DCDFDC"/>
                      </a:solidFill>
                      <a:prstDash val="solid"/>
                      <a:round/>
                      <a:headEnd type="none" w="med" len="med"/>
                      <a:tailEnd type="none" w="med" len="med"/>
                    </a:lnB>
                    <a:solidFill>
                      <a:srgbClr val="FFFFFF"/>
                    </a:solidFill>
                  </a:tcPr>
                </a:tc>
              </a:tr>
              <a:tr h="679269">
                <a:tc>
                  <a:txBody>
                    <a:bodyPr/>
                    <a:lstStyle/>
                    <a:p>
                      <a:pPr indent="0" marL="0">
                        <a:buNone/>
                      </a:pPr>
                      <a:r>
                        <a:rPr lang="en-US" sz="1300" dirty="0">
                          <a:solidFill>
                            <a:srgbClr val="1C2126"/>
                          </a:solidFill>
                          <a:latin typeface="Calibri" pitchFamily="34" charset="0"/>
                          <a:ea typeface="Calibri" pitchFamily="34" charset="-122"/>
                          <a:cs typeface="Calibri" pitchFamily="34" charset="-120"/>
                        </a:rPr>
                        <a:t>首相官邸「土砂災害」防災情報ページ</a:t>
                      </a:r>
                      <a:endParaRPr lang="en-US" sz="1300" dirty="0">
                        <a:latin typeface="Calibri" charset="0"/>
                        <a:ea typeface="Calibri" charset="0"/>
                        <a:cs typeface="Calibri" charset="0"/>
                      </a:endParaRPr>
                    </a:p>
                  </a:txBody>
                  <a:tcPr marL="101600" marR="101600" marT="76200" marB="76200" anchor="ctr">
                    <a:lnL w="6350" cap="flat" cmpd="sng" algn="ctr">
                      <a:solidFill>
                        <a:srgbClr val="DCDFDC"/>
                      </a:solidFill>
                      <a:prstDash val="solid"/>
                      <a:round/>
                      <a:headEnd type="none" w="med" len="med"/>
                      <a:tailEnd type="none" w="med" len="med"/>
                    </a:lnL>
                    <a:lnR w="6350" cap="flat" cmpd="sng" algn="ctr">
                      <a:solidFill>
                        <a:srgbClr val="DCDFDC"/>
                      </a:solidFill>
                      <a:prstDash val="solid"/>
                      <a:round/>
                      <a:headEnd type="none" w="med" len="med"/>
                      <a:tailEnd type="none" w="med" len="med"/>
                    </a:lnR>
                    <a:lnT w="6350" cap="flat" cmpd="sng" algn="ctr">
                      <a:solidFill>
                        <a:srgbClr val="DCDFDC"/>
                      </a:solidFill>
                      <a:prstDash val="solid"/>
                      <a:round/>
                      <a:headEnd type="none" w="med" len="med"/>
                      <a:tailEnd type="none" w="med" len="med"/>
                    </a:lnT>
                    <a:lnB w="6350" cap="flat" cmpd="sng" algn="ctr">
                      <a:solidFill>
                        <a:srgbClr val="DCDFDC"/>
                      </a:solidFill>
                      <a:prstDash val="solid"/>
                      <a:round/>
                      <a:headEnd type="none" w="med" len="med"/>
                      <a:tailEnd type="none" w="med" len="med"/>
                    </a:lnB>
                    <a:solidFill>
                      <a:srgbClr val="FFFFFF"/>
                    </a:solidFill>
                  </a:tcPr>
                </a:tc>
                <a:tc>
                  <a:txBody>
                    <a:bodyPr/>
                    <a:lstStyle/>
                    <a:p>
                      <a:pPr indent="0" marL="0">
                        <a:buNone/>
                      </a:pPr>
                      <a:r>
                        <a:rPr lang="en-US" sz="1300" dirty="0">
                          <a:solidFill>
                            <a:srgbClr val="4B545C"/>
                          </a:solidFill>
                          <a:latin typeface="Calibri" pitchFamily="34" charset="0"/>
                          <a:ea typeface="Calibri" pitchFamily="34" charset="-122"/>
                          <a:cs typeface="Calibri" pitchFamily="34" charset="-120"/>
                        </a:rPr>
                        <a:t>過去の災害事例（参考情報）・前兆現象チェックリストの出典</a:t>
                      </a:r>
                      <a:endParaRPr lang="en-US" sz="1300" dirty="0">
                        <a:latin typeface="Calibri" charset="0"/>
                        <a:ea typeface="Calibri" charset="0"/>
                        <a:cs typeface="Calibri" charset="0"/>
                      </a:endParaRPr>
                    </a:p>
                  </a:txBody>
                  <a:tcPr marL="101600" marR="101600" marT="76200" marB="76200" anchor="ctr">
                    <a:lnL w="6350" cap="flat" cmpd="sng" algn="ctr">
                      <a:solidFill>
                        <a:srgbClr val="DCDFDC"/>
                      </a:solidFill>
                      <a:prstDash val="solid"/>
                      <a:round/>
                      <a:headEnd type="none" w="med" len="med"/>
                      <a:tailEnd type="none" w="med" len="med"/>
                    </a:lnL>
                    <a:lnR w="6350" cap="flat" cmpd="sng" algn="ctr">
                      <a:solidFill>
                        <a:srgbClr val="DCDFDC"/>
                      </a:solidFill>
                      <a:prstDash val="solid"/>
                      <a:round/>
                      <a:headEnd type="none" w="med" len="med"/>
                      <a:tailEnd type="none" w="med" len="med"/>
                    </a:lnR>
                    <a:lnT w="6350" cap="flat" cmpd="sng" algn="ctr">
                      <a:solidFill>
                        <a:srgbClr val="DCDFDC"/>
                      </a:solidFill>
                      <a:prstDash val="solid"/>
                      <a:round/>
                      <a:headEnd type="none" w="med" len="med"/>
                      <a:tailEnd type="none" w="med" len="med"/>
                    </a:lnT>
                    <a:lnB w="6350" cap="flat" cmpd="sng" algn="ctr">
                      <a:solidFill>
                        <a:srgbClr val="DCDFD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4E4A"/>
        </a:solidFill>
      </p:bgPr>
    </p:bg>
    <p:spTree>
      <p:nvGrpSpPr>
        <p:cNvPr id="1" name=""/>
        <p:cNvGrpSpPr/>
        <p:nvPr/>
      </p:nvGrpSpPr>
      <p:grpSpPr>
        <a:xfrm>
          <a:off x="0" y="0"/>
          <a:ext cx="0" cy="0"/>
          <a:chOff x="0" y="0"/>
          <a:chExt cx="0" cy="0"/>
        </a:xfrm>
      </p:grpSpPr>
      <p:sp>
        <p:nvSpPr>
          <p:cNvPr id="2" name="Text 0"/>
          <p:cNvSpPr/>
          <p:nvPr/>
        </p:nvSpPr>
        <p:spPr>
          <a:xfrm>
            <a:off x="822960" y="548640"/>
            <a:ext cx="5486400" cy="64008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チーム紹介</a:t>
            </a:r>
            <a:endParaRPr lang="en-US" sz="3400" dirty="0"/>
          </a:p>
        </p:txBody>
      </p:sp>
      <p:sp>
        <p:nvSpPr>
          <p:cNvPr id="3" name="Shape 1"/>
          <p:cNvSpPr/>
          <p:nvPr/>
        </p:nvSpPr>
        <p:spPr>
          <a:xfrm>
            <a:off x="822960" y="1554480"/>
            <a:ext cx="1188720" cy="1188720"/>
          </a:xfrm>
          <a:prstGeom prst="ellipse">
            <a:avLst/>
          </a:prstGeom>
          <a:solidFill>
            <a:srgbClr val="FFFFFF"/>
          </a:solidFill>
          <a:ln/>
        </p:spPr>
      </p:sp>
      <p:sp>
        <p:nvSpPr>
          <p:cNvPr id="4" name="Text 2"/>
          <p:cNvSpPr/>
          <p:nvPr/>
        </p:nvSpPr>
        <p:spPr>
          <a:xfrm>
            <a:off x="822960" y="1554480"/>
            <a:ext cx="1188720" cy="1188720"/>
          </a:xfrm>
          <a:prstGeom prst="rect">
            <a:avLst/>
          </a:prstGeom>
          <a:noFill/>
          <a:ln/>
        </p:spPr>
        <p:txBody>
          <a:bodyPr wrap="square" lIns="0" tIns="0" rIns="0" bIns="0" rtlCol="0" anchor="ctr"/>
          <a:lstStyle/>
          <a:p>
            <a:pPr algn="ctr" indent="0" marL="0">
              <a:buNone/>
            </a:pPr>
            <a:r>
              <a:rPr lang="en-US" sz="3000" b="1" dirty="0">
                <a:solidFill>
                  <a:srgbClr val="1F4E4A"/>
                </a:solidFill>
                <a:latin typeface="Cambria" pitchFamily="34" charset="0"/>
                <a:ea typeface="Cambria" pitchFamily="34" charset="-122"/>
                <a:cs typeface="Cambria" pitchFamily="34" charset="-120"/>
              </a:rPr>
              <a:t>結</a:t>
            </a:r>
            <a:endParaRPr lang="en-US" sz="3000" dirty="0"/>
          </a:p>
        </p:txBody>
      </p:sp>
      <p:sp>
        <p:nvSpPr>
          <p:cNvPr id="5" name="Text 3"/>
          <p:cNvSpPr/>
          <p:nvPr/>
        </p:nvSpPr>
        <p:spPr>
          <a:xfrm>
            <a:off x="2194560" y="1691640"/>
            <a:ext cx="7315200" cy="4572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チーム「結」（個人開発）</a:t>
            </a:r>
            <a:endParaRPr lang="en-US" sz="1800" dirty="0"/>
          </a:p>
        </p:txBody>
      </p:sp>
      <p:sp>
        <p:nvSpPr>
          <p:cNvPr id="6" name="Text 4"/>
          <p:cNvSpPr/>
          <p:nvPr/>
        </p:nvSpPr>
        <p:spPr>
          <a:xfrm>
            <a:off x="2194560" y="2148840"/>
            <a:ext cx="8686800" cy="731520"/>
          </a:xfrm>
          <a:prstGeom prst="rect">
            <a:avLst/>
          </a:prstGeom>
          <a:noFill/>
          <a:ln/>
        </p:spPr>
        <p:txBody>
          <a:bodyPr wrap="square" rtlCol="0" anchor="ctr"/>
          <a:lstStyle/>
          <a:p>
            <a:pPr indent="0" marL="0">
              <a:lnSpc>
                <a:spcPct val="130000"/>
              </a:lnSpc>
              <a:buNone/>
            </a:pPr>
            <a:r>
              <a:rPr lang="en-US" sz="1300" dirty="0">
                <a:solidFill>
                  <a:srgbClr val="E4EFEA"/>
                </a:solidFill>
                <a:latin typeface="Calibri" pitchFamily="34" charset="0"/>
                <a:ea typeface="Calibri" pitchFamily="34" charset="-122"/>
                <a:cs typeface="Calibri" pitchFamily="34" charset="-120"/>
              </a:rPr>
              <a:t>土砂災害の現場に居合わせ、家族として何もできずただ待つしかなかった実体験から、</a:t>
            </a:r>
            <a:endParaRPr lang="en-US" sz="1300" dirty="0"/>
          </a:p>
          <a:p>
            <a:pPr indent="0" marL="0">
              <a:lnSpc>
                <a:spcPct val="130000"/>
              </a:lnSpc>
              <a:buNone/>
            </a:pPr>
            <a:r>
              <a:rPr lang="en-US" sz="1300" dirty="0">
                <a:solidFill>
                  <a:srgbClr val="E4EFEA"/>
                </a:solidFill>
                <a:latin typeface="Calibri" pitchFamily="34" charset="0"/>
                <a:ea typeface="Calibri" pitchFamily="34" charset="-122"/>
                <a:cs typeface="Calibri" pitchFamily="34" charset="-120"/>
              </a:rPr>
              <a:t>企画・設計・実装まで一人で開発。</a:t>
            </a:r>
            <a:endParaRPr lang="en-US" sz="1300" dirty="0"/>
          </a:p>
        </p:txBody>
      </p:sp>
      <p:sp>
        <p:nvSpPr>
          <p:cNvPr id="7" name="Shape 5"/>
          <p:cNvSpPr/>
          <p:nvPr/>
        </p:nvSpPr>
        <p:spPr>
          <a:xfrm>
            <a:off x="822960" y="3246120"/>
            <a:ext cx="10515600" cy="2331720"/>
          </a:xfrm>
          <a:prstGeom prst="roundRect">
            <a:avLst>
              <a:gd name="adj" fmla="val 3922"/>
            </a:avLst>
          </a:prstGeom>
          <a:solidFill>
            <a:srgbClr val="FFFFFF">
              <a:alpha val="8000"/>
            </a:srgbClr>
          </a:solidFill>
          <a:ln w="9525">
            <a:solidFill>
              <a:srgbClr val="FFFFFF"/>
            </a:solidFill>
            <a:prstDash val="solid"/>
          </a:ln>
        </p:spPr>
      </p:sp>
      <p:sp>
        <p:nvSpPr>
          <p:cNvPr id="8" name="Text 6"/>
          <p:cNvSpPr/>
          <p:nvPr/>
        </p:nvSpPr>
        <p:spPr>
          <a:xfrm>
            <a:off x="1143000" y="3474720"/>
            <a:ext cx="9875520" cy="45720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 安全設計へのこだわり</a:t>
            </a:r>
            <a:endParaRPr lang="en-US" sz="1500" dirty="0"/>
          </a:p>
        </p:txBody>
      </p:sp>
      <p:sp>
        <p:nvSpPr>
          <p:cNvPr id="9" name="Text 7"/>
          <p:cNvSpPr/>
          <p:nvPr/>
        </p:nvSpPr>
        <p:spPr>
          <a:xfrm>
            <a:off x="1143000" y="3977640"/>
            <a:ext cx="9875520" cy="1463040"/>
          </a:xfrm>
          <a:prstGeom prst="rect">
            <a:avLst/>
          </a:prstGeom>
          <a:noFill/>
          <a:ln/>
        </p:spPr>
        <p:txBody>
          <a:bodyPr wrap="square" rtlCol="0" anchor="ctr"/>
          <a:lstStyle/>
          <a:p>
            <a:pPr marL="342900" indent="-342900">
              <a:lnSpc>
                <a:spcPct val="135000"/>
              </a:lnSpc>
              <a:spcAft>
                <a:spcPts val="800"/>
              </a:spcAft>
              <a:buSzPct val="100000"/>
              <a:buChar char="•"/>
            </a:pPr>
            <a:r>
              <a:rPr lang="en-US" sz="1250" dirty="0">
                <a:solidFill>
                  <a:srgbClr val="E4EFEA"/>
                </a:solidFill>
                <a:latin typeface="Calibri" pitchFamily="34" charset="0"/>
                <a:ea typeface="Calibri" pitchFamily="34" charset="-122"/>
                <a:cs typeface="Calibri" pitchFamily="34" charset="-120"/>
              </a:rPr>
              <a:t>生存確率・助かる見込み時間の提示はしない（AIチャットのシステムプロンプトで明示的に禁止）</a:t>
            </a:r>
            <a:endParaRPr lang="en-US" sz="1250" dirty="0"/>
          </a:p>
          <a:p>
            <a:pPr marL="342900" indent="-342900">
              <a:lnSpc>
                <a:spcPct val="135000"/>
              </a:lnSpc>
              <a:spcAft>
                <a:spcPts val="800"/>
              </a:spcAft>
              <a:buSzPct val="100000"/>
              <a:buChar char="•"/>
            </a:pPr>
            <a:r>
              <a:rPr lang="en-US" sz="1250" dirty="0">
                <a:solidFill>
                  <a:srgbClr val="E4EFEA"/>
                </a:solidFill>
                <a:latin typeface="Calibri" pitchFamily="34" charset="0"/>
                <a:ea typeface="Calibri" pitchFamily="34" charset="-122"/>
                <a:cs typeface="Calibri" pitchFamily="34" charset="-120"/>
              </a:rPr>
              <a:t>前兆現象は「予測」ではなく、公式チェックリストに基づく目撃情報の共有として扱う</a:t>
            </a:r>
            <a:endParaRPr lang="en-US" sz="1250" dirty="0"/>
          </a:p>
          <a:p>
            <a:pPr marL="342900" indent="-342900">
              <a:lnSpc>
                <a:spcPct val="135000"/>
              </a:lnSpc>
              <a:spcAft>
                <a:spcPts val="800"/>
              </a:spcAft>
              <a:buSzPct val="100000"/>
              <a:buChar char="•"/>
            </a:pPr>
            <a:r>
              <a:rPr lang="en-US" sz="1250" dirty="0">
                <a:solidFill>
                  <a:srgbClr val="E4EFEA"/>
                </a:solidFill>
                <a:latin typeface="Calibri" pitchFamily="34" charset="0"/>
                <a:ea typeface="Calibri" pitchFamily="34" charset="-122"/>
                <a:cs typeface="Calibri" pitchFamily="34" charset="-120"/>
              </a:rPr>
              <a:t>深刻な危機のサインは、AI任せにせずキーワード安全網で即座に専門相談窓口へ橋渡し</a:t>
            </a:r>
            <a:endParaRPr lang="en-US" sz="1250" dirty="0"/>
          </a:p>
        </p:txBody>
      </p:sp>
      <p:sp>
        <p:nvSpPr>
          <p:cNvPr id="10" name="Text 8"/>
          <p:cNvSpPr/>
          <p:nvPr/>
        </p:nvSpPr>
        <p:spPr>
          <a:xfrm>
            <a:off x="822960" y="5989320"/>
            <a:ext cx="10515600" cy="457200"/>
          </a:xfrm>
          <a:prstGeom prst="rect">
            <a:avLst/>
          </a:prstGeom>
          <a:noFill/>
          <a:ln/>
        </p:spPr>
        <p:txBody>
          <a:bodyPr wrap="square" rtlCol="0" anchor="ctr"/>
          <a:lstStyle/>
          <a:p>
            <a:pPr indent="0" marL="0">
              <a:buNone/>
            </a:pPr>
            <a:r>
              <a:rPr lang="en-US" sz="1300" i="1" dirty="0">
                <a:solidFill>
                  <a:srgbClr val="9FC7BC"/>
                </a:solidFill>
                <a:latin typeface="Calibri" pitchFamily="34" charset="0"/>
                <a:ea typeface="Calibri" pitchFamily="34" charset="-122"/>
                <a:cs typeface="Calibri" pitchFamily="34" charset="-120"/>
              </a:rPr>
              <a:t>結（ゆい） — 救助を後押しする、無料の情報共有アプリ</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2026-08-01T03:51:45Z</dcterms:created>
  <dcterms:modified xsi:type="dcterms:W3CDTF">2026-08-01T03:51:45Z</dcterms:modified>
</cp:coreProperties>
</file>