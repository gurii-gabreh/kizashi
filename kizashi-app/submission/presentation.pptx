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4" r:id="rId15"/>
    <p:sldId id="265" r:id="rId16"/>
    <p:sldId id="261" r:id="rId7"/>
    <p:sldId id="266" r:id="rId17"/>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7"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游ゴシック"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游ゴシック"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游ゴシック"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游ゴシック"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游ゴシック"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游ゴシック"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游ゴシック"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游ゴシック"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游ゴシック"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video" Target="../media/media1.mp4"/><Relationship Id="rId3" Type="http://schemas.microsoft.com/office/2007/relationships/media" Target="../media/media1.mp4"/><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4A"/>
        </a:solidFill>
      </p:bgPr>
    </p:bg>
    <p:spTree>
      <p:nvGrpSpPr>
        <p:cNvPr id="1" name=""/>
        <p:cNvGrpSpPr/>
        <p:nvPr/>
      </p:nvGrpSpPr>
      <p:grpSpPr>
        <a:xfrm>
          <a:off x="0" y="0"/>
          <a:ext cx="0" cy="0"/>
          <a:chOff x="0" y="0"/>
          <a:chExt cx="0" cy="0"/>
        </a:xfrm>
      </p:grpSpPr>
      <p:sp>
        <p:nvSpPr>
          <p:cNvPr id="2" name="Text 0"/>
          <p:cNvSpPr/>
          <p:nvPr/>
        </p:nvSpPr>
        <p:spPr>
          <a:xfrm>
            <a:off x="822960" y="1371600"/>
            <a:ext cx="6177000" cy="457200"/>
          </a:xfrm>
          <a:prstGeom prst="rect">
            <a:avLst/>
          </a:prstGeom>
          <a:noFill/>
          <a:ln/>
        </p:spPr>
        <p:txBody>
          <a:bodyPr wrap="square" rtlCol="0" anchor="ctr"/>
          <a:lstStyle/>
          <a:p>
            <a:pPr indent="0" marL="0">
              <a:buNone/>
            </a:pPr>
            <a:r>
              <a:rPr lang="en-US" sz="1400" b="1" spc="200" kern="0" dirty="0">
                <a:solidFill>
                  <a:srgbClr val="BFE3DA"/>
                </a:solidFill>
                <a:latin typeface="游ゴシック" pitchFamily="34" charset="0"/>
                <a:ea typeface="游ゴシック" pitchFamily="34" charset="-122"/>
                <a:cs typeface="游ゴシック" pitchFamily="34" charset="-120"/>
              </a:rPr>
              <a:t>都知事杯オープンデータ・ハッカソン 2026</a:t>
            </a:r>
            <a:endParaRPr lang="en-US" sz="1400" dirty="0"/>
          </a:p>
        </p:txBody>
      </p:sp>
      <p:sp>
        <p:nvSpPr>
          <p:cNvPr id="3" name="Text 1"/>
          <p:cNvSpPr/>
          <p:nvPr/>
        </p:nvSpPr>
        <p:spPr>
          <a:xfrm>
            <a:off x="777240" y="1828800"/>
            <a:ext cx="6177000" cy="1463040"/>
          </a:xfrm>
          <a:prstGeom prst="rect">
            <a:avLst/>
          </a:prstGeom>
          <a:noFill/>
          <a:ln/>
        </p:spPr>
        <p:txBody>
          <a:bodyPr wrap="square" lIns="0" tIns="0" rIns="0" bIns="0" rtlCol="0" anchor="ctr"/>
          <a:lstStyle/>
          <a:p>
            <a:pPr indent="0" marL="0">
              <a:buNone/>
            </a:pPr>
            <a:r>
              <a:rPr lang="en-US" sz="8000" b="1" dirty="0">
                <a:solidFill>
                  <a:srgbClr val="FFFFFF"/>
                </a:solidFill>
                <a:latin typeface="游ゴシック" pitchFamily="34" charset="0"/>
                <a:ea typeface="游ゴシック" pitchFamily="34" charset="-122"/>
                <a:cs typeface="游ゴシック" pitchFamily="34" charset="-120"/>
              </a:rPr>
              <a:t>結（ゆい）</a:t>
            </a:r>
            <a:endParaRPr lang="en-US" sz="8000" dirty="0"/>
          </a:p>
        </p:txBody>
      </p:sp>
      <p:sp>
        <p:nvSpPr>
          <p:cNvPr id="4" name="Text 2"/>
          <p:cNvSpPr/>
          <p:nvPr/>
        </p:nvSpPr>
        <p:spPr>
          <a:xfrm>
            <a:off x="822960" y="3383280"/>
            <a:ext cx="6177000" cy="731520"/>
          </a:xfrm>
          <a:prstGeom prst="rect">
            <a:avLst/>
          </a:prstGeom>
          <a:noFill/>
          <a:ln/>
        </p:spPr>
        <p:txBody>
          <a:bodyPr wrap="square" rtlCol="0" anchor="ctr"/>
          <a:lstStyle/>
          <a:p>
            <a:pPr indent="0" marL="0">
              <a:buNone/>
            </a:pPr>
            <a:r>
              <a:rPr lang="en-US" sz="1800" i="1" dirty="0">
                <a:solidFill>
                  <a:srgbClr val="E4EFEA"/>
                </a:solidFill>
                <a:latin typeface="游ゴシック" pitchFamily="34" charset="0"/>
                <a:ea typeface="游ゴシック" pitchFamily="34" charset="-122"/>
                <a:cs typeface="游ゴシック" pitchFamily="34" charset="-120"/>
              </a:rPr>
              <a:t>土砂災害現場で無事を待つ家族と救助隊を情報共有でつなぎ、救助を後押しする無料アプリ「結」</a:t>
            </a:r>
            <a:endParaRPr lang="en-US" sz="1800" dirty="0"/>
          </a:p>
        </p:txBody>
      </p:sp>
      <p:sp>
        <p:nvSpPr>
          <p:cNvPr id="5" name="Shape 3"/>
          <p:cNvSpPr/>
          <p:nvPr/>
        </p:nvSpPr>
        <p:spPr>
          <a:xfrm>
            <a:off x="822960" y="4434840"/>
            <a:ext cx="3200400" cy="502920"/>
          </a:xfrm>
          <a:prstGeom prst="roundRect">
            <a:avLst>
              <a:gd name="adj" fmla="val 50909"/>
            </a:avLst>
          </a:prstGeom>
          <a:solidFill>
            <a:srgbClr val="FFFFFF">
              <a:alpha val="12000"/>
            </a:srgbClr>
          </a:solidFill>
          <a:ln w="12700">
            <a:solidFill>
              <a:srgbClr val="FFFFFF"/>
            </a:solidFill>
            <a:prstDash val="solid"/>
          </a:ln>
        </p:spPr>
      </p:sp>
      <p:sp>
        <p:nvSpPr>
          <p:cNvPr id="6" name="Text 4"/>
          <p:cNvSpPr/>
          <p:nvPr/>
        </p:nvSpPr>
        <p:spPr>
          <a:xfrm>
            <a:off x="822960" y="4434840"/>
            <a:ext cx="3200400" cy="502920"/>
          </a:xfrm>
          <a:prstGeom prst="rect">
            <a:avLst/>
          </a:prstGeom>
          <a:noFill/>
          <a:ln/>
        </p:spPr>
        <p:txBody>
          <a:bodyPr wrap="square" lIns="0" tIns="0" rIns="0" bIns="0" rtlCol="0" anchor="ctr"/>
          <a:lstStyle/>
          <a:p>
            <a:pPr algn="ctr" indent="0" marL="0">
              <a:buNone/>
            </a:pPr>
            <a:r>
              <a:rPr lang="en-US" sz="1300" dirty="0">
                <a:solidFill>
                  <a:srgbClr val="FFFFFF"/>
                </a:solidFill>
                <a:latin typeface="游ゴシック" pitchFamily="34" charset="0"/>
                <a:ea typeface="游ゴシック" pitchFamily="34" charset="-122"/>
                <a:cs typeface="游ゴシック" pitchFamily="34" charset="-120"/>
              </a:rPr>
              <a:t>チーム「結」（個人開発）</a:t>
            </a:r>
            <a:endParaRPr lang="en-US" sz="1300" dirty="0"/>
          </a:p>
        </p:txBody>
      </p:sp>
      <p:sp>
        <p:nvSpPr>
          <p:cNvPr id="7" name="Text 5"/>
          <p:cNvSpPr/>
          <p:nvPr/>
        </p:nvSpPr>
        <p:spPr>
          <a:xfrm>
            <a:off x="822960" y="6126480"/>
            <a:ext cx="6177000" cy="365760"/>
          </a:xfrm>
          <a:prstGeom prst="rect">
            <a:avLst/>
          </a:prstGeom>
          <a:noFill/>
          <a:ln/>
        </p:spPr>
        <p:txBody>
          <a:bodyPr wrap="square" rtlCol="0" anchor="ctr"/>
          <a:lstStyle/>
          <a:p>
            <a:pPr indent="0" marL="0">
              <a:buNone/>
            </a:pPr>
            <a:r>
              <a:rPr lang="en-US" sz="1200" dirty="0">
                <a:solidFill>
                  <a:srgbClr val="9FC7BC"/>
                </a:solidFill>
                <a:latin typeface="游ゴシック" pitchFamily="34" charset="0"/>
                <a:ea typeface="游ゴシック" pitchFamily="34" charset="-122"/>
                <a:cs typeface="游ゴシック" pitchFamily="34" charset="-120"/>
              </a:rPr>
              <a:t>現場で待機する被災者家族・関係者のための、Web完結・無料の情報共有アプリ</a:t>
            </a:r>
            <a:endParaRPr lang="en-US" sz="1200" dirty="0"/>
          </a:p>
        </p:txBody>
      </p:sp>
      <p:pic>
        <p:nvPicPr>
          <p:cNvPr id="8" name="Picture 7" descr="handshake.png"/>
          <p:cNvPicPr>
            <a:picLocks noChangeAspect="1"/>
          </p:cNvPicPr>
          <p:nvPr/>
        </p:nvPicPr>
        <p:blipFill>
          <a:blip r:embed="rId3"/>
          <a:stretch>
            <a:fillRect/>
          </a:stretch>
        </p:blipFill>
        <p:spPr>
          <a:xfrm>
            <a:off x="7550000" y="1329000"/>
            <a:ext cx="4200000" cy="420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5486400" cy="640080"/>
          </a:xfrm>
          <a:prstGeom prst="rect">
            <a:avLst/>
          </a:prstGeom>
          <a:noFill/>
          <a:ln/>
        </p:spPr>
        <p:txBody>
          <a:bodyPr wrap="square" rtlCol="0" anchor="ctr"/>
          <a:lstStyle/>
          <a:p>
            <a:pPr indent="0" marL="0">
              <a:buNone/>
            </a:pPr>
            <a:r>
              <a:rPr lang="en-US" sz="3400" b="1" dirty="0">
                <a:solidFill>
                  <a:srgbClr val="1F4E4A"/>
                </a:solidFill>
                <a:latin typeface="游ゴシック" pitchFamily="34" charset="0"/>
                <a:ea typeface="游ゴシック" pitchFamily="34" charset="-122"/>
                <a:cs typeface="游ゴシック" pitchFamily="34" charset="-120"/>
              </a:rPr>
              <a:t>課題</a:t>
            </a:r>
            <a:endParaRPr lang="en-US" sz="3400" dirty="0"/>
          </a:p>
        </p:txBody>
      </p:sp>
      <p:sp>
        <p:nvSpPr>
          <p:cNvPr id="3" name="Text 1"/>
          <p:cNvSpPr/>
          <p:nvPr/>
        </p:nvSpPr>
        <p:spPr>
          <a:xfrm>
            <a:off x="822960" y="1143000"/>
            <a:ext cx="10332720" cy="502920"/>
          </a:xfrm>
          <a:prstGeom prst="rect">
            <a:avLst/>
          </a:prstGeom>
          <a:noFill/>
          <a:ln/>
        </p:spPr>
        <p:txBody>
          <a:bodyPr wrap="square" rtlCol="0" anchor="ctr"/>
          <a:lstStyle/>
          <a:p>
            <a:pPr indent="0" marL="0">
              <a:buNone/>
            </a:pPr>
            <a:r>
              <a:rPr lang="en-US" sz="1600" i="1" dirty="0">
                <a:solidFill>
                  <a:srgbClr val="4B545C"/>
                </a:solidFill>
                <a:latin typeface="游ゴシック" pitchFamily="34" charset="0"/>
                <a:ea typeface="游ゴシック" pitchFamily="34" charset="-122"/>
                <a:cs typeface="游ゴシック" pitchFamily="34" charset="-120"/>
              </a:rPr>
              <a:t>土砂災害の現場で、家族は「ただ待つ」ことしかできなかった</a:t>
            </a:r>
            <a:endParaRPr lang="en-US" sz="1600" dirty="0"/>
          </a:p>
        </p:txBody>
      </p:sp>
      <p:sp>
        <p:nvSpPr>
          <p:cNvPr id="4" name="Shape 2"/>
          <p:cNvSpPr/>
          <p:nvPr/>
        </p:nvSpPr>
        <p:spPr>
          <a:xfrm>
            <a:off x="822960" y="1965960"/>
            <a:ext cx="3319272" cy="3566160"/>
          </a:xfrm>
          <a:prstGeom prst="roundRect">
            <a:avLst>
              <a:gd name="adj" fmla="val 3306"/>
            </a:avLst>
          </a:prstGeom>
          <a:solidFill>
            <a:srgbClr val="F4F5F3"/>
          </a:solidFill>
          <a:ln/>
          <a:effectLst>
            <a:outerShdw sx="100000" sy="100000" kx="0" ky="0" algn="bl" rotWithShape="0" blurRad="127000" dist="38100" dir="5400000">
              <a:srgbClr val="000000">
                <a:alpha val="18000"/>
              </a:srgbClr>
            </a:outerShdw>
          </a:effectLst>
        </p:spPr>
      </p:sp>
      <p:sp>
        <p:nvSpPr>
          <p:cNvPr id="5" name="Shape 3"/>
          <p:cNvSpPr/>
          <p:nvPr/>
        </p:nvSpPr>
        <p:spPr>
          <a:xfrm>
            <a:off x="1143000" y="2331720"/>
            <a:ext cx="822960" cy="822960"/>
          </a:xfrm>
          <a:prstGeom prst="ellipse">
            <a:avLst/>
          </a:prstGeom>
          <a:solidFill>
            <a:srgbClr val="1F4E4A"/>
          </a:solidFill>
          <a:ln/>
        </p:spPr>
      </p:sp>
      <p:sp>
        <p:nvSpPr>
          <p:cNvPr id="6" name="Text 4"/>
          <p:cNvSpPr/>
          <p:nvPr/>
        </p:nvSpPr>
        <p:spPr>
          <a:xfrm>
            <a:off x="1143000" y="2331720"/>
            <a:ext cx="822960" cy="82296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7" name="Text 5"/>
          <p:cNvSpPr/>
          <p:nvPr/>
        </p:nvSpPr>
        <p:spPr>
          <a:xfrm>
            <a:off x="1143000" y="3337560"/>
            <a:ext cx="2679192" cy="640080"/>
          </a:xfrm>
          <a:prstGeom prst="rect">
            <a:avLst/>
          </a:prstGeom>
          <a:noFill/>
          <a:ln/>
        </p:spPr>
        <p:txBody>
          <a:bodyPr wrap="square" lIns="0" tIns="0" rIns="0" bIns="0" rtlCol="0" anchor="ctr"/>
          <a:lstStyle/>
          <a:p>
            <a:pPr indent="0" marL="0">
              <a:buNone/>
            </a:pPr>
            <a:r>
              <a:rPr lang="en-US" sz="1700" b="1" dirty="0">
                <a:solidFill>
                  <a:srgbClr val="1C2126"/>
                </a:solidFill>
                <a:latin typeface="游ゴシック" pitchFamily="34" charset="0"/>
                <a:ea typeface="游ゴシック" pitchFamily="34" charset="-122"/>
                <a:cs typeface="游ゴシック" pitchFamily="34" charset="-120"/>
              </a:rPr>
              <a:t>何もできず、ただ待つ</a:t>
            </a:r>
            <a:endParaRPr lang="en-US" sz="1700" dirty="0"/>
          </a:p>
        </p:txBody>
      </p:sp>
      <p:sp>
        <p:nvSpPr>
          <p:cNvPr id="8" name="Text 6"/>
          <p:cNvSpPr/>
          <p:nvPr/>
        </p:nvSpPr>
        <p:spPr>
          <a:xfrm>
            <a:off x="1143000" y="3977640"/>
            <a:ext cx="2679192" cy="1417320"/>
          </a:xfrm>
          <a:prstGeom prst="rect">
            <a:avLst/>
          </a:prstGeom>
          <a:noFill/>
          <a:ln/>
        </p:spPr>
        <p:txBody>
          <a:bodyPr wrap="square" lIns="0" tIns="0" rIns="0" bIns="0" rtlCol="0" anchor="ctr"/>
          <a:lstStyle/>
          <a:p>
            <a:pPr indent="0" marL="0">
              <a:lnSpc>
                <a:spcPct val="125000"/>
              </a:lnSpc>
              <a:buNone/>
            </a:pPr>
            <a:r>
              <a:rPr lang="en-US" sz="1250" dirty="0">
                <a:solidFill>
                  <a:srgbClr val="4B545C"/>
                </a:solidFill>
                <a:latin typeface="游ゴシック" pitchFamily="34" charset="0"/>
                <a:ea typeface="游ゴシック" pitchFamily="34" charset="-122"/>
                <a:cs typeface="游ゴシック" pitchFamily="34" charset="-120"/>
              </a:rPr>
              <a:t>現場に居合わせた家族・親戚は、捜索・救助の間、何も手伝うことができない。</a:t>
            </a:r>
            <a:endParaRPr lang="en-US" sz="1250" dirty="0"/>
          </a:p>
        </p:txBody>
      </p:sp>
      <p:sp>
        <p:nvSpPr>
          <p:cNvPr id="9" name="Shape 7"/>
          <p:cNvSpPr/>
          <p:nvPr/>
        </p:nvSpPr>
        <p:spPr>
          <a:xfrm>
            <a:off x="4462272" y="1965960"/>
            <a:ext cx="3319272" cy="3566160"/>
          </a:xfrm>
          <a:prstGeom prst="roundRect">
            <a:avLst>
              <a:gd name="adj" fmla="val 3306"/>
            </a:avLst>
          </a:prstGeom>
          <a:solidFill>
            <a:srgbClr val="F4F5F3"/>
          </a:solidFill>
          <a:ln/>
          <a:effectLst>
            <a:outerShdw sx="100000" sy="100000" kx="0" ky="0" algn="bl" rotWithShape="0" blurRad="127000" dist="38100" dir="5400000">
              <a:srgbClr val="000000">
                <a:alpha val="18000"/>
              </a:srgbClr>
            </a:outerShdw>
          </a:effectLst>
        </p:spPr>
      </p:sp>
      <p:sp>
        <p:nvSpPr>
          <p:cNvPr id="10" name="Shape 8"/>
          <p:cNvSpPr/>
          <p:nvPr/>
        </p:nvSpPr>
        <p:spPr>
          <a:xfrm>
            <a:off x="4782312" y="2331720"/>
            <a:ext cx="822960" cy="822960"/>
          </a:xfrm>
          <a:prstGeom prst="ellipse">
            <a:avLst/>
          </a:prstGeom>
          <a:solidFill>
            <a:srgbClr val="1F4E4A"/>
          </a:solidFill>
          <a:ln/>
        </p:spPr>
      </p:sp>
      <p:sp>
        <p:nvSpPr>
          <p:cNvPr id="11" name="Text 9"/>
          <p:cNvSpPr/>
          <p:nvPr/>
        </p:nvSpPr>
        <p:spPr>
          <a:xfrm>
            <a:off x="4782312" y="2331720"/>
            <a:ext cx="822960" cy="82296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2" name="Text 10"/>
          <p:cNvSpPr/>
          <p:nvPr/>
        </p:nvSpPr>
        <p:spPr>
          <a:xfrm>
            <a:off x="4782312" y="3337560"/>
            <a:ext cx="2679192" cy="640080"/>
          </a:xfrm>
          <a:prstGeom prst="rect">
            <a:avLst/>
          </a:prstGeom>
          <a:noFill/>
          <a:ln/>
        </p:spPr>
        <p:txBody>
          <a:bodyPr wrap="square" lIns="0" tIns="0" rIns="0" bIns="0" rtlCol="0" anchor="ctr"/>
          <a:lstStyle/>
          <a:p>
            <a:pPr indent="0" marL="0">
              <a:buNone/>
            </a:pPr>
            <a:r>
              <a:rPr lang="en-US" sz="1700" b="1" dirty="0">
                <a:solidFill>
                  <a:srgbClr val="1C2126"/>
                </a:solidFill>
                <a:latin typeface="游ゴシック" pitchFamily="34" charset="0"/>
                <a:ea typeface="游ゴシック" pitchFamily="34" charset="-122"/>
                <a:cs typeface="游ゴシック" pitchFamily="34" charset="-120"/>
              </a:rPr>
              <a:t>聞き取りで指揮の手が止まる</a:t>
            </a:r>
            <a:endParaRPr lang="en-US" sz="1700" dirty="0"/>
          </a:p>
        </p:txBody>
      </p:sp>
      <p:sp>
        <p:nvSpPr>
          <p:cNvPr id="13" name="Text 11"/>
          <p:cNvSpPr/>
          <p:nvPr/>
        </p:nvSpPr>
        <p:spPr>
          <a:xfrm>
            <a:off x="4782312" y="3977640"/>
            <a:ext cx="2679192" cy="1417320"/>
          </a:xfrm>
          <a:prstGeom prst="rect">
            <a:avLst/>
          </a:prstGeom>
          <a:noFill/>
          <a:ln/>
        </p:spPr>
        <p:txBody>
          <a:bodyPr wrap="square" lIns="0" tIns="0" rIns="0" bIns="0" rtlCol="0" anchor="ctr"/>
          <a:lstStyle/>
          <a:p>
            <a:pPr indent="0" marL="0">
              <a:lnSpc>
                <a:spcPct val="125000"/>
              </a:lnSpc>
              <a:buNone/>
            </a:pPr>
            <a:r>
              <a:rPr lang="en-US" sz="1250" dirty="0">
                <a:solidFill>
                  <a:srgbClr val="4B545C"/>
                </a:solidFill>
                <a:latin typeface="游ゴシック" pitchFamily="34" charset="0"/>
                <a:ea typeface="游ゴシック" pitchFamily="34" charset="-122"/>
                <a:cs typeface="游ゴシック" pitchFamily="34" charset="-120"/>
              </a:rPr>
              <a:t>唯一伝えられる間取りや特徴も、司令官が家族から直接聞き取るため、捜索の手が止まる。</a:t>
            </a:r>
            <a:endParaRPr lang="en-US" sz="1250" dirty="0"/>
          </a:p>
        </p:txBody>
      </p:sp>
      <p:sp>
        <p:nvSpPr>
          <p:cNvPr id="14" name="Shape 12"/>
          <p:cNvSpPr/>
          <p:nvPr/>
        </p:nvSpPr>
        <p:spPr>
          <a:xfrm>
            <a:off x="8101584" y="1965960"/>
            <a:ext cx="3319272" cy="3566160"/>
          </a:xfrm>
          <a:prstGeom prst="roundRect">
            <a:avLst>
              <a:gd name="adj" fmla="val 3306"/>
            </a:avLst>
          </a:prstGeom>
          <a:solidFill>
            <a:srgbClr val="F4F5F3"/>
          </a:solidFill>
          <a:ln/>
          <a:effectLst>
            <a:outerShdw sx="100000" sy="100000" kx="0" ky="0" algn="bl" rotWithShape="0" blurRad="127000" dist="38100" dir="5400000">
              <a:srgbClr val="000000">
                <a:alpha val="18000"/>
              </a:srgbClr>
            </a:outerShdw>
          </a:effectLst>
        </p:spPr>
      </p:sp>
      <p:sp>
        <p:nvSpPr>
          <p:cNvPr id="15" name="Shape 13"/>
          <p:cNvSpPr/>
          <p:nvPr/>
        </p:nvSpPr>
        <p:spPr>
          <a:xfrm>
            <a:off x="8421624" y="2331720"/>
            <a:ext cx="822960" cy="822960"/>
          </a:xfrm>
          <a:prstGeom prst="ellipse">
            <a:avLst/>
          </a:prstGeom>
          <a:solidFill>
            <a:srgbClr val="1F4E4A"/>
          </a:solidFill>
          <a:ln/>
        </p:spPr>
      </p:sp>
      <p:sp>
        <p:nvSpPr>
          <p:cNvPr id="16" name="Text 14"/>
          <p:cNvSpPr/>
          <p:nvPr/>
        </p:nvSpPr>
        <p:spPr>
          <a:xfrm>
            <a:off x="8421624" y="2331720"/>
            <a:ext cx="822960" cy="82296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7" name="Text 15"/>
          <p:cNvSpPr/>
          <p:nvPr/>
        </p:nvSpPr>
        <p:spPr>
          <a:xfrm>
            <a:off x="8421624" y="3337560"/>
            <a:ext cx="2679192" cy="640080"/>
          </a:xfrm>
          <a:prstGeom prst="rect">
            <a:avLst/>
          </a:prstGeom>
          <a:noFill/>
          <a:ln/>
        </p:spPr>
        <p:txBody>
          <a:bodyPr wrap="square" lIns="0" tIns="0" rIns="0" bIns="0" rtlCol="0" anchor="ctr"/>
          <a:lstStyle/>
          <a:p>
            <a:pPr indent="0" marL="0">
              <a:buNone/>
            </a:pPr>
            <a:r>
              <a:rPr lang="en-US" sz="1700" b="1" dirty="0">
                <a:solidFill>
                  <a:srgbClr val="1C2126"/>
                </a:solidFill>
                <a:latin typeface="游ゴシック" pitchFamily="34" charset="0"/>
                <a:ea typeface="游ゴシック" pitchFamily="34" charset="-122"/>
                <a:cs typeface="游ゴシック" pitchFamily="34" charset="-120"/>
              </a:rPr>
              <a:t>人づての伝言でロスが生じる</a:t>
            </a:r>
            <a:endParaRPr lang="en-US" sz="1700" dirty="0"/>
          </a:p>
        </p:txBody>
      </p:sp>
      <p:sp>
        <p:nvSpPr>
          <p:cNvPr id="18" name="Text 16"/>
          <p:cNvSpPr/>
          <p:nvPr/>
        </p:nvSpPr>
        <p:spPr>
          <a:xfrm>
            <a:off x="8421624" y="3977640"/>
            <a:ext cx="2679192" cy="1417320"/>
          </a:xfrm>
          <a:prstGeom prst="rect">
            <a:avLst/>
          </a:prstGeom>
          <a:noFill/>
          <a:ln/>
        </p:spPr>
        <p:txBody>
          <a:bodyPr wrap="square" lIns="0" tIns="0" rIns="0" bIns="0" rtlCol="0" anchor="ctr"/>
          <a:lstStyle/>
          <a:p>
            <a:pPr indent="0" marL="0">
              <a:lnSpc>
                <a:spcPct val="125000"/>
              </a:lnSpc>
              <a:buNone/>
            </a:pPr>
            <a:r>
              <a:rPr lang="en-US" sz="1250" dirty="0">
                <a:solidFill>
                  <a:srgbClr val="4B545C"/>
                </a:solidFill>
                <a:latin typeface="游ゴシック" pitchFamily="34" charset="0"/>
                <a:ea typeface="游ゴシック" pitchFamily="34" charset="-122"/>
                <a:cs typeface="游ゴシック" pitchFamily="34" charset="-120"/>
              </a:rPr>
              <a:t>聞き取った内容を他の関係者へ伝えるのも人づてに頼らざるを得ず、遅延や伝達ミスが起きる。</a:t>
            </a:r>
            <a:endParaRPr lang="en-US" sz="1250" dirty="0"/>
          </a:p>
        </p:txBody>
      </p:sp>
      <p:sp>
        <p:nvSpPr>
          <p:cNvPr id="19" name="Text 17"/>
          <p:cNvSpPr/>
          <p:nvPr/>
        </p:nvSpPr>
        <p:spPr>
          <a:xfrm>
            <a:off x="822960" y="6080760"/>
            <a:ext cx="10332720" cy="457200"/>
          </a:xfrm>
          <a:prstGeom prst="rect">
            <a:avLst/>
          </a:prstGeom>
          <a:noFill/>
          <a:ln/>
        </p:spPr>
        <p:txBody>
          <a:bodyPr wrap="square" rtlCol="0" anchor="ctr"/>
          <a:lstStyle/>
          <a:p>
            <a:pPr indent="0" marL="0">
              <a:buNone/>
            </a:pPr>
            <a:r>
              <a:rPr lang="en-US" sz="1200" i="1" dirty="0">
                <a:solidFill>
                  <a:srgbClr val="4B545C"/>
                </a:solidFill>
                <a:latin typeface="游ゴシック" pitchFamily="34" charset="0"/>
                <a:ea typeface="游ゴシック" pitchFamily="34" charset="-122"/>
                <a:cs typeface="游ゴシック" pitchFamily="34" charset="-120"/>
              </a:rPr>
              <a:t>開発者自身が親戚の土砂災害に居合わせ、徹夜で立ち会った実体験から生まれた課題意識です。</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3936"/>
        </a:solidFill>
      </p:bgPr>
    </p:bg>
    <p:spTree>
      <p:nvGrpSpPr>
        <p:cNvPr id="1" name=""/>
        <p:cNvGrpSpPr/>
        <p:nvPr/>
      </p:nvGrpSpPr>
      <p:grpSpPr>
        <a:xfrm>
          <a:off x="0" y="0"/>
          <a:ext cx="0" cy="0"/>
          <a:chOff x="0" y="0"/>
          <a:chExt cx="0" cy="0"/>
        </a:xfrm>
      </p:grpSpPr>
      <p:sp>
        <p:nvSpPr>
          <p:cNvPr id="2" name="Text 0"/>
          <p:cNvSpPr/>
          <p:nvPr/>
        </p:nvSpPr>
        <p:spPr>
          <a:xfrm>
            <a:off x="822960" y="457200"/>
            <a:ext cx="5486400" cy="640080"/>
          </a:xfrm>
          <a:prstGeom prst="rect">
            <a:avLst/>
          </a:prstGeom>
          <a:noFill/>
          <a:ln/>
        </p:spPr>
        <p:txBody>
          <a:bodyPr wrap="square" rtlCol="0" anchor="ctr"/>
          <a:lstStyle/>
          <a:p>
            <a:pPr indent="0" marL="0">
              <a:buNone/>
            </a:pPr>
            <a:r>
              <a:rPr lang="en-US" sz="3400" b="1" dirty="0">
                <a:solidFill>
                  <a:srgbClr val="FFFFFF"/>
                </a:solidFill>
                <a:latin typeface="游ゴシック" pitchFamily="34" charset="0"/>
                <a:ea typeface="游ゴシック" pitchFamily="34" charset="-122"/>
                <a:cs typeface="游ゴシック" pitchFamily="34" charset="-120"/>
              </a:rPr>
              <a:t>デモ</a:t>
            </a:r>
            <a:endParaRPr lang="en-US" sz="3400" dirty="0"/>
          </a:p>
        </p:txBody>
      </p:sp>
      <p:sp>
        <p:nvSpPr>
          <p:cNvPr id="3" name="Text 1"/>
          <p:cNvSpPr/>
          <p:nvPr/>
        </p:nvSpPr>
        <p:spPr>
          <a:xfrm>
            <a:off x="822960" y="1097280"/>
            <a:ext cx="7315200" cy="457200"/>
          </a:xfrm>
          <a:prstGeom prst="rect">
            <a:avLst/>
          </a:prstGeom>
          <a:noFill/>
          <a:ln/>
        </p:spPr>
        <p:txBody>
          <a:bodyPr wrap="square" rtlCol="0" anchor="ctr"/>
          <a:lstStyle/>
          <a:p>
            <a:pPr indent="0" marL="0">
              <a:buNone/>
            </a:pPr>
            <a:r>
              <a:rPr lang="en-US" sz="1600" i="1" dirty="0">
                <a:solidFill>
                  <a:srgbClr val="9FC7BC"/>
                </a:solidFill>
                <a:latin typeface="游ゴシック" pitchFamily="34" charset="0"/>
                <a:ea typeface="游ゴシック" pitchFamily="34" charset="-122"/>
                <a:cs typeface="游ゴシック" pitchFamily="34" charset="-120"/>
              </a:rPr>
              <a:t>実際の画面操作</a:t>
            </a:r>
            <a:endParaRPr lang="en-US" sz="1600" dirty="0"/>
          </a:p>
        </p:txBody>
      </p:sp>
      <p:sp>
        <p:nvSpPr>
          <p:cNvPr id="5" name="Text 2"/>
          <p:cNvSpPr/>
          <p:nvPr/>
        </p:nvSpPr>
        <p:spPr>
          <a:xfrm>
            <a:off x="2093976" y="6355080"/>
            <a:ext cx="8001000" cy="365760"/>
          </a:xfrm>
          <a:prstGeom prst="rect">
            <a:avLst/>
          </a:prstGeom>
          <a:noFill/>
          <a:ln/>
        </p:spPr>
        <p:txBody>
          <a:bodyPr wrap="square" rtlCol="0" anchor="ctr"/>
          <a:lstStyle/>
          <a:p>
            <a:pPr algn="ctr" indent="0" marL="0">
              <a:buNone/>
            </a:pPr>
            <a:r>
              <a:rPr lang="en-US" sz="1100" dirty="0">
                <a:solidFill>
                  <a:srgbClr val="9FC7BC"/>
                </a:solidFill>
                <a:latin typeface="游ゴシック" pitchFamily="34" charset="0"/>
                <a:ea typeface="游ゴシック" pitchFamily="34" charset="-122"/>
                <a:cs typeface="游ゴシック" pitchFamily="34" charset="-120"/>
              </a:rPr>
              <a:t>▶ クリックで再生（無音・約17秒）</a:t>
            </a:r>
            <a:endParaRPr lang="en-US" sz="1100" dirty="0"/>
          </a:p>
        </p:txBody>
      </p:sp>
      <p:pic>
        <p:nvPicPr>
          <p:cNvPr id="6" name="demo_video.mp4">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1"/>
          <a:stretch>
            <a:fillRect/>
          </a:stretch>
        </p:blipFill>
        <p:spPr>
          <a:xfrm>
            <a:off x="2096000" y="1700000"/>
            <a:ext cx="8000000" cy="4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7132320" cy="640080"/>
          </a:xfrm>
          <a:prstGeom prst="rect">
            <a:avLst/>
          </a:prstGeom>
          <a:noFill/>
        </p:spPr>
        <p:txBody>
          <a:bodyPr wrap="square">
            <a:spAutoFit/>
          </a:bodyPr>
          <a:lstStyle/>
          <a:p>
            <a:pPr algn="l"/>
            <a:r>
              <a:rPr sz="3400" b="1">
                <a:solidFill>
                  <a:srgbClr val="1F4E4A"/>
                </a:solidFill>
                <a:latin typeface="游ゴシック"/>
                <a:ea typeface="游ゴシック"/>
              </a:rPr>
              <a:t>解決策</a:t>
            </a:r>
          </a:p>
        </p:txBody>
      </p:sp>
      <p:sp>
        <p:nvSpPr>
          <p:cNvPr id="3" name="TextBox 2"/>
          <p:cNvSpPr txBox="1"/>
          <p:nvPr/>
        </p:nvSpPr>
        <p:spPr>
          <a:xfrm>
            <a:off x="822960" y="1143000"/>
            <a:ext cx="11155680" cy="502920"/>
          </a:xfrm>
          <a:prstGeom prst="rect">
            <a:avLst/>
          </a:prstGeom>
          <a:noFill/>
        </p:spPr>
        <p:txBody>
          <a:bodyPr wrap="square">
            <a:spAutoFit/>
          </a:bodyPr>
          <a:lstStyle/>
          <a:p>
            <a:pPr algn="l"/>
            <a:r>
              <a:rPr sz="1600" b="0">
                <a:solidFill>
                  <a:srgbClr val="4B545C"/>
                </a:solidFill>
                <a:latin typeface="游ゴシック"/>
                <a:ea typeface="游ゴシック"/>
              </a:rPr>
              <a:t>6桁のコードだけで、家族と現場をつなぐ</a:t>
            </a:r>
          </a:p>
        </p:txBody>
      </p:sp>
      <p:sp>
        <p:nvSpPr>
          <p:cNvPr id="4" name="Rounded Rectangle 3"/>
          <p:cNvSpPr/>
          <p:nvPr/>
        </p:nvSpPr>
        <p:spPr>
          <a:xfrm>
            <a:off x="822960" y="1750000"/>
            <a:ext cx="2600000" cy="900000"/>
          </a:xfrm>
          <a:prstGeom prst="roundRect">
            <a:avLst>
              <a:gd name="adj" fmla="val 3306"/>
            </a:avLst>
          </a:prstGeom>
          <a:solidFill>
            <a:srgbClr val="F4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50000"/>
            <a:ext cx="2600000" cy="900000"/>
          </a:xfrm>
          <a:prstGeom prst="rect">
            <a:avLst/>
          </a:prstGeom>
          <a:noFill/>
        </p:spPr>
        <p:txBody>
          <a:bodyPr wrap="square" anchor="t">
            <a:spAutoFit/>
          </a:bodyPr>
          <a:lstStyle/>
          <a:p>
            <a:pPr algn="ctr"/>
            <a:r>
              <a:rPr sz="1200" b="1">
                <a:solidFill>
                  <a:srgbClr val="1C2126"/>
                </a:solidFill>
                <a:latin typeface="游ゴシック"/>
                <a:ea typeface="游ゴシック"/>
              </a:rPr>
              <a:t>👨‍👩‍👧</a:t>
            </a:r>
          </a:p>
          <a:p>
            <a:pPr algn="ctr"/>
            <a:r>
              <a:rPr sz="1200" b="1">
                <a:solidFill>
                  <a:srgbClr val="1C2126"/>
                </a:solidFill>
                <a:latin typeface="游ゴシック"/>
                <a:ea typeface="游ゴシック"/>
              </a:rPr>
              <a:t>待機する家族・関係者</a:t>
            </a:r>
          </a:p>
        </p:txBody>
      </p:sp>
      <p:sp>
        <p:nvSpPr>
          <p:cNvPr id="6" name="Rounded Rectangle 5"/>
          <p:cNvSpPr/>
          <p:nvPr/>
        </p:nvSpPr>
        <p:spPr>
          <a:xfrm>
            <a:off x="3922960" y="1750000"/>
            <a:ext cx="2600000" cy="900000"/>
          </a:xfrm>
          <a:prstGeom prst="roundRect">
            <a:avLst>
              <a:gd name="adj" fmla="val 3306"/>
            </a:avLst>
          </a:prstGeom>
          <a:solidFill>
            <a:srgbClr val="1F4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22960" y="1750000"/>
            <a:ext cx="2600000" cy="900000"/>
          </a:xfrm>
          <a:prstGeom prst="rect">
            <a:avLst/>
          </a:prstGeom>
          <a:noFill/>
        </p:spPr>
        <p:txBody>
          <a:bodyPr wrap="square" anchor="t">
            <a:spAutoFit/>
          </a:bodyPr>
          <a:lstStyle/>
          <a:p>
            <a:pPr algn="ctr"/>
            <a:r>
              <a:rPr sz="1300" b="1">
                <a:solidFill>
                  <a:srgbClr val="FFFFFF"/>
                </a:solidFill>
                <a:latin typeface="游ゴシック"/>
                <a:ea typeface="游ゴシック"/>
              </a:rPr>
              <a:t>現場ルーム</a:t>
            </a:r>
          </a:p>
          <a:p>
            <a:pPr algn="ctr"/>
            <a:r>
              <a:rPr sz="1000" b="0">
                <a:solidFill>
                  <a:srgbClr val="E4EFEA"/>
                </a:solidFill>
                <a:latin typeface="游ゴシック"/>
                <a:ea typeface="游ゴシック"/>
              </a:rPr>
              <a:t>6桁コード・ログイン不要</a:t>
            </a:r>
          </a:p>
        </p:txBody>
      </p:sp>
      <p:sp>
        <p:nvSpPr>
          <p:cNvPr id="8" name="Rounded Rectangle 7"/>
          <p:cNvSpPr/>
          <p:nvPr/>
        </p:nvSpPr>
        <p:spPr>
          <a:xfrm>
            <a:off x="7022960" y="1750000"/>
            <a:ext cx="2600000" cy="900000"/>
          </a:xfrm>
          <a:prstGeom prst="roundRect">
            <a:avLst>
              <a:gd name="adj" fmla="val 3306"/>
            </a:avLst>
          </a:prstGeom>
          <a:solidFill>
            <a:srgbClr val="F4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22960" y="1750000"/>
            <a:ext cx="2600000" cy="900000"/>
          </a:xfrm>
          <a:prstGeom prst="rect">
            <a:avLst/>
          </a:prstGeom>
          <a:noFill/>
        </p:spPr>
        <p:txBody>
          <a:bodyPr wrap="square" anchor="t">
            <a:spAutoFit/>
          </a:bodyPr>
          <a:lstStyle/>
          <a:p>
            <a:pPr algn="ctr"/>
            <a:r>
              <a:rPr sz="1200" b="1">
                <a:solidFill>
                  <a:srgbClr val="1C2126"/>
                </a:solidFill>
                <a:latin typeface="游ゴシック"/>
                <a:ea typeface="游ゴシック"/>
              </a:rPr>
              <a:t>🚒</a:t>
            </a:r>
          </a:p>
          <a:p>
            <a:pPr algn="ctr"/>
            <a:r>
              <a:rPr sz="1200" b="1">
                <a:solidFill>
                  <a:srgbClr val="1C2126"/>
                </a:solidFill>
                <a:latin typeface="游ゴシック"/>
                <a:ea typeface="游ゴシック"/>
              </a:rPr>
              <a:t>現場指揮・救助隊</a:t>
            </a:r>
          </a:p>
        </p:txBody>
      </p:sp>
      <p:sp>
        <p:nvSpPr>
          <p:cNvPr id="10" name="TextBox 9"/>
          <p:cNvSpPr txBox="1"/>
          <p:nvPr/>
        </p:nvSpPr>
        <p:spPr>
          <a:xfrm>
            <a:off x="3422960" y="1750000"/>
            <a:ext cx="500000" cy="900000"/>
          </a:xfrm>
          <a:prstGeom prst="rect">
            <a:avLst/>
          </a:prstGeom>
          <a:noFill/>
        </p:spPr>
        <p:txBody>
          <a:bodyPr wrap="square" anchor="t">
            <a:spAutoFit/>
          </a:bodyPr>
          <a:lstStyle/>
          <a:p>
            <a:pPr algn="ctr"/>
            <a:r>
              <a:rPr sz="2000" b="1">
                <a:solidFill>
                  <a:srgbClr val="1F4E4A"/>
                </a:solidFill>
                <a:latin typeface="游ゴシック"/>
                <a:ea typeface="游ゴシック"/>
              </a:rPr>
              <a:t>→</a:t>
            </a:r>
          </a:p>
        </p:txBody>
      </p:sp>
      <p:sp>
        <p:nvSpPr>
          <p:cNvPr id="11" name="TextBox 10"/>
          <p:cNvSpPr txBox="1"/>
          <p:nvPr/>
        </p:nvSpPr>
        <p:spPr>
          <a:xfrm>
            <a:off x="6522960" y="1750000"/>
            <a:ext cx="500000" cy="900000"/>
          </a:xfrm>
          <a:prstGeom prst="rect">
            <a:avLst/>
          </a:prstGeom>
          <a:noFill/>
        </p:spPr>
        <p:txBody>
          <a:bodyPr wrap="square" anchor="t">
            <a:spAutoFit/>
          </a:bodyPr>
          <a:lstStyle/>
          <a:p>
            <a:pPr algn="ctr"/>
            <a:r>
              <a:rPr sz="2000" b="1">
                <a:solidFill>
                  <a:srgbClr val="1F4E4A"/>
                </a:solidFill>
                <a:latin typeface="游ゴシック"/>
                <a:ea typeface="游ゴシック"/>
              </a:rPr>
              <a:t>→</a:t>
            </a:r>
          </a:p>
        </p:txBody>
      </p:sp>
      <p:sp>
        <p:nvSpPr>
          <p:cNvPr id="12" name="Oval 11"/>
          <p:cNvSpPr/>
          <p:nvPr/>
        </p:nvSpPr>
        <p:spPr>
          <a:xfrm>
            <a:off x="822960" y="2910000"/>
            <a:ext cx="500000" cy="500000"/>
          </a:xfrm>
          <a:prstGeom prst="ellipse">
            <a:avLst/>
          </a:prstGeom>
          <a:solidFill>
            <a:srgbClr val="1F4E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0">
                <a:solidFill>
                  <a:srgbClr val="FFFFFF"/>
                </a:solidFill>
                <a:latin typeface="游ゴシック"/>
                <a:ea typeface="游ゴシック"/>
              </a:rPr>
              <a:t>🗺️</a:t>
            </a:r>
          </a:p>
        </p:txBody>
      </p:sp>
      <p:sp>
        <p:nvSpPr>
          <p:cNvPr id="13" name="TextBox 12"/>
          <p:cNvSpPr txBox="1"/>
          <p:nvPr/>
        </p:nvSpPr>
        <p:spPr>
          <a:xfrm>
            <a:off x="1422960" y="2880000"/>
            <a:ext cx="4690000" cy="340000"/>
          </a:xfrm>
          <a:prstGeom prst="rect">
            <a:avLst/>
          </a:prstGeom>
          <a:noFill/>
        </p:spPr>
        <p:txBody>
          <a:bodyPr wrap="square">
            <a:spAutoFit/>
          </a:bodyPr>
          <a:lstStyle/>
          <a:p>
            <a:pPr algn="l"/>
            <a:r>
              <a:rPr sz="1350" b="1">
                <a:solidFill>
                  <a:srgbClr val="1C2126"/>
                </a:solidFill>
                <a:latin typeface="游ゴシック"/>
                <a:ea typeface="游ゴシック"/>
              </a:rPr>
              <a:t>危険エリアの可視化</a:t>
            </a:r>
          </a:p>
        </p:txBody>
      </p:sp>
      <p:sp>
        <p:nvSpPr>
          <p:cNvPr id="14" name="TextBox 13"/>
          <p:cNvSpPr txBox="1"/>
          <p:nvPr/>
        </p:nvSpPr>
        <p:spPr>
          <a:xfrm>
            <a:off x="1422960" y="3190000"/>
            <a:ext cx="4690000" cy="620000"/>
          </a:xfrm>
          <a:prstGeom prst="rect">
            <a:avLst/>
          </a:prstGeom>
          <a:noFill/>
        </p:spPr>
        <p:txBody>
          <a:bodyPr wrap="square">
            <a:spAutoFit/>
          </a:bodyPr>
          <a:lstStyle/>
          <a:p>
            <a:pPr algn="l"/>
            <a:r>
              <a:rPr sz="1050" b="0">
                <a:solidFill>
                  <a:srgbClr val="4B545C"/>
                </a:solidFill>
                <a:latin typeface="游ゴシック"/>
                <a:ea typeface="游ゴシック"/>
              </a:rPr>
              <a:t>東京都の土砂災害警戒区域データを地図上に色分け表示</a:t>
            </a:r>
          </a:p>
        </p:txBody>
      </p:sp>
      <p:sp>
        <p:nvSpPr>
          <p:cNvPr id="15" name="Oval 14"/>
          <p:cNvSpPr/>
          <p:nvPr/>
        </p:nvSpPr>
        <p:spPr>
          <a:xfrm>
            <a:off x="6412960" y="2910000"/>
            <a:ext cx="500000" cy="500000"/>
          </a:xfrm>
          <a:prstGeom prst="ellipse">
            <a:avLst/>
          </a:prstGeom>
          <a:solidFill>
            <a:srgbClr val="1F4E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0">
                <a:solidFill>
                  <a:srgbClr val="FFFFFF"/>
                </a:solidFill>
                <a:latin typeface="游ゴシック"/>
                <a:ea typeface="游ゴシック"/>
              </a:rPr>
              <a:t>📋</a:t>
            </a:r>
          </a:p>
        </p:txBody>
      </p:sp>
      <p:sp>
        <p:nvSpPr>
          <p:cNvPr id="16" name="TextBox 15"/>
          <p:cNvSpPr txBox="1"/>
          <p:nvPr/>
        </p:nvSpPr>
        <p:spPr>
          <a:xfrm>
            <a:off x="7012960" y="2880000"/>
            <a:ext cx="4690000" cy="340000"/>
          </a:xfrm>
          <a:prstGeom prst="rect">
            <a:avLst/>
          </a:prstGeom>
          <a:noFill/>
        </p:spPr>
        <p:txBody>
          <a:bodyPr wrap="square">
            <a:spAutoFit/>
          </a:bodyPr>
          <a:lstStyle/>
          <a:p>
            <a:pPr algn="l"/>
            <a:r>
              <a:rPr sz="1350" b="1">
                <a:solidFill>
                  <a:srgbClr val="1C2126"/>
                </a:solidFill>
                <a:latin typeface="游ゴシック"/>
                <a:ea typeface="游ゴシック"/>
              </a:rPr>
              <a:t>事前問診フォーム</a:t>
            </a:r>
          </a:p>
        </p:txBody>
      </p:sp>
      <p:sp>
        <p:nvSpPr>
          <p:cNvPr id="17" name="TextBox 16"/>
          <p:cNvSpPr txBox="1"/>
          <p:nvPr/>
        </p:nvSpPr>
        <p:spPr>
          <a:xfrm>
            <a:off x="7012960" y="3190000"/>
            <a:ext cx="4690000" cy="620000"/>
          </a:xfrm>
          <a:prstGeom prst="rect">
            <a:avLst/>
          </a:prstGeom>
          <a:noFill/>
        </p:spPr>
        <p:txBody>
          <a:bodyPr wrap="square">
            <a:spAutoFit/>
          </a:bodyPr>
          <a:lstStyle/>
          <a:p>
            <a:pPr algn="l"/>
            <a:r>
              <a:rPr sz="1050" b="0">
                <a:solidFill>
                  <a:srgbClr val="4B545C"/>
                </a:solidFill>
                <a:latin typeface="游ゴシック"/>
                <a:ea typeface="游ゴシック"/>
              </a:rPr>
              <a:t>行方不明者情報を家族が事前入力。音声ガイド対応</a:t>
            </a:r>
          </a:p>
        </p:txBody>
      </p:sp>
      <p:sp>
        <p:nvSpPr>
          <p:cNvPr id="18" name="Oval 17"/>
          <p:cNvSpPr/>
          <p:nvPr/>
        </p:nvSpPr>
        <p:spPr>
          <a:xfrm>
            <a:off x="822960" y="3970000"/>
            <a:ext cx="500000" cy="500000"/>
          </a:xfrm>
          <a:prstGeom prst="ellipse">
            <a:avLst/>
          </a:prstGeom>
          <a:solidFill>
            <a:srgbClr val="1F4E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0">
                <a:solidFill>
                  <a:srgbClr val="FFFFFF"/>
                </a:solidFill>
                <a:latin typeface="游ゴシック"/>
                <a:ea typeface="游ゴシック"/>
              </a:rPr>
              <a:t>✏️</a:t>
            </a:r>
          </a:p>
        </p:txBody>
      </p:sp>
      <p:sp>
        <p:nvSpPr>
          <p:cNvPr id="19" name="TextBox 18"/>
          <p:cNvSpPr txBox="1"/>
          <p:nvPr/>
        </p:nvSpPr>
        <p:spPr>
          <a:xfrm>
            <a:off x="1422960" y="3940000"/>
            <a:ext cx="4690000" cy="340000"/>
          </a:xfrm>
          <a:prstGeom prst="rect">
            <a:avLst/>
          </a:prstGeom>
          <a:noFill/>
        </p:spPr>
        <p:txBody>
          <a:bodyPr wrap="square">
            <a:spAutoFit/>
          </a:bodyPr>
          <a:lstStyle/>
          <a:p>
            <a:pPr algn="l"/>
            <a:r>
              <a:rPr sz="1350" b="1">
                <a:solidFill>
                  <a:srgbClr val="1C2126"/>
                </a:solidFill>
                <a:latin typeface="游ゴシック"/>
                <a:ea typeface="游ゴシック"/>
              </a:rPr>
              <a:t>間取り手書き共有</a:t>
            </a:r>
          </a:p>
        </p:txBody>
      </p:sp>
      <p:sp>
        <p:nvSpPr>
          <p:cNvPr id="20" name="TextBox 19"/>
          <p:cNvSpPr txBox="1"/>
          <p:nvPr/>
        </p:nvSpPr>
        <p:spPr>
          <a:xfrm>
            <a:off x="1422960" y="4250000"/>
            <a:ext cx="4690000" cy="620000"/>
          </a:xfrm>
          <a:prstGeom prst="rect">
            <a:avLst/>
          </a:prstGeom>
          <a:noFill/>
        </p:spPr>
        <p:txBody>
          <a:bodyPr wrap="square">
            <a:spAutoFit/>
          </a:bodyPr>
          <a:lstStyle/>
          <a:p>
            <a:pPr algn="l"/>
            <a:r>
              <a:rPr sz="1050" b="0">
                <a:solidFill>
                  <a:srgbClr val="4B545C"/>
                </a:solidFill>
                <a:latin typeface="游ゴシック"/>
                <a:ea typeface="游ゴシック"/>
              </a:rPr>
              <a:t>救助隊員に聞かれる前に、簡易な間取り図を先回りで共有</a:t>
            </a:r>
          </a:p>
        </p:txBody>
      </p:sp>
      <p:sp>
        <p:nvSpPr>
          <p:cNvPr id="21" name="Oval 20"/>
          <p:cNvSpPr/>
          <p:nvPr/>
        </p:nvSpPr>
        <p:spPr>
          <a:xfrm>
            <a:off x="6412960" y="3970000"/>
            <a:ext cx="500000" cy="500000"/>
          </a:xfrm>
          <a:prstGeom prst="ellipse">
            <a:avLst/>
          </a:prstGeom>
          <a:solidFill>
            <a:srgbClr val="1F4E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0">
                <a:solidFill>
                  <a:srgbClr val="FFFFFF"/>
                </a:solidFill>
                <a:latin typeface="游ゴシック"/>
                <a:ea typeface="游ゴシック"/>
              </a:rPr>
              <a:t>⚠️</a:t>
            </a:r>
          </a:p>
        </p:txBody>
      </p:sp>
      <p:sp>
        <p:nvSpPr>
          <p:cNvPr id="22" name="TextBox 21"/>
          <p:cNvSpPr txBox="1"/>
          <p:nvPr/>
        </p:nvSpPr>
        <p:spPr>
          <a:xfrm>
            <a:off x="7012960" y="3940000"/>
            <a:ext cx="4690000" cy="340000"/>
          </a:xfrm>
          <a:prstGeom prst="rect">
            <a:avLst/>
          </a:prstGeom>
          <a:noFill/>
        </p:spPr>
        <p:txBody>
          <a:bodyPr wrap="square">
            <a:spAutoFit/>
          </a:bodyPr>
          <a:lstStyle/>
          <a:p>
            <a:pPr algn="l"/>
            <a:r>
              <a:rPr sz="1350" b="1">
                <a:solidFill>
                  <a:srgbClr val="1C2126"/>
                </a:solidFill>
                <a:latin typeface="游ゴシック"/>
                <a:ea typeface="游ゴシック"/>
              </a:rPr>
              <a:t>前兆現象の共有</a:t>
            </a:r>
          </a:p>
        </p:txBody>
      </p:sp>
      <p:sp>
        <p:nvSpPr>
          <p:cNvPr id="23" name="TextBox 22"/>
          <p:cNvSpPr txBox="1"/>
          <p:nvPr/>
        </p:nvSpPr>
        <p:spPr>
          <a:xfrm>
            <a:off x="7012960" y="4250000"/>
            <a:ext cx="4690000" cy="620000"/>
          </a:xfrm>
          <a:prstGeom prst="rect">
            <a:avLst/>
          </a:prstGeom>
          <a:noFill/>
        </p:spPr>
        <p:txBody>
          <a:bodyPr wrap="square">
            <a:spAutoFit/>
          </a:bodyPr>
          <a:lstStyle/>
          <a:p>
            <a:pPr algn="l"/>
            <a:r>
              <a:rPr sz="1050" b="0">
                <a:solidFill>
                  <a:srgbClr val="4B545C"/>
                </a:solidFill>
                <a:latin typeface="游ゴシック"/>
                <a:ea typeface="游ゴシック"/>
              </a:rPr>
              <a:t>公式チェックリストに基づく目撃情報をワンタップで共有</a:t>
            </a:r>
          </a:p>
        </p:txBody>
      </p:sp>
      <p:sp>
        <p:nvSpPr>
          <p:cNvPr id="24" name="TextBox 23"/>
          <p:cNvSpPr txBox="1"/>
          <p:nvPr/>
        </p:nvSpPr>
        <p:spPr>
          <a:xfrm>
            <a:off x="822960" y="5070000"/>
            <a:ext cx="11155680" cy="365760"/>
          </a:xfrm>
          <a:prstGeom prst="rect">
            <a:avLst/>
          </a:prstGeom>
          <a:noFill/>
        </p:spPr>
        <p:txBody>
          <a:bodyPr wrap="square">
            <a:spAutoFit/>
          </a:bodyPr>
          <a:lstStyle/>
          <a:p>
            <a:pPr algn="l"/>
            <a:r>
              <a:rPr sz="1050" b="0">
                <a:solidFill>
                  <a:srgbClr val="4B545C"/>
                </a:solidFill>
                <a:latin typeface="游ゴシック"/>
                <a:ea typeface="游ゴシック"/>
              </a:rPr>
              <a:t>対象データは東京都建設局河川部のオープンデータ(CC BY 4.0)を活用。Cloudflare Workers + D1で構築、完全無料で運用。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7132320" cy="640080"/>
          </a:xfrm>
          <a:prstGeom prst="rect">
            <a:avLst/>
          </a:prstGeom>
          <a:noFill/>
        </p:spPr>
        <p:txBody>
          <a:bodyPr wrap="square">
            <a:spAutoFit/>
          </a:bodyPr>
          <a:lstStyle/>
          <a:p>
            <a:pPr algn="l"/>
            <a:r>
              <a:rPr sz="3400" b="1">
                <a:solidFill>
                  <a:srgbClr val="1F4E4A"/>
                </a:solidFill>
                <a:latin typeface="游ゴシック"/>
                <a:ea typeface="游ゴシック"/>
              </a:rPr>
              <a:t>UI実例と安全設計</a:t>
            </a:r>
          </a:p>
        </p:txBody>
      </p:sp>
      <p:sp>
        <p:nvSpPr>
          <p:cNvPr id="3" name="TextBox 2"/>
          <p:cNvSpPr txBox="1"/>
          <p:nvPr/>
        </p:nvSpPr>
        <p:spPr>
          <a:xfrm>
            <a:off x="822960" y="1143000"/>
            <a:ext cx="11155680" cy="502920"/>
          </a:xfrm>
          <a:prstGeom prst="rect">
            <a:avLst/>
          </a:prstGeom>
          <a:noFill/>
        </p:spPr>
        <p:txBody>
          <a:bodyPr wrap="square">
            <a:spAutoFit/>
          </a:bodyPr>
          <a:lstStyle/>
          <a:p>
            <a:pPr algn="l"/>
            <a:r>
              <a:rPr sz="1600" b="0">
                <a:solidFill>
                  <a:srgbClr val="4B545C"/>
                </a:solidFill>
                <a:latin typeface="游ゴシック"/>
                <a:ea typeface="游ゴシック"/>
              </a:rPr>
              <a:t>危機感を伝えるUXと、そっと寄り添うAI</a:t>
            </a:r>
          </a:p>
        </p:txBody>
      </p:sp>
      <p:sp>
        <p:nvSpPr>
          <p:cNvPr id="4" name="Rounded Rectangle 3"/>
          <p:cNvSpPr/>
          <p:nvPr/>
        </p:nvSpPr>
        <p:spPr>
          <a:xfrm>
            <a:off x="400000" y="1874520"/>
            <a:ext cx="5596000" cy="3600000"/>
          </a:xfrm>
          <a:prstGeom prst="roundRect">
            <a:avLst>
              <a:gd name="adj" fmla="val 3306"/>
            </a:avLst>
          </a:prstGeom>
          <a:solidFill>
            <a:srgbClr val="F4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reenshot_02_intake.png"/>
          <p:cNvPicPr>
            <a:picLocks noChangeAspect="1"/>
          </p:cNvPicPr>
          <p:nvPr/>
        </p:nvPicPr>
        <p:blipFill>
          <a:blip r:embed="rId2"/>
          <a:stretch>
            <a:fillRect/>
          </a:stretch>
        </p:blipFill>
        <p:spPr>
          <a:xfrm>
            <a:off x="709111" y="1914520"/>
            <a:ext cx="4977777" cy="2800000"/>
          </a:xfrm>
          <a:prstGeom prst="rect">
            <a:avLst/>
          </a:prstGeom>
        </p:spPr>
      </p:pic>
      <p:sp>
        <p:nvSpPr>
          <p:cNvPr id="6" name="TextBox 5"/>
          <p:cNvSpPr txBox="1"/>
          <p:nvPr/>
        </p:nvSpPr>
        <p:spPr>
          <a:xfrm>
            <a:off x="440000" y="4754520"/>
            <a:ext cx="5516000" cy="340000"/>
          </a:xfrm>
          <a:prstGeom prst="rect">
            <a:avLst/>
          </a:prstGeom>
          <a:noFill/>
        </p:spPr>
        <p:txBody>
          <a:bodyPr wrap="square">
            <a:spAutoFit/>
          </a:bodyPr>
          <a:lstStyle/>
          <a:p>
            <a:pPr algn="l"/>
            <a:r>
              <a:rPr sz="1350" b="1">
                <a:solidFill>
                  <a:srgbClr val="1C2126"/>
                </a:solidFill>
                <a:latin typeface="游ゴシック"/>
                <a:ea typeface="游ゴシック"/>
              </a:rPr>
              <a:t>音声入力対応の事前問診フォーム</a:t>
            </a:r>
          </a:p>
        </p:txBody>
      </p:sp>
      <p:sp>
        <p:nvSpPr>
          <p:cNvPr id="7" name="TextBox 6"/>
          <p:cNvSpPr txBox="1"/>
          <p:nvPr/>
        </p:nvSpPr>
        <p:spPr>
          <a:xfrm>
            <a:off x="440000" y="5094520"/>
            <a:ext cx="5516000" cy="340000"/>
          </a:xfrm>
          <a:prstGeom prst="rect">
            <a:avLst/>
          </a:prstGeom>
          <a:noFill/>
        </p:spPr>
        <p:txBody>
          <a:bodyPr wrap="square">
            <a:spAutoFit/>
          </a:bodyPr>
          <a:lstStyle/>
          <a:p>
            <a:pPr algn="l"/>
            <a:r>
              <a:rPr sz="1000" b="0">
                <a:solidFill>
                  <a:srgbClr val="4B545C"/>
                </a:solidFill>
                <a:latin typeface="游ゴシック"/>
                <a:ea typeface="游ゴシック"/>
              </a:rPr>
              <a:t>文字入力が難しい状況でも、話しかけるだけで記録。必ず内容を確認してから反映する。</a:t>
            </a:r>
          </a:p>
        </p:txBody>
      </p:sp>
      <p:sp>
        <p:nvSpPr>
          <p:cNvPr id="8" name="Rounded Rectangle 7"/>
          <p:cNvSpPr/>
          <p:nvPr/>
        </p:nvSpPr>
        <p:spPr>
          <a:xfrm>
            <a:off x="6196000" y="1874520"/>
            <a:ext cx="5596000" cy="3600000"/>
          </a:xfrm>
          <a:prstGeom prst="roundRect">
            <a:avLst>
              <a:gd name="adj" fmla="val 3306"/>
            </a:avLst>
          </a:prstGeom>
          <a:solidFill>
            <a:srgbClr val="F4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6000" y="2174520"/>
            <a:ext cx="4996000" cy="400000"/>
          </a:xfrm>
          <a:prstGeom prst="rect">
            <a:avLst/>
          </a:prstGeom>
          <a:noFill/>
        </p:spPr>
        <p:txBody>
          <a:bodyPr wrap="square">
            <a:spAutoFit/>
          </a:bodyPr>
          <a:lstStyle/>
          <a:p>
            <a:pPr algn="l"/>
            <a:r>
              <a:rPr sz="1500" b="1">
                <a:solidFill>
                  <a:srgbClr val="1C2126"/>
                </a:solidFill>
                <a:latin typeface="游ゴシック"/>
                <a:ea typeface="游ゴシック"/>
              </a:rPr>
              <a:t>⚠️ 前兆現象の共有</a:t>
            </a:r>
          </a:p>
        </p:txBody>
      </p:sp>
      <p:sp>
        <p:nvSpPr>
          <p:cNvPr id="10" name="TextBox 9"/>
          <p:cNvSpPr txBox="1"/>
          <p:nvPr/>
        </p:nvSpPr>
        <p:spPr>
          <a:xfrm>
            <a:off x="6496000" y="2594520"/>
            <a:ext cx="4996000" cy="700000"/>
          </a:xfrm>
          <a:prstGeom prst="rect">
            <a:avLst/>
          </a:prstGeom>
          <a:noFill/>
        </p:spPr>
        <p:txBody>
          <a:bodyPr wrap="square">
            <a:spAutoFit/>
          </a:bodyPr>
          <a:lstStyle/>
          <a:p>
            <a:pPr algn="l"/>
            <a:r>
              <a:rPr sz="1100" b="0">
                <a:solidFill>
                  <a:srgbClr val="4B545C"/>
                </a:solidFill>
                <a:latin typeface="游ゴシック"/>
                <a:ea typeface="游ゴシック"/>
              </a:rPr>
              <a:t>「〇〇さんの近くで報告：山鳴り・地鳴り」正常性バイアス対策として、具体的な人・場所を名指しする呼びかけ形式で通知。</a:t>
            </a:r>
          </a:p>
        </p:txBody>
      </p:sp>
      <p:sp>
        <p:nvSpPr>
          <p:cNvPr id="11" name="TextBox 10"/>
          <p:cNvSpPr txBox="1"/>
          <p:nvPr/>
        </p:nvSpPr>
        <p:spPr>
          <a:xfrm>
            <a:off x="6496000" y="3524520"/>
            <a:ext cx="4996000" cy="400000"/>
          </a:xfrm>
          <a:prstGeom prst="rect">
            <a:avLst/>
          </a:prstGeom>
          <a:noFill/>
        </p:spPr>
        <p:txBody>
          <a:bodyPr wrap="square">
            <a:spAutoFit/>
          </a:bodyPr>
          <a:lstStyle/>
          <a:p>
            <a:pPr algn="l"/>
            <a:r>
              <a:rPr sz="1500" b="1">
                <a:solidFill>
                  <a:srgbClr val="1C2126"/>
                </a:solidFill>
                <a:latin typeface="游ゴシック"/>
                <a:ea typeface="游ゴシック"/>
              </a:rPr>
              <a:t>💬 AI相談(傾聴AIチャット)</a:t>
            </a:r>
          </a:p>
        </p:txBody>
      </p:sp>
      <p:sp>
        <p:nvSpPr>
          <p:cNvPr id="12" name="TextBox 11"/>
          <p:cNvSpPr txBox="1"/>
          <p:nvPr/>
        </p:nvSpPr>
        <p:spPr>
          <a:xfrm>
            <a:off x="6496000" y="3944520"/>
            <a:ext cx="4996000" cy="900000"/>
          </a:xfrm>
          <a:prstGeom prst="rect">
            <a:avLst/>
          </a:prstGeom>
          <a:noFill/>
        </p:spPr>
        <p:txBody>
          <a:bodyPr wrap="square">
            <a:spAutoFit/>
          </a:bodyPr>
          <a:lstStyle/>
          <a:p>
            <a:pPr algn="l"/>
            <a:r>
              <a:rPr sz="1100" b="0">
                <a:solidFill>
                  <a:srgbClr val="4B545C"/>
                </a:solidFill>
                <a:latin typeface="游ゴシック"/>
                <a:ea typeface="游ゴシック"/>
              </a:rPr>
              <a:t>専門家のいない現場で、不安な気持ちに寄り添うAI。助言・予測は一切せず、深刻な兆候は専門窓口へ橋渡しする安全設計。</a:t>
            </a:r>
          </a:p>
        </p:txBody>
      </p:sp>
      <p:sp>
        <p:nvSpPr>
          <p:cNvPr id="13" name="TextBox 12"/>
          <p:cNvSpPr txBox="1"/>
          <p:nvPr/>
        </p:nvSpPr>
        <p:spPr>
          <a:xfrm>
            <a:off x="6496000" y="4874520"/>
            <a:ext cx="4996000" cy="400000"/>
          </a:xfrm>
          <a:prstGeom prst="rect">
            <a:avLst/>
          </a:prstGeom>
          <a:noFill/>
        </p:spPr>
        <p:txBody>
          <a:bodyPr wrap="square">
            <a:spAutoFit/>
          </a:bodyPr>
          <a:lstStyle/>
          <a:p>
            <a:pPr algn="l"/>
            <a:r>
              <a:rPr sz="1050" b="1">
                <a:solidFill>
                  <a:srgbClr val="8CC8B4"/>
                </a:solidFill>
                <a:latin typeface="游ゴシック"/>
                <a:ea typeface="游ゴシック"/>
              </a:rPr>
              <a:t>生存確率・見込み時間の予測は一切行わない設計</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7132320" cy="640080"/>
          </a:xfrm>
          <a:prstGeom prst="rect">
            <a:avLst/>
          </a:prstGeom>
          <a:noFill/>
        </p:spPr>
        <p:txBody>
          <a:bodyPr wrap="square">
            <a:spAutoFit/>
          </a:bodyPr>
          <a:lstStyle/>
          <a:p>
            <a:pPr algn="l"/>
            <a:r>
              <a:rPr sz="3400" b="1">
                <a:solidFill>
                  <a:srgbClr val="1F4E4A"/>
                </a:solidFill>
                <a:latin typeface="游ゴシック"/>
                <a:ea typeface="游ゴシック"/>
              </a:rPr>
              <a:t>利用データとチーム</a:t>
            </a:r>
          </a:p>
        </p:txBody>
      </p:sp>
      <p:graphicFrame>
        <p:nvGraphicFramePr>
          <p:cNvPr id="3" name="Table 2"/>
          <p:cNvGraphicFramePr>
            <a:graphicFrameLocks noGrp="1"/>
          </p:cNvGraphicFramePr>
          <p:nvPr/>
        </p:nvGraphicFramePr>
        <p:xfrm>
          <a:off x="822960" y="1750000"/>
          <a:ext cx="5596000" cy="1400000"/>
        </p:xfrm>
        <a:graphic>
          <a:graphicData uri="http://schemas.openxmlformats.org/drawingml/2006/table">
            <a:tbl>
              <a:tblPr firstRow="1" bandRow="1">
                <a:tableStyleId>{5C22544A-7EE6-4342-B048-85BDC9FD1C3A}</a:tableStyleId>
              </a:tblPr>
              <a:tblGrid>
                <a:gridCol w="3805280"/>
                <a:gridCol w="1790720"/>
              </a:tblGrid>
              <a:tr h="350000">
                <a:tc>
                  <a:txBody>
                    <a:bodyPr/>
                    <a:lstStyle/>
                    <a:p>
                      <a:r>
                        <a:rPr sz="1000" b="1">
                          <a:solidFill>
                            <a:srgbClr val="FFFFFF"/>
                          </a:solidFill>
                          <a:latin typeface="游ゴシック"/>
                        </a:rPr>
                        <a:t>データ名</a:t>
                      </a:r>
                    </a:p>
                  </a:txBody>
                  <a:tcPr>
                    <a:solidFill>
                      <a:srgbClr val="1F4E4A"/>
                    </a:solidFill>
                  </a:tcPr>
                </a:tc>
                <a:tc>
                  <a:txBody>
                    <a:bodyPr/>
                    <a:lstStyle/>
                    <a:p>
                      <a:r>
                        <a:rPr sz="1000" b="1">
                          <a:solidFill>
                            <a:srgbClr val="FFFFFF"/>
                          </a:solidFill>
                          <a:latin typeface="游ゴシック"/>
                        </a:rPr>
                        <a:t>用途</a:t>
                      </a:r>
                    </a:p>
                  </a:txBody>
                  <a:tcPr>
                    <a:solidFill>
                      <a:srgbClr val="1F4E4A"/>
                    </a:solidFill>
                  </a:tcPr>
                </a:tc>
              </a:tr>
              <a:tr h="350000">
                <a:tc>
                  <a:txBody>
                    <a:bodyPr/>
                    <a:lstStyle/>
                    <a:p>
                      <a:r>
                        <a:rPr sz="900">
                          <a:solidFill>
                            <a:srgbClr val="4B545C"/>
                          </a:solidFill>
                          <a:latin typeface="游ゴシック"/>
                        </a:rPr>
                        <a:t>東京都建設局河川部「東京都土砂災害危険度情報関連データ」(CC BY 4.0)</a:t>
                      </a:r>
                    </a:p>
                  </a:txBody>
                  <a:tcPr>
                    <a:solidFill>
                      <a:srgbClr val="F4F5F3"/>
                    </a:solidFill>
                  </a:tcPr>
                </a:tc>
                <a:tc>
                  <a:txBody>
                    <a:bodyPr/>
                    <a:lstStyle/>
                    <a:p>
                      <a:r>
                        <a:rPr sz="900">
                          <a:solidFill>
                            <a:srgbClr val="4B545C"/>
                          </a:solidFill>
                          <a:latin typeface="游ゴシック"/>
                        </a:rPr>
                        <a:t>危険エリアの地図表示</a:t>
                      </a:r>
                    </a:p>
                  </a:txBody>
                  <a:tcPr>
                    <a:solidFill>
                      <a:srgbClr val="F4F5F3"/>
                    </a:solidFill>
                  </a:tcPr>
                </a:tc>
              </a:tr>
              <a:tr h="350000">
                <a:tc>
                  <a:txBody>
                    <a:bodyPr/>
                    <a:lstStyle/>
                    <a:p>
                      <a:r>
                        <a:rPr sz="900">
                          <a:solidFill>
                            <a:srgbClr val="4B545C"/>
                          </a:solidFill>
                          <a:latin typeface="游ゴシック"/>
                        </a:rPr>
                        <a:t>東京都「土砂災害警戒区域等マップ」</a:t>
                      </a:r>
                    </a:p>
                  </a:txBody>
                  <a:tcPr>
                    <a:solidFill>
                      <a:srgbClr val="F4F5F3"/>
                    </a:solidFill>
                  </a:tcPr>
                </a:tc>
                <a:tc>
                  <a:txBody>
                    <a:bodyPr/>
                    <a:lstStyle/>
                    <a:p>
                      <a:r>
                        <a:rPr sz="900">
                          <a:solidFill>
                            <a:srgbClr val="4B545C"/>
                          </a:solidFill>
                          <a:latin typeface="游ゴシック"/>
                        </a:rPr>
                        <a:t>最新の指定状況への参照リンク</a:t>
                      </a:r>
                    </a:p>
                  </a:txBody>
                  <a:tcPr>
                    <a:solidFill>
                      <a:srgbClr val="F4F5F3"/>
                    </a:solidFill>
                  </a:tcPr>
                </a:tc>
              </a:tr>
              <a:tr h="350000">
                <a:tc>
                  <a:txBody>
                    <a:bodyPr/>
                    <a:lstStyle/>
                    <a:p>
                      <a:r>
                        <a:rPr sz="900">
                          <a:solidFill>
                            <a:srgbClr val="4B545C"/>
                          </a:solidFill>
                          <a:latin typeface="游ゴシック"/>
                        </a:rPr>
                        <a:t>首相官邸「土砂災害から身を守るには」</a:t>
                      </a:r>
                    </a:p>
                  </a:txBody>
                  <a:tcPr>
                    <a:solidFill>
                      <a:srgbClr val="F4F5F3"/>
                    </a:solidFill>
                  </a:tcPr>
                </a:tc>
                <a:tc>
                  <a:txBody>
                    <a:bodyPr/>
                    <a:lstStyle/>
                    <a:p>
                      <a:r>
                        <a:rPr sz="900">
                          <a:solidFill>
                            <a:srgbClr val="4B545C"/>
                          </a:solidFill>
                          <a:latin typeface="游ゴシック"/>
                        </a:rPr>
                        <a:t>過去の災害事例・前兆現象チェックリストの出典</a:t>
                      </a:r>
                    </a:p>
                  </a:txBody>
                  <a:tcPr>
                    <a:solidFill>
                      <a:srgbClr val="F4F5F3"/>
                    </a:solidFill>
                  </a:tcPr>
                </a:tc>
              </a:tr>
            </a:tbl>
          </a:graphicData>
        </a:graphic>
      </p:graphicFrame>
      <p:sp>
        <p:nvSpPr>
          <p:cNvPr id="4" name="Oval 3"/>
          <p:cNvSpPr/>
          <p:nvPr/>
        </p:nvSpPr>
        <p:spPr>
          <a:xfrm>
            <a:off x="6746000" y="1750000"/>
            <a:ext cx="900000" cy="900000"/>
          </a:xfrm>
          <a:prstGeom prst="ellipse">
            <a:avLst/>
          </a:prstGeom>
          <a:solidFill>
            <a:srgbClr val="1F4E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0">
                <a:solidFill>
                  <a:srgbClr val="FFFFFF"/>
                </a:solidFill>
                <a:latin typeface="游ゴシック"/>
                <a:ea typeface="游ゴシック"/>
              </a:rPr>
              <a:t>結</a:t>
            </a:r>
          </a:p>
        </p:txBody>
      </p:sp>
      <p:sp>
        <p:nvSpPr>
          <p:cNvPr id="5" name="TextBox 4"/>
          <p:cNvSpPr txBox="1"/>
          <p:nvPr/>
        </p:nvSpPr>
        <p:spPr>
          <a:xfrm>
            <a:off x="7796000" y="1810000"/>
            <a:ext cx="3800000" cy="500000"/>
          </a:xfrm>
          <a:prstGeom prst="rect">
            <a:avLst/>
          </a:prstGeom>
          <a:noFill/>
        </p:spPr>
        <p:txBody>
          <a:bodyPr wrap="square">
            <a:spAutoFit/>
          </a:bodyPr>
          <a:lstStyle/>
          <a:p>
            <a:pPr algn="l"/>
            <a:r>
              <a:rPr sz="1500" b="1">
                <a:solidFill>
                  <a:srgbClr val="1C2126"/>
                </a:solidFill>
                <a:latin typeface="游ゴシック"/>
                <a:ea typeface="游ゴシック"/>
              </a:rPr>
              <a:t>チーム「結」(個人開発)</a:t>
            </a:r>
          </a:p>
        </p:txBody>
      </p:sp>
      <p:sp>
        <p:nvSpPr>
          <p:cNvPr id="6" name="TextBox 5"/>
          <p:cNvSpPr txBox="1"/>
          <p:nvPr/>
        </p:nvSpPr>
        <p:spPr>
          <a:xfrm>
            <a:off x="7796000" y="2310000"/>
            <a:ext cx="3800000" cy="700000"/>
          </a:xfrm>
          <a:prstGeom prst="rect">
            <a:avLst/>
          </a:prstGeom>
          <a:noFill/>
        </p:spPr>
        <p:txBody>
          <a:bodyPr wrap="square">
            <a:spAutoFit/>
          </a:bodyPr>
          <a:lstStyle/>
          <a:p>
            <a:pPr algn="l"/>
            <a:r>
              <a:rPr sz="1000" b="0">
                <a:solidFill>
                  <a:srgbClr val="4B545C"/>
                </a:solidFill>
                <a:latin typeface="游ゴシック"/>
                <a:ea typeface="游ゴシック"/>
              </a:rPr>
              <a:t>土砂災害の現場に居合わせ、家族として何もできずただ待つしかなかった実体験から、企画・設計・実装まで一人で開発。</a:t>
            </a:r>
          </a:p>
        </p:txBody>
      </p:sp>
      <p:sp>
        <p:nvSpPr>
          <p:cNvPr id="7" name="Rounded Rectangle 6"/>
          <p:cNvSpPr/>
          <p:nvPr/>
        </p:nvSpPr>
        <p:spPr>
          <a:xfrm>
            <a:off x="6746000" y="3250000"/>
            <a:ext cx="4850000" cy="2100000"/>
          </a:xfrm>
          <a:prstGeom prst="roundRect">
            <a:avLst>
              <a:gd name="adj" fmla="val 3306"/>
            </a:avLst>
          </a:prstGeom>
          <a:solidFill>
            <a:srgbClr val="F4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06000" y="3470000"/>
            <a:ext cx="4330000" cy="400000"/>
          </a:xfrm>
          <a:prstGeom prst="rect">
            <a:avLst/>
          </a:prstGeom>
          <a:noFill/>
        </p:spPr>
        <p:txBody>
          <a:bodyPr wrap="square">
            <a:spAutoFit/>
          </a:bodyPr>
          <a:lstStyle/>
          <a:p>
            <a:pPr algn="l"/>
            <a:r>
              <a:rPr sz="1350" b="1">
                <a:solidFill>
                  <a:srgbClr val="1C2126"/>
                </a:solidFill>
                <a:latin typeface="游ゴシック"/>
                <a:ea typeface="游ゴシック"/>
              </a:rPr>
              <a:t>🛡️ 安全設計へのこだわり</a:t>
            </a:r>
          </a:p>
        </p:txBody>
      </p:sp>
      <p:sp>
        <p:nvSpPr>
          <p:cNvPr id="9" name="TextBox 8"/>
          <p:cNvSpPr txBox="1"/>
          <p:nvPr/>
        </p:nvSpPr>
        <p:spPr>
          <a:xfrm>
            <a:off x="7006000" y="3900000"/>
            <a:ext cx="4330000" cy="1350000"/>
          </a:xfrm>
          <a:prstGeom prst="rect">
            <a:avLst/>
          </a:prstGeom>
          <a:noFill/>
        </p:spPr>
        <p:txBody>
          <a:bodyPr wrap="square">
            <a:spAutoFit/>
          </a:bodyPr>
          <a:lstStyle/>
          <a:p>
            <a:pPr algn="l"/>
            <a:r>
              <a:rPr sz="1050" b="0">
                <a:solidFill>
                  <a:srgbClr val="4B545C"/>
                </a:solidFill>
                <a:latin typeface="游ゴシック"/>
                <a:ea typeface="游ゴシック"/>
              </a:rPr>
              <a:t>・生存確率、助かる見込み時間の提示はしない</a:t>
            </a:r>
          </a:p>
          <a:p>
            <a:pPr algn="l"/>
            <a:r>
              <a:rPr sz="1050" b="0">
                <a:solidFill>
                  <a:srgbClr val="4B545C"/>
                </a:solidFill>
                <a:latin typeface="游ゴシック"/>
                <a:ea typeface="游ゴシック"/>
              </a:rPr>
              <a:t>・前兆現象は「予測」ではなく目撃情報の共有として扱う</a:t>
            </a:r>
          </a:p>
          <a:p>
            <a:pPr algn="l"/>
            <a:r>
              <a:rPr sz="1050" b="0">
                <a:solidFill>
                  <a:srgbClr val="4B545C"/>
                </a:solidFill>
                <a:latin typeface="游ゴシック"/>
                <a:ea typeface="游ゴシック"/>
              </a:rPr>
              <a:t>・深刻な危機のサインは専門相談窓口へ即座に橋渡し</a:t>
            </a:r>
          </a:p>
        </p:txBody>
      </p:sp>
      <p:sp>
        <p:nvSpPr>
          <p:cNvPr id="10" name="TextBox 9"/>
          <p:cNvSpPr txBox="1"/>
          <p:nvPr/>
        </p:nvSpPr>
        <p:spPr>
          <a:xfrm>
            <a:off x="822960" y="6300000"/>
            <a:ext cx="11338560" cy="365760"/>
          </a:xfrm>
          <a:prstGeom prst="rect">
            <a:avLst/>
          </a:prstGeom>
          <a:noFill/>
        </p:spPr>
        <p:txBody>
          <a:bodyPr wrap="square">
            <a:spAutoFit/>
          </a:bodyPr>
          <a:lstStyle/>
          <a:p>
            <a:pPr algn="l"/>
            <a:r>
              <a:rPr sz="1200" b="1">
                <a:solidFill>
                  <a:srgbClr val="1F4E4A"/>
                </a:solidFill>
                <a:latin typeface="游ゴシック"/>
                <a:ea typeface="游ゴシック"/>
              </a:rPr>
              <a:t>結（ゆい）— 救助を後押しする、無料の情報共有アプリ</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2026-08-01T03:51:45Z</dcterms:created>
  <dcterms:modified xsi:type="dcterms:W3CDTF">2026-08-01T03:51:45Z</dcterms:modified>
</cp:coreProperties>
</file>