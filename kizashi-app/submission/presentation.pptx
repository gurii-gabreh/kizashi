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10515600" cy="457200"/>
          </a:xfrm>
          <a:prstGeom prst="rect">
            <a:avLst/>
          </a:prstGeom>
          <a:noFill/>
          <a:ln/>
        </p:spPr>
        <p:txBody>
          <a:bodyPr wrap="square" rtlCol="0" anchor="ctr"/>
          <a:lstStyle/>
          <a:p>
            <a:pPr indent="0" marL="0">
              <a:buNone/>
            </a:pPr>
            <a:r>
              <a:rPr lang="en-US" sz="1400" b="1" spc="200" kern="0" dirty="0">
                <a:solidFill>
                  <a:srgbClr val="BFE3DA"/>
                </a:solidFill>
                <a:latin typeface="Calibri" pitchFamily="34" charset="0"/>
                <a:ea typeface="Calibri" pitchFamily="34" charset="-122"/>
                <a:cs typeface="Calibri" pitchFamily="34" charset="-120"/>
              </a:rPr>
              <a:t>都知事杯オープンデータ・ハッカソン 2026</a:t>
            </a:r>
            <a:endParaRPr lang="en-US" sz="1400" dirty="0"/>
          </a:p>
        </p:txBody>
      </p:sp>
      <p:sp>
        <p:nvSpPr>
          <p:cNvPr id="3" name="Text 1"/>
          <p:cNvSpPr/>
          <p:nvPr/>
        </p:nvSpPr>
        <p:spPr>
          <a:xfrm>
            <a:off x="777240" y="1828800"/>
            <a:ext cx="10515600" cy="146304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結（ゆい）</a:t>
            </a:r>
            <a:endParaRPr lang="en-US" sz="8000" dirty="0"/>
          </a:p>
        </p:txBody>
      </p:sp>
      <p:sp>
        <p:nvSpPr>
          <p:cNvPr id="4" name="Text 2"/>
          <p:cNvSpPr/>
          <p:nvPr/>
        </p:nvSpPr>
        <p:spPr>
          <a:xfrm>
            <a:off x="822960" y="3383280"/>
            <a:ext cx="9692640" cy="731520"/>
          </a:xfrm>
          <a:prstGeom prst="rect">
            <a:avLst/>
          </a:prstGeom>
          <a:noFill/>
          <a:ln/>
        </p:spPr>
        <p:txBody>
          <a:bodyPr wrap="square" rtlCol="0" anchor="ctr"/>
          <a:lstStyle/>
          <a:p>
            <a:pPr indent="0" marL="0">
              <a:buNone/>
            </a:pPr>
            <a:r>
              <a:rPr lang="en-US" sz="1800" i="1" dirty="0">
                <a:solidFill>
                  <a:srgbClr val="E4EFEA"/>
                </a:solidFill>
                <a:latin typeface="Calibri" pitchFamily="34" charset="0"/>
                <a:ea typeface="Calibri" pitchFamily="34" charset="-122"/>
                <a:cs typeface="Calibri"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チーム「結」（個人開発）</a:t>
            </a:r>
            <a:endParaRPr lang="en-US" sz="1300" dirty="0"/>
          </a:p>
        </p:txBody>
      </p:sp>
      <p:sp>
        <p:nvSpPr>
          <p:cNvPr id="7" name="Text 5"/>
          <p:cNvSpPr/>
          <p:nvPr/>
        </p:nvSpPr>
        <p:spPr>
          <a:xfrm>
            <a:off x="822960" y="6126480"/>
            <a:ext cx="9144000" cy="36576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現場で待機する被災者家族・関係者のための、Web完結・無料の情報共有アプリ</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Calibri" pitchFamily="34" charset="0"/>
                <a:ea typeface="Calibri" pitchFamily="34" charset="-122"/>
                <a:cs typeface="Calibri"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解決策</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BFE3DA"/>
                </a:solidFill>
                <a:latin typeface="Calibri" pitchFamily="34" charset="0"/>
                <a:ea typeface="Calibri" pitchFamily="34" charset="-122"/>
                <a:cs typeface="Calibri" pitchFamily="34" charset="-120"/>
              </a:rPr>
              <a:t>6桁のコードだけで、家族と現場をつなぐ</a:t>
            </a:r>
            <a:endParaRPr lang="en-US" sz="1600" dirty="0"/>
          </a:p>
        </p:txBody>
      </p:sp>
      <p:sp>
        <p:nvSpPr>
          <p:cNvPr id="4" name="Shape 2"/>
          <p:cNvSpPr/>
          <p:nvPr/>
        </p:nvSpPr>
        <p:spPr>
          <a:xfrm>
            <a:off x="82296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5" name="Text 3"/>
          <p:cNvSpPr/>
          <p:nvPr/>
        </p:nvSpPr>
        <p:spPr>
          <a:xfrm>
            <a:off x="82296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6" name="Text 4"/>
          <p:cNvSpPr/>
          <p:nvPr/>
        </p:nvSpPr>
        <p:spPr>
          <a:xfrm>
            <a:off x="82296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待機する家族・関係者</a:t>
            </a:r>
            <a:endParaRPr lang="en-US" sz="1400" dirty="0"/>
          </a:p>
        </p:txBody>
      </p:sp>
      <p:sp>
        <p:nvSpPr>
          <p:cNvPr id="7" name="Shape 5"/>
          <p:cNvSpPr/>
          <p:nvPr/>
        </p:nvSpPr>
        <p:spPr>
          <a:xfrm>
            <a:off x="4434840" y="2926080"/>
            <a:ext cx="3291840" cy="1188720"/>
          </a:xfrm>
          <a:prstGeom prst="roundRect">
            <a:avLst>
              <a:gd name="adj" fmla="val 46154"/>
            </a:avLst>
          </a:prstGeom>
          <a:solidFill>
            <a:srgbClr val="C98A1F"/>
          </a:solidFill>
          <a:ln/>
          <a:effectLst>
            <a:outerShdw sx="100000" sy="100000" kx="0" ky="0" algn="bl" rotWithShape="0" blurRad="127000" dist="38100" dir="5400000">
              <a:srgbClr val="000000">
                <a:alpha val="18000"/>
              </a:srgbClr>
            </a:outerShdw>
          </a:effectLst>
        </p:spPr>
        <p:txBody>
          <a:bodyPr/>
          <a:p/>
        </p:txBody>
      </p:sp>
      <p:sp>
        <p:nvSpPr>
          <p:cNvPr id="8" name="Text 6"/>
          <p:cNvSpPr/>
          <p:nvPr/>
        </p:nvSpPr>
        <p:spPr>
          <a:xfrm>
            <a:off x="4434840" y="2926080"/>
            <a:ext cx="3291840"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現場ルーム</a:t>
            </a:r>
            <a:endParaRPr lang="en-US" sz="1300" dirty="0"/>
          </a:p>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6桁コード・ログイン不要</a:t>
            </a:r>
            <a:endParaRPr lang="en-US" sz="1300" dirty="0"/>
          </a:p>
        </p:txBody>
      </p:sp>
      <p:sp>
        <p:nvSpPr>
          <p:cNvPr id="9" name="Shape 7"/>
          <p:cNvSpPr/>
          <p:nvPr/>
        </p:nvSpPr>
        <p:spPr>
          <a:xfrm>
            <a:off x="822960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10" name="Text 8"/>
          <p:cNvSpPr/>
          <p:nvPr/>
        </p:nvSpPr>
        <p:spPr>
          <a:xfrm>
            <a:off x="822960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1" name="Text 9"/>
          <p:cNvSpPr/>
          <p:nvPr/>
        </p:nvSpPr>
        <p:spPr>
          <a:xfrm>
            <a:off x="822960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現場指揮・救助隊</a:t>
            </a:r>
            <a:endParaRPr lang="en-US" sz="1400" dirty="0"/>
          </a:p>
        </p:txBody>
      </p:sp>
      <p:sp>
        <p:nvSpPr>
          <p:cNvPr id="12" name="Text 10"/>
          <p:cNvSpPr/>
          <p:nvPr/>
        </p:nvSpPr>
        <p:spPr>
          <a:xfrm>
            <a:off x="361188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3" name="Text 11"/>
          <p:cNvSpPr/>
          <p:nvPr/>
        </p:nvSpPr>
        <p:spPr>
          <a:xfrm>
            <a:off x="745236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4" name="Text 12"/>
          <p:cNvSpPr/>
          <p:nvPr/>
        </p:nvSpPr>
        <p:spPr>
          <a:xfrm>
            <a:off x="822960" y="4846320"/>
            <a:ext cx="10515600" cy="54864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事前に整理された情報がそのまま届くため、聞き取りの手間がなくなり、捜索・救助のスピードが落ちない。</a:t>
            </a:r>
            <a:endParaRPr lang="en-US" sz="1500" dirty="0"/>
          </a:p>
        </p:txBody>
      </p:sp>
      <p:sp>
        <p:nvSpPr>
          <p:cNvPr id="15" name="Text 13"/>
          <p:cNvSpPr/>
          <p:nvPr/>
        </p:nvSpPr>
        <p:spPr>
          <a:xfrm>
            <a:off x="822960" y="5486400"/>
            <a:ext cx="10515600" cy="45720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対象データは東京都建設局河川部のオープンデータ（CC BY 4.0）を活用。Cloudflare Workers + D1で構築、完全無料で運用。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54864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4つの核心機能</a:t>
            </a:r>
            <a:endParaRPr lang="en-US" sz="1600" dirty="0"/>
          </a:p>
        </p:txBody>
      </p:sp>
      <p:sp>
        <p:nvSpPr>
          <p:cNvPr id="4" name="Shape 2"/>
          <p:cNvSpPr/>
          <p:nvPr/>
        </p:nvSpPr>
        <p:spPr>
          <a:xfrm>
            <a:off x="822960" y="1828800"/>
            <a:ext cx="685800" cy="685800"/>
          </a:xfrm>
          <a:prstGeom prst="ellipse">
            <a:avLst/>
          </a:prstGeom>
          <a:solidFill>
            <a:srgbClr val="F4F5F3"/>
          </a:solidFill>
          <a:ln w="15875">
            <a:solidFill>
              <a:srgbClr val="1F4E4A"/>
            </a:solidFill>
            <a:prstDash val="solid"/>
          </a:ln>
        </p:spPr>
        <p:txBody>
          <a:bodyPr/>
          <a:p/>
        </p:txBody>
      </p:sp>
      <p:sp>
        <p:nvSpPr>
          <p:cNvPr id="5" name="Text 3"/>
          <p:cNvSpPr/>
          <p:nvPr/>
        </p:nvSpPr>
        <p:spPr>
          <a:xfrm>
            <a:off x="822960" y="18288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1737360" y="18013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危険エリアの可視化</a:t>
            </a:r>
            <a:endParaRPr lang="en-US" sz="1500" dirty="0"/>
          </a:p>
        </p:txBody>
      </p:sp>
      <p:sp>
        <p:nvSpPr>
          <p:cNvPr id="7" name="Text 5"/>
          <p:cNvSpPr/>
          <p:nvPr/>
        </p:nvSpPr>
        <p:spPr>
          <a:xfrm>
            <a:off x="1737360" y="21671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東京都の土砂災害警戒区域データを地図上に色分け表示</a:t>
            </a:r>
            <a:endParaRPr lang="en-US" sz="1100" dirty="0"/>
          </a:p>
        </p:txBody>
      </p:sp>
      <p:sp>
        <p:nvSpPr>
          <p:cNvPr id="8" name="Shape 6"/>
          <p:cNvSpPr/>
          <p:nvPr/>
        </p:nvSpPr>
        <p:spPr>
          <a:xfrm>
            <a:off x="822960" y="2857500"/>
            <a:ext cx="685800" cy="685800"/>
          </a:xfrm>
          <a:prstGeom prst="ellipse">
            <a:avLst/>
          </a:prstGeom>
          <a:solidFill>
            <a:srgbClr val="F4F5F3"/>
          </a:solidFill>
          <a:ln w="15875">
            <a:solidFill>
              <a:srgbClr val="1F4E4A"/>
            </a:solidFill>
            <a:prstDash val="solid"/>
          </a:ln>
        </p:spPr>
        <p:txBody>
          <a:bodyPr/>
          <a:p/>
        </p:txBody>
      </p:sp>
      <p:sp>
        <p:nvSpPr>
          <p:cNvPr id="9" name="Text 7"/>
          <p:cNvSpPr/>
          <p:nvPr/>
        </p:nvSpPr>
        <p:spPr>
          <a:xfrm>
            <a:off x="822960" y="28575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1737360" y="28300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事前問診フォーム</a:t>
            </a:r>
            <a:endParaRPr lang="en-US" sz="1500" dirty="0"/>
          </a:p>
        </p:txBody>
      </p:sp>
      <p:sp>
        <p:nvSpPr>
          <p:cNvPr id="11" name="Text 9"/>
          <p:cNvSpPr/>
          <p:nvPr/>
        </p:nvSpPr>
        <p:spPr>
          <a:xfrm>
            <a:off x="1737360" y="31958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行方不明者情報を家族が事前入力。音声ガイドで一問一答入力も可能</a:t>
            </a:r>
            <a:endParaRPr lang="en-US" sz="1100" dirty="0"/>
          </a:p>
        </p:txBody>
      </p:sp>
      <p:sp>
        <p:nvSpPr>
          <p:cNvPr id="12" name="Shape 10"/>
          <p:cNvSpPr/>
          <p:nvPr/>
        </p:nvSpPr>
        <p:spPr>
          <a:xfrm>
            <a:off x="822960" y="3886200"/>
            <a:ext cx="685800" cy="685800"/>
          </a:xfrm>
          <a:prstGeom prst="ellipse">
            <a:avLst/>
          </a:prstGeom>
          <a:solidFill>
            <a:srgbClr val="F4F5F3"/>
          </a:solidFill>
          <a:ln w="15875">
            <a:solidFill>
              <a:srgbClr val="1F4E4A"/>
            </a:solidFill>
            <a:prstDash val="solid"/>
          </a:ln>
        </p:spPr>
        <p:txBody>
          <a:bodyPr/>
          <a:p/>
        </p:txBody>
      </p:sp>
      <p:sp>
        <p:nvSpPr>
          <p:cNvPr id="13" name="Text 11"/>
          <p:cNvSpPr/>
          <p:nvPr/>
        </p:nvSpPr>
        <p:spPr>
          <a:xfrm>
            <a:off x="822960" y="38862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1737360" y="38587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間取り 手書き共有</a:t>
            </a:r>
            <a:endParaRPr lang="en-US" sz="1500" dirty="0"/>
          </a:p>
        </p:txBody>
      </p:sp>
      <p:sp>
        <p:nvSpPr>
          <p:cNvPr id="15" name="Text 13"/>
          <p:cNvSpPr/>
          <p:nvPr/>
        </p:nvSpPr>
        <p:spPr>
          <a:xfrm>
            <a:off x="1737360" y="42245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救助隊員に聞かれる前に、簡易な間取り図を描いて先回りで共有</a:t>
            </a:r>
            <a:endParaRPr lang="en-US" sz="1100" dirty="0"/>
          </a:p>
        </p:txBody>
      </p:sp>
      <p:sp>
        <p:nvSpPr>
          <p:cNvPr id="16" name="Shape 14"/>
          <p:cNvSpPr/>
          <p:nvPr/>
        </p:nvSpPr>
        <p:spPr>
          <a:xfrm>
            <a:off x="822960" y="4914900"/>
            <a:ext cx="685800" cy="685800"/>
          </a:xfrm>
          <a:prstGeom prst="ellipse">
            <a:avLst/>
          </a:prstGeom>
          <a:solidFill>
            <a:srgbClr val="F4F5F3"/>
          </a:solidFill>
          <a:ln w="15875">
            <a:solidFill>
              <a:srgbClr val="1F4E4A"/>
            </a:solidFill>
            <a:prstDash val="solid"/>
          </a:ln>
        </p:spPr>
        <p:txBody>
          <a:bodyPr/>
          <a:p/>
        </p:txBody>
      </p:sp>
      <p:sp>
        <p:nvSpPr>
          <p:cNvPr id="17" name="Text 15"/>
          <p:cNvSpPr/>
          <p:nvPr/>
        </p:nvSpPr>
        <p:spPr>
          <a:xfrm>
            <a:off x="822960" y="49149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Text 16"/>
          <p:cNvSpPr/>
          <p:nvPr/>
        </p:nvSpPr>
        <p:spPr>
          <a:xfrm>
            <a:off x="1737360" y="48874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前兆現象の共有</a:t>
            </a:r>
            <a:endParaRPr lang="en-US" sz="1500" dirty="0"/>
          </a:p>
        </p:txBody>
      </p:sp>
      <p:sp>
        <p:nvSpPr>
          <p:cNvPr id="19" name="Text 17"/>
          <p:cNvSpPr/>
          <p:nvPr/>
        </p:nvSpPr>
        <p:spPr>
          <a:xfrm>
            <a:off x="1737360" y="52532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公式チェックリストに基づく目撃情報をワンタップで共有</a:t>
            </a:r>
            <a:endParaRPr lang="en-US" sz="1100" dirty="0"/>
          </a:p>
        </p:txBody>
      </p:sp>
      <p:sp>
        <p:nvSpPr>
          <p:cNvPr id="20" name="Shape 18"/>
          <p:cNvSpPr/>
          <p:nvPr/>
        </p:nvSpPr>
        <p:spPr>
          <a:xfrm>
            <a:off x="6263640" y="1828800"/>
            <a:ext cx="5120640" cy="4526280"/>
          </a:xfrm>
          <a:prstGeom prst="roundRect">
            <a:avLst>
              <a:gd name="adj" fmla="val 1616"/>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21" name="Image 0" descr="/home/user/Kizashi/kizashi-app/submission/screenshot_02_floorplan.png">    </p:cNvPr>
          <p:cNvPicPr>
            <a:picLocks noChangeAspect="1"/>
          </p:cNvPicPr>
          <p:nvPr/>
        </p:nvPicPr>
        <p:blipFill>
          <a:blip r:embed="rId1"/>
          <a:stretch>
            <a:fillRect/>
          </a:stretch>
        </p:blipFill>
        <p:spPr>
          <a:xfrm>
            <a:off x="6446520" y="2011680"/>
            <a:ext cx="4754880" cy="2674620"/>
          </a:xfrm>
          <a:prstGeom prst="rect">
            <a:avLst/>
          </a:prstGeom>
        </p:spPr>
      </p:pic>
      <p:sp>
        <p:nvSpPr>
          <p:cNvPr id="22" name="Text 19"/>
          <p:cNvSpPr/>
          <p:nvPr/>
        </p:nvSpPr>
        <p:spPr>
          <a:xfrm>
            <a:off x="6446520" y="4754880"/>
            <a:ext cx="4754880" cy="365760"/>
          </a:xfrm>
          <a:prstGeom prst="rect">
            <a:avLst/>
          </a:prstGeom>
          <a:noFill/>
          <a:ln/>
        </p:spPr>
        <p:txBody>
          <a:bodyPr wrap="square" rtlCol="0" anchor="ctr"/>
          <a:lstStyle/>
          <a:p>
            <a:pPr indent="0" marL="0">
              <a:buNone/>
            </a:pPr>
            <a:r>
              <a:rPr lang="en-US" sz="1100" i="1" dirty="0">
                <a:solidFill>
                  <a:srgbClr val="4B545C"/>
                </a:solidFill>
                <a:latin typeface="Calibri" pitchFamily="34" charset="0"/>
                <a:ea typeface="Calibri" pitchFamily="34" charset="-122"/>
                <a:cs typeface="Calibri" pitchFamily="34" charset="-120"/>
              </a:rPr>
              <a:t>画面例：家の間取り 手書き共有</a:t>
            </a:r>
            <a:endParaRPr lang="en-US" sz="1100" dirty="0"/>
          </a:p>
        </p:txBody>
      </p:sp>
      <p:sp>
        <p:nvSpPr>
          <p:cNvPr id="23" name="Text 20"/>
          <p:cNvSpPr/>
          <p:nvPr/>
        </p:nvSpPr>
        <p:spPr>
          <a:xfrm>
            <a:off x="6446520" y="5166360"/>
            <a:ext cx="4754880" cy="1005840"/>
          </a:xfrm>
          <a:prstGeom prst="rect">
            <a:avLst/>
          </a:prstGeom>
          <a:noFill/>
          <a:ln/>
        </p:spPr>
        <p:txBody>
          <a:bodyPr wrap="square" rtlCol="0" anchor="ctr"/>
          <a:lstStyle/>
          <a:p>
            <a:pPr indent="0" marL="0">
              <a:lnSpc>
                <a:spcPct val="130000"/>
              </a:lnSpc>
              <a:buNone/>
            </a:pPr>
            <a:r>
              <a:rPr lang="en-US" sz="1250" dirty="0">
                <a:solidFill>
                  <a:srgbClr val="1C2126"/>
                </a:solidFill>
                <a:latin typeface="Calibri" pitchFamily="34" charset="0"/>
                <a:ea typeface="Calibri" pitchFamily="34" charset="-122"/>
                <a:cs typeface="Calibri" pitchFamily="34" charset="-120"/>
              </a:rPr>
              <a:t>手が震えて文字入力が難しい状況でも、なぞって描くだけで伝えられる。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91440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危機感を伝えるUXと、そっと寄り添うAI</a:t>
            </a:r>
            <a:endParaRPr lang="en-US" sz="1600" dirty="0"/>
          </a:p>
        </p:txBody>
      </p:sp>
      <p:sp>
        <p:nvSpPr>
          <p:cNvPr id="4" name="Shape 2"/>
          <p:cNvSpPr/>
          <p:nvPr/>
        </p:nvSpPr>
        <p:spPr>
          <a:xfrm>
            <a:off x="822960" y="1874520"/>
            <a:ext cx="521208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5" name="Image 0" descr="/home/user/Kizashi/kizashi-app/submission/screenshot_03_precursor.png">    </p:cNvPr>
          <p:cNvPicPr>
            <a:picLocks noChangeAspect="1"/>
          </p:cNvPicPr>
          <p:nvPr/>
        </p:nvPicPr>
        <p:blipFill>
          <a:blip r:embed="rId1"/>
          <a:stretch>
            <a:fillRect/>
          </a:stretch>
        </p:blipFill>
        <p:spPr>
          <a:xfrm>
            <a:off x="1005840" y="2057400"/>
            <a:ext cx="4846320" cy="2725826"/>
          </a:xfrm>
          <a:prstGeom prst="rect">
            <a:avLst/>
          </a:prstGeom>
        </p:spPr>
      </p:pic>
      <p:sp>
        <p:nvSpPr>
          <p:cNvPr id="6" name="Text 3"/>
          <p:cNvSpPr/>
          <p:nvPr/>
        </p:nvSpPr>
        <p:spPr>
          <a:xfrm>
            <a:off x="1005840" y="4828032"/>
            <a:ext cx="4846320" cy="365760"/>
          </a:xfrm>
          <a:prstGeom prst="rect">
            <a:avLst/>
          </a:prstGeom>
          <a:noFill/>
          <a:ln/>
        </p:spPr>
        <p:txBody>
          <a:bodyPr wrap="square" rtlCol="0" anchor="ctr"/>
          <a:lstStyle/>
          <a:p>
            <a:pPr indent="0" marL="0">
              <a:buNone/>
            </a:pPr>
            <a:r>
              <a:rPr lang="en-US" sz="1150" b="1" dirty="0">
                <a:solidFill>
                  <a:srgbClr val="B3352A"/>
                </a:solidFill>
                <a:latin typeface="Calibri" pitchFamily="34" charset="0"/>
                <a:ea typeface="Calibri" pitchFamily="34" charset="-122"/>
                <a:cs typeface="Calibri" pitchFamily="34" charset="-120"/>
              </a:rPr>
              <a:t>「〇〇さんの近くで報告：山鳴り・地鳴り」</a:t>
            </a:r>
            <a:endParaRPr lang="en-US" sz="1150" dirty="0"/>
          </a:p>
        </p:txBody>
      </p:sp>
      <p:sp>
        <p:nvSpPr>
          <p:cNvPr id="7" name="Text 4"/>
          <p:cNvSpPr/>
          <p:nvPr/>
        </p:nvSpPr>
        <p:spPr>
          <a:xfrm>
            <a:off x="1005840" y="5212080"/>
            <a:ext cx="484632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正常性バイアス対策として、具体的な人・場所を名指しする呼びかけ形式で通知。</a:t>
            </a:r>
            <a:endParaRPr lang="en-US" sz="1200" dirty="0"/>
          </a:p>
        </p:txBody>
      </p:sp>
      <p:sp>
        <p:nvSpPr>
          <p:cNvPr id="8" name="Shape 5"/>
          <p:cNvSpPr/>
          <p:nvPr/>
        </p:nvSpPr>
        <p:spPr>
          <a:xfrm>
            <a:off x="6263640" y="1874520"/>
            <a:ext cx="512064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9" name="Image 1" descr="/home/user/Kizashi/kizashi-app/submission/screenshot_04_chat_optional.png">    </p:cNvPr>
          <p:cNvPicPr>
            <a:picLocks noChangeAspect="1"/>
          </p:cNvPicPr>
          <p:nvPr/>
        </p:nvPicPr>
        <p:blipFill>
          <a:blip r:embed="rId2"/>
          <a:stretch>
            <a:fillRect/>
          </a:stretch>
        </p:blipFill>
        <p:spPr>
          <a:xfrm>
            <a:off x="6446520" y="2057400"/>
            <a:ext cx="4754880" cy="2674620"/>
          </a:xfrm>
          <a:prstGeom prst="rect">
            <a:avLst/>
          </a:prstGeom>
        </p:spPr>
      </p:pic>
      <p:sp>
        <p:nvSpPr>
          <p:cNvPr id="10" name="Text 6"/>
          <p:cNvSpPr/>
          <p:nvPr/>
        </p:nvSpPr>
        <p:spPr>
          <a:xfrm>
            <a:off x="6446520" y="4828032"/>
            <a:ext cx="4754880" cy="365760"/>
          </a:xfrm>
          <a:prstGeom prst="rect">
            <a:avLst/>
          </a:prstGeom>
          <a:noFill/>
          <a:ln/>
        </p:spPr>
        <p:txBody>
          <a:bodyPr wrap="square" rtlCol="0" anchor="ctr"/>
          <a:lstStyle/>
          <a:p>
            <a:pPr indent="0" marL="0">
              <a:buNone/>
            </a:pPr>
            <a:r>
              <a:rPr lang="en-US" sz="1150" b="1" dirty="0">
                <a:solidFill>
                  <a:srgbClr val="1F4E4A"/>
                </a:solidFill>
                <a:latin typeface="Calibri" pitchFamily="34" charset="0"/>
                <a:ea typeface="Calibri" pitchFamily="34" charset="-122"/>
                <a:cs typeface="Calibri" pitchFamily="34" charset="-120"/>
              </a:rPr>
              <a:t>💬 AI相談（傾聴AIチャット）</a:t>
            </a:r>
            <a:endParaRPr lang="en-US" sz="1150" dirty="0"/>
          </a:p>
        </p:txBody>
      </p:sp>
      <p:sp>
        <p:nvSpPr>
          <p:cNvPr id="11" name="Text 7"/>
          <p:cNvSpPr/>
          <p:nvPr/>
        </p:nvSpPr>
        <p:spPr>
          <a:xfrm>
            <a:off x="6446520" y="5212080"/>
            <a:ext cx="475488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専門家のいない現場で、不安な気持ちに寄り添うAI。助言・予測は一切せず、深刻な兆候は専門窓口へ橋渡しする安全設計。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Calibri" pitchFamily="34" charset="0"/>
                <a:ea typeface="Calibri" pitchFamily="34" charset="-122"/>
                <a:cs typeface="Calibri" pitchFamily="34" charset="-120"/>
              </a:rPr>
              <a:t>実際の画面操作</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093976" y="1783080"/>
            <a:ext cx="8001000" cy="4498848"/>
          </a:xfrm>
          <a:prstGeom prst="rect">
            <a:avLst/>
          </a:prstGeom>
        </p:spPr>
      </p:pic>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Calibri" pitchFamily="34" charset="0"/>
                <a:ea typeface="Calibri" pitchFamily="34" charset="-122"/>
                <a:cs typeface="Calibri" pitchFamily="34" charset="-120"/>
              </a:rPr>
              <a:t>▶ クリックで再生（無音・約17秒）</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利用オープンデータ</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10515600" cy="4754880"/>
        </p:xfrm>
        <a:graphic>
          <a:graphicData uri="http://schemas.openxmlformats.org/drawingml/2006/table">
            <a:tbl>
              <a:tblPr/>
              <a:tblGrid>
                <a:gridCol w="6583680"/>
                <a:gridCol w="3931920"/>
              </a:tblGrid>
              <a:tr h="6792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データ名</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用途</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東京都建設局河川部「東京都土砂災害危険度情報関連データ」（CC BY 4.0）</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危険エリアの地図表示（区域データ本体を使用）</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東京都「土砂災害警戒区域等マップ」</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最新の指定状況への参照リンク</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首相官邸「土砂災害」防災情報ページ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過去の災害事例（参考情報）・前兆現象チェックリストの出典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4864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チーム紹介</a:t>
            </a:r>
            <a:endParaRPr lang="en-US" sz="3400" dirty="0"/>
          </a:p>
        </p:txBody>
      </p:sp>
      <p:sp>
        <p:nvSpPr>
          <p:cNvPr id="3" name="Shape 1"/>
          <p:cNvSpPr/>
          <p:nvPr/>
        </p:nvSpPr>
        <p:spPr>
          <a:xfrm>
            <a:off x="822960" y="1554480"/>
            <a:ext cx="1188720" cy="1188720"/>
          </a:xfrm>
          <a:prstGeom prst="ellipse">
            <a:avLst/>
          </a:prstGeom>
          <a:solidFill>
            <a:srgbClr val="FFFFFF"/>
          </a:solidFill>
          <a:ln/>
        </p:spPr>
      </p:sp>
      <p:sp>
        <p:nvSpPr>
          <p:cNvPr id="4" name="Text 2"/>
          <p:cNvSpPr/>
          <p:nvPr/>
        </p:nvSpPr>
        <p:spPr>
          <a:xfrm>
            <a:off x="822960" y="1554480"/>
            <a:ext cx="1188720" cy="1188720"/>
          </a:xfrm>
          <a:prstGeom prst="rect">
            <a:avLst/>
          </a:prstGeom>
          <a:noFill/>
          <a:ln/>
        </p:spPr>
        <p:txBody>
          <a:bodyPr wrap="square" lIns="0" tIns="0" rIns="0" bIns="0" rtlCol="0" anchor="ctr"/>
          <a:lstStyle/>
          <a:p>
            <a:pPr algn="ctr" indent="0" marL="0">
              <a:buNone/>
            </a:pPr>
            <a:r>
              <a:rPr lang="en-US" sz="3000" b="1" dirty="0">
                <a:solidFill>
                  <a:srgbClr val="1F4E4A"/>
                </a:solidFill>
                <a:latin typeface="Cambria" pitchFamily="34" charset="0"/>
                <a:ea typeface="Cambria" pitchFamily="34" charset="-122"/>
                <a:cs typeface="Cambria" pitchFamily="34" charset="-120"/>
              </a:rPr>
              <a:t>結</a:t>
            </a:r>
            <a:endParaRPr lang="en-US" sz="3000" dirty="0"/>
          </a:p>
        </p:txBody>
      </p:sp>
      <p:sp>
        <p:nvSpPr>
          <p:cNvPr id="5" name="Text 3"/>
          <p:cNvSpPr/>
          <p:nvPr/>
        </p:nvSpPr>
        <p:spPr>
          <a:xfrm>
            <a:off x="2194560" y="169164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チーム「結」（個人開発）</a:t>
            </a:r>
            <a:endParaRPr lang="en-US" sz="1800" dirty="0"/>
          </a:p>
        </p:txBody>
      </p:sp>
      <p:sp>
        <p:nvSpPr>
          <p:cNvPr id="6" name="Text 4"/>
          <p:cNvSpPr/>
          <p:nvPr/>
        </p:nvSpPr>
        <p:spPr>
          <a:xfrm>
            <a:off x="2194560" y="2148840"/>
            <a:ext cx="8686800" cy="731520"/>
          </a:xfrm>
          <a:prstGeom prst="rect">
            <a:avLst/>
          </a:prstGeom>
          <a:noFill/>
          <a:ln/>
        </p:spPr>
        <p:txBody>
          <a:bodyPr wrap="square" rtlCol="0" anchor="ctr"/>
          <a:lstStyle/>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土砂災害の現場に居合わせ、家族として何もできずただ待つしかなかった実体験から、</a:t>
            </a:r>
            <a:endParaRPr lang="en-US" sz="1300" dirty="0"/>
          </a:p>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企画・設計・実装まで一人で開発。</a:t>
            </a:r>
            <a:endParaRPr lang="en-US" sz="1300" dirty="0"/>
          </a:p>
        </p:txBody>
      </p:sp>
      <p:sp>
        <p:nvSpPr>
          <p:cNvPr id="7" name="Shape 5"/>
          <p:cNvSpPr/>
          <p:nvPr/>
        </p:nvSpPr>
        <p:spPr>
          <a:xfrm>
            <a:off x="822960" y="3246120"/>
            <a:ext cx="10515600" cy="2331720"/>
          </a:xfrm>
          <a:prstGeom prst="roundRect">
            <a:avLst>
              <a:gd name="adj" fmla="val 3922"/>
            </a:avLst>
          </a:prstGeom>
          <a:solidFill>
            <a:srgbClr val="FFFFFF">
              <a:alpha val="8000"/>
            </a:srgbClr>
          </a:solidFill>
          <a:ln w="9525">
            <a:solidFill>
              <a:srgbClr val="FFFFFF"/>
            </a:solidFill>
            <a:prstDash val="solid"/>
          </a:ln>
        </p:spPr>
      </p:sp>
      <p:sp>
        <p:nvSpPr>
          <p:cNvPr id="8" name="Text 6"/>
          <p:cNvSpPr/>
          <p:nvPr/>
        </p:nvSpPr>
        <p:spPr>
          <a:xfrm>
            <a:off x="1143000" y="3474720"/>
            <a:ext cx="987552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安全設計へのこだわり</a:t>
            </a:r>
            <a:endParaRPr lang="en-US" sz="1500" dirty="0"/>
          </a:p>
        </p:txBody>
      </p:sp>
      <p:sp>
        <p:nvSpPr>
          <p:cNvPr id="9" name="Text 7"/>
          <p:cNvSpPr/>
          <p:nvPr/>
        </p:nvSpPr>
        <p:spPr>
          <a:xfrm>
            <a:off x="1143000" y="3977640"/>
            <a:ext cx="9875520" cy="1463040"/>
          </a:xfrm>
          <a:prstGeom prst="rect">
            <a:avLst/>
          </a:prstGeom>
          <a:noFill/>
          <a:ln/>
        </p:spPr>
        <p:txBody>
          <a:bodyPr wrap="square" rtlCol="0" anchor="ctr"/>
          <a:lstStyle/>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生存確率・助かる見込み時間の提示はしない（AIチャットのシステムプロンプトで明示的に禁止）</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前兆現象は「予測」ではなく、公式チェックリストに基づく目撃情報の共有として扱う</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深刻な危機のサインは、AI任せにせずキーワード安全網で即座に専門相談窓口へ橋渡し</a:t>
            </a:r>
            <a:endParaRPr lang="en-US" sz="1250" dirty="0"/>
          </a:p>
        </p:txBody>
      </p:sp>
      <p:sp>
        <p:nvSpPr>
          <p:cNvPr id="10" name="Text 8"/>
          <p:cNvSpPr/>
          <p:nvPr/>
        </p:nvSpPr>
        <p:spPr>
          <a:xfrm>
            <a:off x="822960" y="5989320"/>
            <a:ext cx="10515600" cy="457200"/>
          </a:xfrm>
          <a:prstGeom prst="rect">
            <a:avLst/>
          </a:prstGeom>
          <a:noFill/>
          <a:ln/>
        </p:spPr>
        <p:txBody>
          <a:bodyPr wrap="square" rtlCol="0" anchor="ctr"/>
          <a:lstStyle/>
          <a:p>
            <a:pPr indent="0" marL="0">
              <a:buNone/>
            </a:pPr>
            <a:r>
              <a:rPr lang="en-US" sz="1300" i="1" dirty="0">
                <a:solidFill>
                  <a:srgbClr val="9FC7BC"/>
                </a:solidFill>
                <a:latin typeface="Calibri" pitchFamily="34" charset="0"/>
                <a:ea typeface="Calibri" pitchFamily="34" charset="-122"/>
                <a:cs typeface="Calibri" pitchFamily="34" charset="-120"/>
              </a:rPr>
              <a:t>結（ゆい） — 救助を後押しする、無料の情報共有アプリ</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